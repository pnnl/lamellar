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3" r:id="rId1"/>
  </p:sldMasterIdLst>
  <p:notesMasterIdLst>
    <p:notesMasterId r:id="rId37"/>
  </p:notesMasterIdLst>
  <p:handoutMasterIdLst>
    <p:handoutMasterId r:id="rId38"/>
  </p:handoutMasterIdLst>
  <p:sldIdLst>
    <p:sldId id="1418" r:id="rId2"/>
    <p:sldId id="1404" r:id="rId3"/>
    <p:sldId id="1419" r:id="rId4"/>
    <p:sldId id="1405" r:id="rId5"/>
    <p:sldId id="1406" r:id="rId6"/>
    <p:sldId id="1407" r:id="rId7"/>
    <p:sldId id="1408" r:id="rId8"/>
    <p:sldId id="1411" r:id="rId9"/>
    <p:sldId id="1409" r:id="rId10"/>
    <p:sldId id="1412" r:id="rId11"/>
    <p:sldId id="1413" r:id="rId12"/>
    <p:sldId id="1420" r:id="rId13"/>
    <p:sldId id="333" r:id="rId14"/>
    <p:sldId id="334" r:id="rId15"/>
    <p:sldId id="1410" r:id="rId16"/>
    <p:sldId id="514" r:id="rId17"/>
    <p:sldId id="1421" r:id="rId18"/>
    <p:sldId id="1422" r:id="rId19"/>
    <p:sldId id="1426" r:id="rId20"/>
    <p:sldId id="1423" r:id="rId21"/>
    <p:sldId id="1424" r:id="rId22"/>
    <p:sldId id="1425" r:id="rId23"/>
    <p:sldId id="1353" r:id="rId24"/>
    <p:sldId id="1354" r:id="rId25"/>
    <p:sldId id="1318" r:id="rId26"/>
    <p:sldId id="1281" r:id="rId27"/>
    <p:sldId id="1396" r:id="rId28"/>
    <p:sldId id="1416" r:id="rId29"/>
    <p:sldId id="1321" r:id="rId30"/>
    <p:sldId id="1356" r:id="rId31"/>
    <p:sldId id="1429" r:id="rId32"/>
    <p:sldId id="1430" r:id="rId33"/>
    <p:sldId id="1427" r:id="rId34"/>
    <p:sldId id="1428" r:id="rId35"/>
    <p:sldId id="602" r:id="rId36"/>
  </p:sldIdLst>
  <p:sldSz cx="14630400" cy="8229600"/>
  <p:notesSz cx="6858000" cy="9144000"/>
  <p:defaultTextStyle>
    <a:defPPr>
      <a:defRPr lang="en-US"/>
    </a:defPPr>
    <a:lvl1pPr marL="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1pPr>
    <a:lvl2pPr marL="5486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2pPr>
    <a:lvl3pPr marL="10972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3pPr>
    <a:lvl4pPr marL="16459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4pPr>
    <a:lvl5pPr marL="219456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5pPr>
    <a:lvl6pPr marL="274320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6pPr>
    <a:lvl7pPr marL="329184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7pPr>
    <a:lvl8pPr marL="384048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8pPr>
    <a:lvl9pPr marL="4389120" algn="l" defTabSz="1097280" rtl="0" eaLnBrk="1" latinLnBrk="0" hangingPunct="1">
      <a:defRPr sz="21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ugas, Mark V" initials="RMV" lastIdx="4" clrIdx="0">
    <p:extLst>
      <p:ext uri="{19B8F6BF-5375-455C-9EA6-DF929625EA0E}">
        <p15:presenceInfo xmlns:p15="http://schemas.microsoft.com/office/powerpoint/2012/main" userId="S::mark.raugas@pnnl.gov::5a5cdc29-3e7f-461f-92b0-c6233606235b" providerId="AD"/>
      </p:ext>
    </p:extLst>
  </p:cmAuthor>
  <p:cmAuthor id="2" name="Gioiosa, Roberto" initials="GR" lastIdx="2" clrIdx="1">
    <p:extLst>
      <p:ext uri="{19B8F6BF-5375-455C-9EA6-DF929625EA0E}">
        <p15:presenceInfo xmlns:p15="http://schemas.microsoft.com/office/powerpoint/2012/main" userId="S::roberto.gioiosa@pnnl.gov::6217d759-36dc-42d5-b76e-37dbe3cc85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36"/>
    <a:srgbClr val="D83872"/>
    <a:srgbClr val="D81B60"/>
    <a:srgbClr val="D9D9D9"/>
    <a:srgbClr val="000000"/>
    <a:srgbClr val="6CA1FF"/>
    <a:srgbClr val="616265"/>
    <a:srgbClr val="820150"/>
    <a:srgbClr val="A63F1E"/>
    <a:srgbClr val="8D5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2FD3C5-C086-4A2C-8DFE-13BCF11DEB5E}" v="1" dt="2025-06-16T21:22:22.0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00"/>
    <p:restoredTop sz="94878"/>
  </p:normalViewPr>
  <p:slideViewPr>
    <p:cSldViewPr snapToGrid="0">
      <p:cViewPr varScale="1">
        <p:scale>
          <a:sx n="137" d="100"/>
          <a:sy n="137" d="100"/>
        </p:scale>
        <p:origin x="3936" y="13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iese, Ryan D" userId="f1baf746-3103-4f7a-809c-1f27d487cef8" providerId="ADAL" clId="{2A3FC883-947C-BC49-AC20-5FE0700AFF1B}"/>
    <pc:docChg chg="undo custSel modSld">
      <pc:chgData name="Friese, Ryan D" userId="f1baf746-3103-4f7a-809c-1f27d487cef8" providerId="ADAL" clId="{2A3FC883-947C-BC49-AC20-5FE0700AFF1B}" dt="2025-04-02T19:45:39.864" v="196" actId="20577"/>
      <pc:docMkLst>
        <pc:docMk/>
      </pc:docMkLst>
      <pc:sldChg chg="modSp">
        <pc:chgData name="Friese, Ryan D" userId="f1baf746-3103-4f7a-809c-1f27d487cef8" providerId="ADAL" clId="{2A3FC883-947C-BC49-AC20-5FE0700AFF1B}" dt="2025-04-02T19:45:39.864" v="196" actId="20577"/>
        <pc:sldMkLst>
          <pc:docMk/>
          <pc:sldMk cId="1452930134" sldId="1318"/>
        </pc:sldMkLst>
        <pc:spChg chg="mod">
          <ac:chgData name="Friese, Ryan D" userId="f1baf746-3103-4f7a-809c-1f27d487cef8" providerId="ADAL" clId="{2A3FC883-947C-BC49-AC20-5FE0700AFF1B}" dt="2025-04-02T19:45:39.864" v="196" actId="20577"/>
          <ac:spMkLst>
            <pc:docMk/>
            <pc:sldMk cId="1452930134" sldId="1318"/>
            <ac:spMk id="12" creationId="{CDD6777A-CD7A-41C6-AB26-D4D4CF7A782F}"/>
          </ac:spMkLst>
        </pc:spChg>
      </pc:sldChg>
      <pc:sldChg chg="modSp mod">
        <pc:chgData name="Friese, Ryan D" userId="f1baf746-3103-4f7a-809c-1f27d487cef8" providerId="ADAL" clId="{2A3FC883-947C-BC49-AC20-5FE0700AFF1B}" dt="2025-04-02T19:34:58.697" v="27" actId="20577"/>
        <pc:sldMkLst>
          <pc:docMk/>
          <pc:sldMk cId="2778144996" sldId="1404"/>
        </pc:sldMkLst>
        <pc:spChg chg="mod">
          <ac:chgData name="Friese, Ryan D" userId="f1baf746-3103-4f7a-809c-1f27d487cef8" providerId="ADAL" clId="{2A3FC883-947C-BC49-AC20-5FE0700AFF1B}" dt="2025-04-02T19:34:58.697" v="27" actId="20577"/>
          <ac:spMkLst>
            <pc:docMk/>
            <pc:sldMk cId="2778144996" sldId="1404"/>
            <ac:spMk id="10" creationId="{265A1458-0FEF-F682-46C4-45CF78D45A4D}"/>
          </ac:spMkLst>
        </pc:spChg>
      </pc:sldChg>
      <pc:sldChg chg="mod modShow">
        <pc:chgData name="Friese, Ryan D" userId="f1baf746-3103-4f7a-809c-1f27d487cef8" providerId="ADAL" clId="{2A3FC883-947C-BC49-AC20-5FE0700AFF1B}" dt="2025-04-02T15:48:52.059" v="6" actId="729"/>
        <pc:sldMkLst>
          <pc:docMk/>
          <pc:sldMk cId="2928394059" sldId="1411"/>
        </pc:sldMkLst>
      </pc:sldChg>
      <pc:sldChg chg="modSp mod">
        <pc:chgData name="Friese, Ryan D" userId="f1baf746-3103-4f7a-809c-1f27d487cef8" providerId="ADAL" clId="{2A3FC883-947C-BC49-AC20-5FE0700AFF1B}" dt="2025-04-02T19:30:47.903" v="26" actId="33524"/>
        <pc:sldMkLst>
          <pc:docMk/>
          <pc:sldMk cId="2040471243" sldId="1418"/>
        </pc:sldMkLst>
        <pc:spChg chg="mod">
          <ac:chgData name="Friese, Ryan D" userId="f1baf746-3103-4f7a-809c-1f27d487cef8" providerId="ADAL" clId="{2A3FC883-947C-BC49-AC20-5FE0700AFF1B}" dt="2025-04-02T19:30:47.903" v="26" actId="33524"/>
          <ac:spMkLst>
            <pc:docMk/>
            <pc:sldMk cId="2040471243" sldId="1418"/>
            <ac:spMk id="3" creationId="{C2EC6C3B-204B-4EB1-B815-17D3036BCE38}"/>
          </ac:spMkLst>
        </pc:spChg>
        <pc:spChg chg="mod">
          <ac:chgData name="Friese, Ryan D" userId="f1baf746-3103-4f7a-809c-1f27d487cef8" providerId="ADAL" clId="{2A3FC883-947C-BC49-AC20-5FE0700AFF1B}" dt="2025-04-02T15:47:01.999" v="2" actId="20577"/>
          <ac:spMkLst>
            <pc:docMk/>
            <pc:sldMk cId="2040471243" sldId="1418"/>
            <ac:spMk id="4" creationId="{3C886310-1A8B-41C6-8ABF-4E949224625A}"/>
          </ac:spMkLst>
        </pc:spChg>
      </pc:sldChg>
      <pc:sldChg chg="modSp">
        <pc:chgData name="Friese, Ryan D" userId="f1baf746-3103-4f7a-809c-1f27d487cef8" providerId="ADAL" clId="{2A3FC883-947C-BC49-AC20-5FE0700AFF1B}" dt="2025-04-02T19:37:18.511" v="51" actId="20577"/>
        <pc:sldMkLst>
          <pc:docMk/>
          <pc:sldMk cId="3217788063" sldId="1419"/>
        </pc:sldMkLst>
        <pc:spChg chg="mod">
          <ac:chgData name="Friese, Ryan D" userId="f1baf746-3103-4f7a-809c-1f27d487cef8" providerId="ADAL" clId="{2A3FC883-947C-BC49-AC20-5FE0700AFF1B}" dt="2025-04-02T19:37:18.511" v="51" actId="20577"/>
          <ac:spMkLst>
            <pc:docMk/>
            <pc:sldMk cId="3217788063" sldId="1419"/>
            <ac:spMk id="3" creationId="{00000000-0000-0000-0000-000000000000}"/>
          </ac:spMkLst>
        </pc:spChg>
      </pc:sldChg>
      <pc:sldChg chg="modSp mod">
        <pc:chgData name="Friese, Ryan D" userId="f1baf746-3103-4f7a-809c-1f27d487cef8" providerId="ADAL" clId="{2A3FC883-947C-BC49-AC20-5FE0700AFF1B}" dt="2025-04-02T15:50:33.001" v="7" actId="20577"/>
        <pc:sldMkLst>
          <pc:docMk/>
          <pc:sldMk cId="929514547" sldId="1420"/>
        </pc:sldMkLst>
        <pc:spChg chg="mod">
          <ac:chgData name="Friese, Ryan D" userId="f1baf746-3103-4f7a-809c-1f27d487cef8" providerId="ADAL" clId="{2A3FC883-947C-BC49-AC20-5FE0700AFF1B}" dt="2025-04-02T15:50:33.001" v="7" actId="20577"/>
          <ac:spMkLst>
            <pc:docMk/>
            <pc:sldMk cId="929514547" sldId="1420"/>
            <ac:spMk id="7" creationId="{63C226B1-10C6-9A2F-8624-E207614E2FF9}"/>
          </ac:spMkLst>
        </pc:spChg>
      </pc:sldChg>
      <pc:sldChg chg="modSp">
        <pc:chgData name="Friese, Ryan D" userId="f1baf746-3103-4f7a-809c-1f27d487cef8" providerId="ADAL" clId="{2A3FC883-947C-BC49-AC20-5FE0700AFF1B}" dt="2025-04-02T15:50:59.481" v="8" actId="313"/>
        <pc:sldMkLst>
          <pc:docMk/>
          <pc:sldMk cId="2838090850" sldId="1421"/>
        </pc:sldMkLst>
        <pc:spChg chg="mod">
          <ac:chgData name="Friese, Ryan D" userId="f1baf746-3103-4f7a-809c-1f27d487cef8" providerId="ADAL" clId="{2A3FC883-947C-BC49-AC20-5FE0700AFF1B}" dt="2025-04-02T15:50:59.481" v="8" actId="313"/>
          <ac:spMkLst>
            <pc:docMk/>
            <pc:sldMk cId="2838090850" sldId="1421"/>
            <ac:spMk id="44" creationId="{6BB52340-7CF4-6948-9399-B0AA71CDC850}"/>
          </ac:spMkLst>
        </pc:spChg>
      </pc:sldChg>
      <pc:sldChg chg="modSp mod">
        <pc:chgData name="Friese, Ryan D" userId="f1baf746-3103-4f7a-809c-1f27d487cef8" providerId="ADAL" clId="{2A3FC883-947C-BC49-AC20-5FE0700AFF1B}" dt="2025-04-02T19:43:43.437" v="160" actId="20577"/>
        <pc:sldMkLst>
          <pc:docMk/>
          <pc:sldMk cId="1893589727" sldId="1423"/>
        </pc:sldMkLst>
        <pc:spChg chg="mod">
          <ac:chgData name="Friese, Ryan D" userId="f1baf746-3103-4f7a-809c-1f27d487cef8" providerId="ADAL" clId="{2A3FC883-947C-BC49-AC20-5FE0700AFF1B}" dt="2025-04-02T19:43:43.437" v="160" actId="20577"/>
          <ac:spMkLst>
            <pc:docMk/>
            <pc:sldMk cId="1893589727" sldId="1423"/>
            <ac:spMk id="5" creationId="{D36D6FDF-AC19-4795-B3BE-569B1296D453}"/>
          </ac:spMkLst>
        </pc:spChg>
        <pc:spChg chg="mod">
          <ac:chgData name="Friese, Ryan D" userId="f1baf746-3103-4f7a-809c-1f27d487cef8" providerId="ADAL" clId="{2A3FC883-947C-BC49-AC20-5FE0700AFF1B}" dt="2025-04-02T19:43:30.728" v="155" actId="1076"/>
          <ac:spMkLst>
            <pc:docMk/>
            <pc:sldMk cId="1893589727" sldId="1423"/>
            <ac:spMk id="22" creationId="{7F2CF85E-38B0-4FC8-8175-AB45F908F217}"/>
          </ac:spMkLst>
        </pc:spChg>
        <pc:cxnChg chg="mod">
          <ac:chgData name="Friese, Ryan D" userId="f1baf746-3103-4f7a-809c-1f27d487cef8" providerId="ADAL" clId="{2A3FC883-947C-BC49-AC20-5FE0700AFF1B}" dt="2025-04-02T19:43:36.350" v="157" actId="14100"/>
          <ac:cxnSpMkLst>
            <pc:docMk/>
            <pc:sldMk cId="1893589727" sldId="1423"/>
            <ac:cxnSpMk id="20" creationId="{868019F7-B1F3-4A59-B435-51EF492EED17}"/>
          </ac:cxnSpMkLst>
        </pc:cxnChg>
      </pc:sldChg>
      <pc:sldChg chg="modSp mod">
        <pc:chgData name="Friese, Ryan D" userId="f1baf746-3103-4f7a-809c-1f27d487cef8" providerId="ADAL" clId="{2A3FC883-947C-BC49-AC20-5FE0700AFF1B}" dt="2025-04-02T15:52:57.302" v="25" actId="20577"/>
        <pc:sldMkLst>
          <pc:docMk/>
          <pc:sldMk cId="3727041957" sldId="1426"/>
        </pc:sldMkLst>
        <pc:spChg chg="mod">
          <ac:chgData name="Friese, Ryan D" userId="f1baf746-3103-4f7a-809c-1f27d487cef8" providerId="ADAL" clId="{2A3FC883-947C-BC49-AC20-5FE0700AFF1B}" dt="2025-04-02T15:52:57.302" v="25" actId="20577"/>
          <ac:spMkLst>
            <pc:docMk/>
            <pc:sldMk cId="3727041957" sldId="1426"/>
            <ac:spMk id="4" creationId="{F415EA60-158A-BA45-C3BE-6046F3AE66A4}"/>
          </ac:spMkLst>
        </pc:spChg>
      </pc:sldChg>
    </pc:docChg>
  </pc:docChgLst>
  <pc:docChgLst>
    <pc:chgData name="Friese, Ryan D" userId="f1baf746-3103-4f7a-809c-1f27d487cef8" providerId="ADAL" clId="{68F15D48-DE35-4175-8297-6205E113966E}"/>
    <pc:docChg chg="undo custSel addSld delSld modSld sldOrd">
      <pc:chgData name="Friese, Ryan D" userId="f1baf746-3103-4f7a-809c-1f27d487cef8" providerId="ADAL" clId="{68F15D48-DE35-4175-8297-6205E113966E}" dt="2025-03-31T16:22:56.482" v="1904" actId="20577"/>
      <pc:docMkLst>
        <pc:docMk/>
      </pc:docMkLst>
      <pc:sldChg chg="del">
        <pc:chgData name="Friese, Ryan D" userId="f1baf746-3103-4f7a-809c-1f27d487cef8" providerId="ADAL" clId="{68F15D48-DE35-4175-8297-6205E113966E}" dt="2025-03-24T23:25:42.405" v="128" actId="47"/>
        <pc:sldMkLst>
          <pc:docMk/>
          <pc:sldMk cId="1152154647" sldId="260"/>
        </pc:sldMkLst>
      </pc:sldChg>
      <pc:sldChg chg="del">
        <pc:chgData name="Friese, Ryan D" userId="f1baf746-3103-4f7a-809c-1f27d487cef8" providerId="ADAL" clId="{68F15D48-DE35-4175-8297-6205E113966E}" dt="2025-03-24T23:50:01.226" v="142" actId="2696"/>
        <pc:sldMkLst>
          <pc:docMk/>
          <pc:sldMk cId="2085217676" sldId="301"/>
        </pc:sldMkLst>
      </pc:sldChg>
      <pc:sldChg chg="del">
        <pc:chgData name="Friese, Ryan D" userId="f1baf746-3103-4f7a-809c-1f27d487cef8" providerId="ADAL" clId="{68F15D48-DE35-4175-8297-6205E113966E}" dt="2025-03-24T23:27:24.221" v="130" actId="2696"/>
        <pc:sldMkLst>
          <pc:docMk/>
          <pc:sldMk cId="2509822248" sldId="308"/>
        </pc:sldMkLst>
      </pc:sldChg>
      <pc:sldChg chg="mod modShow">
        <pc:chgData name="Friese, Ryan D" userId="f1baf746-3103-4f7a-809c-1f27d487cef8" providerId="ADAL" clId="{68F15D48-DE35-4175-8297-6205E113966E}" dt="2025-03-24T23:48:15.461" v="135" actId="729"/>
        <pc:sldMkLst>
          <pc:docMk/>
          <pc:sldMk cId="4006754354" sldId="333"/>
        </pc:sldMkLst>
      </pc:sldChg>
      <pc:sldChg chg="addSp delSp modSp mod">
        <pc:chgData name="Friese, Ryan D" userId="f1baf746-3103-4f7a-809c-1f27d487cef8" providerId="ADAL" clId="{68F15D48-DE35-4175-8297-6205E113966E}" dt="2025-03-24T23:49:26.630" v="141" actId="1076"/>
        <pc:sldMkLst>
          <pc:docMk/>
          <pc:sldMk cId="2350880398" sldId="514"/>
        </pc:sldMkLst>
        <pc:spChg chg="add mod">
          <ac:chgData name="Friese, Ryan D" userId="f1baf746-3103-4f7a-809c-1f27d487cef8" providerId="ADAL" clId="{68F15D48-DE35-4175-8297-6205E113966E}" dt="2025-03-24T23:49:12.132" v="139" actId="1076"/>
          <ac:spMkLst>
            <pc:docMk/>
            <pc:sldMk cId="2350880398" sldId="514"/>
            <ac:spMk id="10" creationId="{2D0ABB97-1DD2-1DA6-6A27-C88848B56CAD}"/>
          </ac:spMkLst>
        </pc:spChg>
        <pc:spChg chg="add mod">
          <ac:chgData name="Friese, Ryan D" userId="f1baf746-3103-4f7a-809c-1f27d487cef8" providerId="ADAL" clId="{68F15D48-DE35-4175-8297-6205E113966E}" dt="2025-03-24T23:49:17.805" v="140" actId="1076"/>
          <ac:spMkLst>
            <pc:docMk/>
            <pc:sldMk cId="2350880398" sldId="514"/>
            <ac:spMk id="13" creationId="{D2538147-D7EF-D495-30BC-0221DE591699}"/>
          </ac:spMkLst>
        </pc:spChg>
        <pc:spChg chg="add mod">
          <ac:chgData name="Friese, Ryan D" userId="f1baf746-3103-4f7a-809c-1f27d487cef8" providerId="ADAL" clId="{68F15D48-DE35-4175-8297-6205E113966E}" dt="2025-03-24T23:49:26.630" v="141" actId="1076"/>
          <ac:spMkLst>
            <pc:docMk/>
            <pc:sldMk cId="2350880398" sldId="514"/>
            <ac:spMk id="14" creationId="{AE999498-AF1B-DD47-8CA7-BBE9C2764108}"/>
          </ac:spMkLst>
        </pc:spChg>
        <pc:picChg chg="add mod">
          <ac:chgData name="Friese, Ryan D" userId="f1baf746-3103-4f7a-809c-1f27d487cef8" providerId="ADAL" clId="{68F15D48-DE35-4175-8297-6205E113966E}" dt="2025-03-24T23:49:12.132" v="139" actId="1076"/>
          <ac:picMkLst>
            <pc:docMk/>
            <pc:sldMk cId="2350880398" sldId="514"/>
            <ac:picMk id="5" creationId="{A9CD397C-78B2-B5B1-F3CC-553122B3A1A3}"/>
          </ac:picMkLst>
        </pc:picChg>
        <pc:picChg chg="add mod">
          <ac:chgData name="Friese, Ryan D" userId="f1baf746-3103-4f7a-809c-1f27d487cef8" providerId="ADAL" clId="{68F15D48-DE35-4175-8297-6205E113966E}" dt="2025-03-24T23:49:17.805" v="140" actId="1076"/>
          <ac:picMkLst>
            <pc:docMk/>
            <pc:sldMk cId="2350880398" sldId="514"/>
            <ac:picMk id="11" creationId="{84260E7D-E814-F53D-9731-567DB459AC26}"/>
          </ac:picMkLst>
        </pc:picChg>
        <pc:picChg chg="add mod">
          <ac:chgData name="Friese, Ryan D" userId="f1baf746-3103-4f7a-809c-1f27d487cef8" providerId="ADAL" clId="{68F15D48-DE35-4175-8297-6205E113966E}" dt="2025-03-24T23:49:26.630" v="141" actId="1076"/>
          <ac:picMkLst>
            <pc:docMk/>
            <pc:sldMk cId="2350880398" sldId="514"/>
            <ac:picMk id="12" creationId="{EB201454-3734-400B-A505-D12D0263AA9B}"/>
          </ac:picMkLst>
        </pc:picChg>
      </pc:sldChg>
      <pc:sldChg chg="del">
        <pc:chgData name="Friese, Ryan D" userId="f1baf746-3103-4f7a-809c-1f27d487cef8" providerId="ADAL" clId="{68F15D48-DE35-4175-8297-6205E113966E}" dt="2025-03-24T23:51:22.747" v="144" actId="47"/>
        <pc:sldMkLst>
          <pc:docMk/>
          <pc:sldMk cId="2710510552" sldId="520"/>
        </pc:sldMkLst>
      </pc:sldChg>
      <pc:sldChg chg="del">
        <pc:chgData name="Friese, Ryan D" userId="f1baf746-3103-4f7a-809c-1f27d487cef8" providerId="ADAL" clId="{68F15D48-DE35-4175-8297-6205E113966E}" dt="2025-03-29T00:02:28.745" v="1897" actId="47"/>
        <pc:sldMkLst>
          <pc:docMk/>
          <pc:sldMk cId="3015106184" sldId="581"/>
        </pc:sldMkLst>
      </pc:sldChg>
      <pc:sldChg chg="modSp add del mod">
        <pc:chgData name="Friese, Ryan D" userId="f1baf746-3103-4f7a-809c-1f27d487cef8" providerId="ADAL" clId="{68F15D48-DE35-4175-8297-6205E113966E}" dt="2025-03-31T16:22:56.482" v="1904" actId="20577"/>
        <pc:sldMkLst>
          <pc:docMk/>
          <pc:sldMk cId="3184140063" sldId="602"/>
        </pc:sldMkLst>
        <pc:spChg chg="mod">
          <ac:chgData name="Friese, Ryan D" userId="f1baf746-3103-4f7a-809c-1f27d487cef8" providerId="ADAL" clId="{68F15D48-DE35-4175-8297-6205E113966E}" dt="2025-03-31T16:22:56.482" v="1904" actId="20577"/>
          <ac:spMkLst>
            <pc:docMk/>
            <pc:sldMk cId="3184140063" sldId="602"/>
            <ac:spMk id="4" creationId="{38969973-D0CC-4DB7-AE85-0916D00FC657}"/>
          </ac:spMkLst>
        </pc:spChg>
      </pc:sldChg>
      <pc:sldChg chg="del">
        <pc:chgData name="Friese, Ryan D" userId="f1baf746-3103-4f7a-809c-1f27d487cef8" providerId="ADAL" clId="{68F15D48-DE35-4175-8297-6205E113966E}" dt="2025-03-24T23:53:03.284" v="153" actId="47"/>
        <pc:sldMkLst>
          <pc:docMk/>
          <pc:sldMk cId="2490161109" sldId="1276"/>
        </pc:sldMkLst>
      </pc:sldChg>
      <pc:sldChg chg="delSp modSp mod delAnim modAnim">
        <pc:chgData name="Friese, Ryan D" userId="f1baf746-3103-4f7a-809c-1f27d487cef8" providerId="ADAL" clId="{68F15D48-DE35-4175-8297-6205E113966E}" dt="2025-03-24T23:58:52.791" v="220" actId="478"/>
        <pc:sldMkLst>
          <pc:docMk/>
          <pc:sldMk cId="3647881508" sldId="1353"/>
        </pc:sldMkLst>
        <pc:spChg chg="mod">
          <ac:chgData name="Friese, Ryan D" userId="f1baf746-3103-4f7a-809c-1f27d487cef8" providerId="ADAL" clId="{68F15D48-DE35-4175-8297-6205E113966E}" dt="2025-03-24T23:58:46.116" v="219"/>
          <ac:spMkLst>
            <pc:docMk/>
            <pc:sldMk cId="3647881508" sldId="1353"/>
            <ac:spMk id="12" creationId="{CDD6777A-CD7A-41C6-AB26-D4D4CF7A782F}"/>
          </ac:spMkLst>
        </pc:spChg>
      </pc:sldChg>
      <pc:sldChg chg="delSp modSp mod delAnim modAnim">
        <pc:chgData name="Friese, Ryan D" userId="f1baf746-3103-4f7a-809c-1f27d487cef8" providerId="ADAL" clId="{68F15D48-DE35-4175-8297-6205E113966E}" dt="2025-03-25T00:00:38.458" v="265" actId="478"/>
        <pc:sldMkLst>
          <pc:docMk/>
          <pc:sldMk cId="309870699" sldId="1354"/>
        </pc:sldMkLst>
        <pc:spChg chg="mod">
          <ac:chgData name="Friese, Ryan D" userId="f1baf746-3103-4f7a-809c-1f27d487cef8" providerId="ADAL" clId="{68F15D48-DE35-4175-8297-6205E113966E}" dt="2025-03-25T00:00:35.674" v="264"/>
          <ac:spMkLst>
            <pc:docMk/>
            <pc:sldMk cId="309870699" sldId="1354"/>
            <ac:spMk id="12" creationId="{CDD6777A-CD7A-41C6-AB26-D4D4CF7A782F}"/>
          </ac:spMkLst>
        </pc:spChg>
      </pc:sldChg>
      <pc:sldChg chg="del">
        <pc:chgData name="Friese, Ryan D" userId="f1baf746-3103-4f7a-809c-1f27d487cef8" providerId="ADAL" clId="{68F15D48-DE35-4175-8297-6205E113966E}" dt="2025-03-24T23:52:14.857" v="149" actId="47"/>
        <pc:sldMkLst>
          <pc:docMk/>
          <pc:sldMk cId="1725555772" sldId="1394"/>
        </pc:sldMkLst>
      </pc:sldChg>
      <pc:sldChg chg="del">
        <pc:chgData name="Friese, Ryan D" userId="f1baf746-3103-4f7a-809c-1f27d487cef8" providerId="ADAL" clId="{68F15D48-DE35-4175-8297-6205E113966E}" dt="2025-03-27T21:31:09.938" v="1895" actId="47"/>
        <pc:sldMkLst>
          <pc:docMk/>
          <pc:sldMk cId="1663810103" sldId="1398"/>
        </pc:sldMkLst>
      </pc:sldChg>
      <pc:sldChg chg="del">
        <pc:chgData name="Friese, Ryan D" userId="f1baf746-3103-4f7a-809c-1f27d487cef8" providerId="ADAL" clId="{68F15D48-DE35-4175-8297-6205E113966E}" dt="2025-03-24T23:52:14.857" v="149" actId="47"/>
        <pc:sldMkLst>
          <pc:docMk/>
          <pc:sldMk cId="3280172044" sldId="1401"/>
        </pc:sldMkLst>
      </pc:sldChg>
      <pc:sldChg chg="del">
        <pc:chgData name="Friese, Ryan D" userId="f1baf746-3103-4f7a-809c-1f27d487cef8" providerId="ADAL" clId="{68F15D48-DE35-4175-8297-6205E113966E}" dt="2025-03-24T23:52:36.327" v="151" actId="47"/>
        <pc:sldMkLst>
          <pc:docMk/>
          <pc:sldMk cId="545297380" sldId="1402"/>
        </pc:sldMkLst>
      </pc:sldChg>
      <pc:sldChg chg="del">
        <pc:chgData name="Friese, Ryan D" userId="f1baf746-3103-4f7a-809c-1f27d487cef8" providerId="ADAL" clId="{68F15D48-DE35-4175-8297-6205E113966E}" dt="2025-03-27T21:31:09.938" v="1895" actId="47"/>
        <pc:sldMkLst>
          <pc:docMk/>
          <pc:sldMk cId="1354875247" sldId="1403"/>
        </pc:sldMkLst>
      </pc:sldChg>
      <pc:sldChg chg="mod modShow">
        <pc:chgData name="Friese, Ryan D" userId="f1baf746-3103-4f7a-809c-1f27d487cef8" providerId="ADAL" clId="{68F15D48-DE35-4175-8297-6205E113966E}" dt="2025-03-24T23:46:12.561" v="131" actId="729"/>
        <pc:sldMkLst>
          <pc:docMk/>
          <pc:sldMk cId="2928394059" sldId="1411"/>
        </pc:sldMkLst>
      </pc:sldChg>
      <pc:sldChg chg="mod modShow">
        <pc:chgData name="Friese, Ryan D" userId="f1baf746-3103-4f7a-809c-1f27d487cef8" providerId="ADAL" clId="{68F15D48-DE35-4175-8297-6205E113966E}" dt="2025-03-24T23:46:28.934" v="132" actId="729"/>
        <pc:sldMkLst>
          <pc:docMk/>
          <pc:sldMk cId="1000682330" sldId="1413"/>
        </pc:sldMkLst>
      </pc:sldChg>
      <pc:sldChg chg="del">
        <pc:chgData name="Friese, Ryan D" userId="f1baf746-3103-4f7a-809c-1f27d487cef8" providerId="ADAL" clId="{68F15D48-DE35-4175-8297-6205E113966E}" dt="2025-03-24T23:47:34.244" v="134" actId="2696"/>
        <pc:sldMkLst>
          <pc:docMk/>
          <pc:sldMk cId="3792683440" sldId="1414"/>
        </pc:sldMkLst>
      </pc:sldChg>
      <pc:sldChg chg="del">
        <pc:chgData name="Friese, Ryan D" userId="f1baf746-3103-4f7a-809c-1f27d487cef8" providerId="ADAL" clId="{68F15D48-DE35-4175-8297-6205E113966E}" dt="2025-03-29T00:03:32.203" v="1902" actId="2696"/>
        <pc:sldMkLst>
          <pc:docMk/>
          <pc:sldMk cId="3814617996" sldId="1415"/>
        </pc:sldMkLst>
      </pc:sldChg>
      <pc:sldChg chg="del">
        <pc:chgData name="Friese, Ryan D" userId="f1baf746-3103-4f7a-809c-1f27d487cef8" providerId="ADAL" clId="{68F15D48-DE35-4175-8297-6205E113966E}" dt="2025-03-29T00:02:50.400" v="1898" actId="47"/>
        <pc:sldMkLst>
          <pc:docMk/>
          <pc:sldMk cId="2936108545" sldId="1417"/>
        </pc:sldMkLst>
      </pc:sldChg>
      <pc:sldChg chg="modSp add mod">
        <pc:chgData name="Friese, Ryan D" userId="f1baf746-3103-4f7a-809c-1f27d487cef8" providerId="ADAL" clId="{68F15D48-DE35-4175-8297-6205E113966E}" dt="2025-03-24T23:25:29.223" v="127" actId="20577"/>
        <pc:sldMkLst>
          <pc:docMk/>
          <pc:sldMk cId="2040471243" sldId="1418"/>
        </pc:sldMkLst>
        <pc:spChg chg="mod">
          <ac:chgData name="Friese, Ryan D" userId="f1baf746-3103-4f7a-809c-1f27d487cef8" providerId="ADAL" clId="{68F15D48-DE35-4175-8297-6205E113966E}" dt="2025-03-24T23:25:13.781" v="116" actId="14100"/>
          <ac:spMkLst>
            <pc:docMk/>
            <pc:sldMk cId="2040471243" sldId="1418"/>
            <ac:spMk id="2" creationId="{8BDFD0D9-1CAC-4FBD-8120-CBD5A07EB995}"/>
          </ac:spMkLst>
        </pc:spChg>
        <pc:spChg chg="mod">
          <ac:chgData name="Friese, Ryan D" userId="f1baf746-3103-4f7a-809c-1f27d487cef8" providerId="ADAL" clId="{68F15D48-DE35-4175-8297-6205E113966E}" dt="2025-03-24T23:25:24.049" v="123" actId="20577"/>
          <ac:spMkLst>
            <pc:docMk/>
            <pc:sldMk cId="2040471243" sldId="1418"/>
            <ac:spMk id="3" creationId="{C2EC6C3B-204B-4EB1-B815-17D3036BCE38}"/>
          </ac:spMkLst>
        </pc:spChg>
        <pc:spChg chg="mod">
          <ac:chgData name="Friese, Ryan D" userId="f1baf746-3103-4f7a-809c-1f27d487cef8" providerId="ADAL" clId="{68F15D48-DE35-4175-8297-6205E113966E}" dt="2025-03-24T23:25:29.223" v="127" actId="20577"/>
          <ac:spMkLst>
            <pc:docMk/>
            <pc:sldMk cId="2040471243" sldId="1418"/>
            <ac:spMk id="4" creationId="{3C886310-1A8B-41C6-8ABF-4E949224625A}"/>
          </ac:spMkLst>
        </pc:spChg>
      </pc:sldChg>
      <pc:sldChg chg="add">
        <pc:chgData name="Friese, Ryan D" userId="f1baf746-3103-4f7a-809c-1f27d487cef8" providerId="ADAL" clId="{68F15D48-DE35-4175-8297-6205E113966E}" dt="2025-03-24T23:26:10.449" v="129"/>
        <pc:sldMkLst>
          <pc:docMk/>
          <pc:sldMk cId="3217788063" sldId="1419"/>
        </pc:sldMkLst>
      </pc:sldChg>
      <pc:sldChg chg="add">
        <pc:chgData name="Friese, Ryan D" userId="f1baf746-3103-4f7a-809c-1f27d487cef8" providerId="ADAL" clId="{68F15D48-DE35-4175-8297-6205E113966E}" dt="2025-03-24T23:47:30.054" v="133"/>
        <pc:sldMkLst>
          <pc:docMk/>
          <pc:sldMk cId="929514547" sldId="1420"/>
        </pc:sldMkLst>
      </pc:sldChg>
      <pc:sldChg chg="add">
        <pc:chgData name="Friese, Ryan D" userId="f1baf746-3103-4f7a-809c-1f27d487cef8" providerId="ADAL" clId="{68F15D48-DE35-4175-8297-6205E113966E}" dt="2025-03-24T23:51:18.574" v="143"/>
        <pc:sldMkLst>
          <pc:docMk/>
          <pc:sldMk cId="2838090850" sldId="1421"/>
        </pc:sldMkLst>
      </pc:sldChg>
      <pc:sldChg chg="modSp add ord">
        <pc:chgData name="Friese, Ryan D" userId="f1baf746-3103-4f7a-809c-1f27d487cef8" providerId="ADAL" clId="{68F15D48-DE35-4175-8297-6205E113966E}" dt="2025-03-25T00:01:19.987" v="279" actId="20577"/>
        <pc:sldMkLst>
          <pc:docMk/>
          <pc:sldMk cId="59929173" sldId="1422"/>
        </pc:sldMkLst>
        <pc:spChg chg="mod">
          <ac:chgData name="Friese, Ryan D" userId="f1baf746-3103-4f7a-809c-1f27d487cef8" providerId="ADAL" clId="{68F15D48-DE35-4175-8297-6205E113966E}" dt="2025-03-25T00:01:19.987" v="279" actId="20577"/>
          <ac:spMkLst>
            <pc:docMk/>
            <pc:sldMk cId="59929173" sldId="1422"/>
            <ac:spMk id="6" creationId="{B7BF7E59-7854-F77A-FEF2-DEB27C0331B3}"/>
          </ac:spMkLst>
        </pc:spChg>
      </pc:sldChg>
      <pc:sldChg chg="addSp modSp add mod">
        <pc:chgData name="Friese, Ryan D" userId="f1baf746-3103-4f7a-809c-1f27d487cef8" providerId="ADAL" clId="{68F15D48-DE35-4175-8297-6205E113966E}" dt="2025-03-24T23:52:09.152" v="148" actId="1076"/>
        <pc:sldMkLst>
          <pc:docMk/>
          <pc:sldMk cId="1893589727" sldId="1423"/>
        </pc:sldMkLst>
        <pc:spChg chg="add mod">
          <ac:chgData name="Friese, Ryan D" userId="f1baf746-3103-4f7a-809c-1f27d487cef8" providerId="ADAL" clId="{68F15D48-DE35-4175-8297-6205E113966E}" dt="2025-03-24T23:52:09.152" v="148" actId="1076"/>
          <ac:spMkLst>
            <pc:docMk/>
            <pc:sldMk cId="1893589727" sldId="1423"/>
            <ac:spMk id="4" creationId="{FA738023-3A47-5A98-67E6-0B66B4B5FC85}"/>
          </ac:spMkLst>
        </pc:spChg>
        <pc:cxnChg chg="add mod">
          <ac:chgData name="Friese, Ryan D" userId="f1baf746-3103-4f7a-809c-1f27d487cef8" providerId="ADAL" clId="{68F15D48-DE35-4175-8297-6205E113966E}" dt="2025-03-24T23:52:09.152" v="148" actId="1076"/>
          <ac:cxnSpMkLst>
            <pc:docMk/>
            <pc:sldMk cId="1893589727" sldId="1423"/>
            <ac:cxnSpMk id="12" creationId="{47A9E5AD-B699-C7A7-8CAC-6CC0D8A58737}"/>
          </ac:cxnSpMkLst>
        </pc:cxnChg>
      </pc:sldChg>
      <pc:sldChg chg="add">
        <pc:chgData name="Friese, Ryan D" userId="f1baf746-3103-4f7a-809c-1f27d487cef8" providerId="ADAL" clId="{68F15D48-DE35-4175-8297-6205E113966E}" dt="2025-03-24T23:52:33.585" v="150"/>
        <pc:sldMkLst>
          <pc:docMk/>
          <pc:sldMk cId="183299827" sldId="1424"/>
        </pc:sldMkLst>
      </pc:sldChg>
      <pc:sldChg chg="add">
        <pc:chgData name="Friese, Ryan D" userId="f1baf746-3103-4f7a-809c-1f27d487cef8" providerId="ADAL" clId="{68F15D48-DE35-4175-8297-6205E113966E}" dt="2025-03-24T23:52:51.907" v="152"/>
        <pc:sldMkLst>
          <pc:docMk/>
          <pc:sldMk cId="4175038730" sldId="1425"/>
        </pc:sldMkLst>
      </pc:sldChg>
      <pc:sldChg chg="addSp modSp new mod modAnim">
        <pc:chgData name="Friese, Ryan D" userId="f1baf746-3103-4f7a-809c-1f27d487cef8" providerId="ADAL" clId="{68F15D48-DE35-4175-8297-6205E113966E}" dt="2025-03-27T20:06:32.058" v="1893" actId="20577"/>
        <pc:sldMkLst>
          <pc:docMk/>
          <pc:sldMk cId="3727041957" sldId="1426"/>
        </pc:sldMkLst>
        <pc:spChg chg="mod">
          <ac:chgData name="Friese, Ryan D" userId="f1baf746-3103-4f7a-809c-1f27d487cef8" providerId="ADAL" clId="{68F15D48-DE35-4175-8297-6205E113966E}" dt="2025-03-25T00:01:30.021" v="305" actId="20577"/>
          <ac:spMkLst>
            <pc:docMk/>
            <pc:sldMk cId="3727041957" sldId="1426"/>
            <ac:spMk id="3" creationId="{AF4CDA50-3331-E93F-3B5E-488907EEC726}"/>
          </ac:spMkLst>
        </pc:spChg>
        <pc:spChg chg="mod">
          <ac:chgData name="Friese, Ryan D" userId="f1baf746-3103-4f7a-809c-1f27d487cef8" providerId="ADAL" clId="{68F15D48-DE35-4175-8297-6205E113966E}" dt="2025-03-25T00:11:19.958" v="1367" actId="20577"/>
          <ac:spMkLst>
            <pc:docMk/>
            <pc:sldMk cId="3727041957" sldId="1426"/>
            <ac:spMk id="4" creationId="{F415EA60-158A-BA45-C3BE-6046F3AE66A4}"/>
          </ac:spMkLst>
        </pc:spChg>
        <pc:spChg chg="add mod">
          <ac:chgData name="Friese, Ryan D" userId="f1baf746-3103-4f7a-809c-1f27d487cef8" providerId="ADAL" clId="{68F15D48-DE35-4175-8297-6205E113966E}" dt="2025-03-27T20:06:32.058" v="1893" actId="20577"/>
          <ac:spMkLst>
            <pc:docMk/>
            <pc:sldMk cId="3727041957" sldId="1426"/>
            <ac:spMk id="7" creationId="{6FD7C27C-1471-A03E-8B45-FCD320897D86}"/>
          </ac:spMkLst>
        </pc:spChg>
      </pc:sldChg>
      <pc:sldChg chg="add">
        <pc:chgData name="Friese, Ryan D" userId="f1baf746-3103-4f7a-809c-1f27d487cef8" providerId="ADAL" clId="{68F15D48-DE35-4175-8297-6205E113966E}" dt="2025-03-27T21:31:05.424" v="1894"/>
        <pc:sldMkLst>
          <pc:docMk/>
          <pc:sldMk cId="3474201800" sldId="1427"/>
        </pc:sldMkLst>
      </pc:sldChg>
      <pc:sldChg chg="add">
        <pc:chgData name="Friese, Ryan D" userId="f1baf746-3103-4f7a-809c-1f27d487cef8" providerId="ADAL" clId="{68F15D48-DE35-4175-8297-6205E113966E}" dt="2025-03-27T21:31:05.424" v="1894"/>
        <pc:sldMkLst>
          <pc:docMk/>
          <pc:sldMk cId="4202133468" sldId="1428"/>
        </pc:sldMkLst>
      </pc:sldChg>
      <pc:sldChg chg="add">
        <pc:chgData name="Friese, Ryan D" userId="f1baf746-3103-4f7a-809c-1f27d487cef8" providerId="ADAL" clId="{68F15D48-DE35-4175-8297-6205E113966E}" dt="2025-03-29T00:02:26.512" v="1896"/>
        <pc:sldMkLst>
          <pc:docMk/>
          <pc:sldMk cId="2439275673" sldId="1429"/>
        </pc:sldMkLst>
      </pc:sldChg>
      <pc:sldChg chg="add">
        <pc:chgData name="Friese, Ryan D" userId="f1baf746-3103-4f7a-809c-1f27d487cef8" providerId="ADAL" clId="{68F15D48-DE35-4175-8297-6205E113966E}" dt="2025-03-29T00:02:52.793" v="1899"/>
        <pc:sldMkLst>
          <pc:docMk/>
          <pc:sldMk cId="1806874894" sldId="1430"/>
        </pc:sldMkLst>
      </pc:sldChg>
    </pc:docChg>
  </pc:docChgLst>
  <pc:docChgLst>
    <pc:chgData name="Friese, Ryan D" userId="f1baf746-3103-4f7a-809c-1f27d487cef8" providerId="ADAL" clId="{842FD3C5-C086-4A2C-8DFE-13BCF11DEB5E}"/>
    <pc:docChg chg="modSld">
      <pc:chgData name="Friese, Ryan D" userId="f1baf746-3103-4f7a-809c-1f27d487cef8" providerId="ADAL" clId="{842FD3C5-C086-4A2C-8DFE-13BCF11DEB5E}" dt="2025-06-16T21:22:22.025" v="4" actId="20577"/>
      <pc:docMkLst>
        <pc:docMk/>
      </pc:docMkLst>
      <pc:sldChg chg="modSp mod">
        <pc:chgData name="Friese, Ryan D" userId="f1baf746-3103-4f7a-809c-1f27d487cef8" providerId="ADAL" clId="{842FD3C5-C086-4A2C-8DFE-13BCF11DEB5E}" dt="2025-06-16T21:22:22.025" v="4" actId="20577"/>
        <pc:sldMkLst>
          <pc:docMk/>
          <pc:sldMk cId="2350880398" sldId="514"/>
        </pc:sldMkLst>
        <pc:spChg chg="mod">
          <ac:chgData name="Friese, Ryan D" userId="f1baf746-3103-4f7a-809c-1f27d487cef8" providerId="ADAL" clId="{842FD3C5-C086-4A2C-8DFE-13BCF11DEB5E}" dt="2025-06-16T21:22:06.471" v="1" actId="1076"/>
          <ac:spMkLst>
            <pc:docMk/>
            <pc:sldMk cId="2350880398" sldId="514"/>
            <ac:spMk id="13" creationId="{D2538147-D7EF-D495-30BC-0221DE591699}"/>
          </ac:spMkLst>
        </pc:spChg>
        <pc:spChg chg="mod">
          <ac:chgData name="Friese, Ryan D" userId="f1baf746-3103-4f7a-809c-1f27d487cef8" providerId="ADAL" clId="{842FD3C5-C086-4A2C-8DFE-13BCF11DEB5E}" dt="2025-06-16T21:22:22.025" v="4" actId="20577"/>
          <ac:spMkLst>
            <pc:docMk/>
            <pc:sldMk cId="2350880398" sldId="514"/>
            <ac:spMk id="14" creationId="{AE999498-AF1B-DD47-8CA7-BBE9C2764108}"/>
          </ac:spMkLst>
        </pc:spChg>
        <pc:picChg chg="mod">
          <ac:chgData name="Friese, Ryan D" userId="f1baf746-3103-4f7a-809c-1f27d487cef8" providerId="ADAL" clId="{842FD3C5-C086-4A2C-8DFE-13BCF11DEB5E}" dt="2025-06-16T21:22:03.896" v="0" actId="1076"/>
          <ac:picMkLst>
            <pc:docMk/>
            <pc:sldMk cId="2350880398" sldId="514"/>
            <ac:picMk id="11" creationId="{84260E7D-E814-F53D-9731-567DB459AC26}"/>
          </ac:picMkLst>
        </pc:picChg>
        <pc:picChg chg="mod">
          <ac:chgData name="Friese, Ryan D" userId="f1baf746-3103-4f7a-809c-1f27d487cef8" providerId="ADAL" clId="{842FD3C5-C086-4A2C-8DFE-13BCF11DEB5E}" dt="2025-06-16T21:22:10.547" v="2" actId="1076"/>
          <ac:picMkLst>
            <pc:docMk/>
            <pc:sldMk cId="2350880398" sldId="514"/>
            <ac:picMk id="12" creationId="{EB201454-3734-400B-A505-D12D0263AA9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A69A9C-1087-184F-8370-423E175D9D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90E3D-F5E5-0D40-B323-A25B85CF9E8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6E50B8-2EF8-564F-AE86-D84E6C503530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E3AA97-2F38-5340-B685-1E0EA3E358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732F3-25A6-284F-A24C-5FD21AE6BE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78BA3-E235-9946-9A4D-07E907F688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003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AC8D20-1945-7145-91A2-3D134BDA25E2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104DB-87CA-D64F-AB86-DB2520DDF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5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Image: Abstract Data Visualization – Stock Photo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618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F8F5A-F637-CB43-AC59-A94C4D7E50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10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AF8F5A-F637-CB43-AC59-A94C4D7E50D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26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702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949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102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373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0745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42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1242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3188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89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39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Chapel uses an Optimized </a:t>
            </a:r>
            <a:r>
              <a:rPr lang="en-US" dirty="0" err="1"/>
              <a:t>CopyAggregator</a:t>
            </a:r>
            <a:r>
              <a:rPr lang="en-US" dirty="0"/>
              <a:t>, allocates additional buffers to facilitate transfers on each 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165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Chapel uses an Optimized </a:t>
            </a:r>
            <a:r>
              <a:rPr lang="en-US" dirty="0" err="1"/>
              <a:t>CopyAggregator</a:t>
            </a:r>
            <a:r>
              <a:rPr lang="en-US" dirty="0"/>
              <a:t>, allocates additional buffers to facilitate transfers on each 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0104DB-87CA-D64F-AB86-DB2520DDF5D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895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Plain_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36B83B-A5E4-524E-96A9-DFC12D58F12A}"/>
              </a:ext>
            </a:extLst>
          </p:cNvPr>
          <p:cNvSpPr/>
          <p:nvPr userDrawn="1"/>
        </p:nvSpPr>
        <p:spPr>
          <a:xfrm>
            <a:off x="914400" y="0"/>
            <a:ext cx="54864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1DF1AC-1D08-B945-A034-B740A35902F9}"/>
              </a:ext>
            </a:extLst>
          </p:cNvPr>
          <p:cNvSpPr txBox="1"/>
          <p:nvPr userDrawn="1"/>
        </p:nvSpPr>
        <p:spPr>
          <a:xfrm>
            <a:off x="1371600" y="7543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800">
                <a:solidFill>
                  <a:srgbClr val="616265">
                    <a:alpha val="7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PNNL is operated by Battelle for the U.S. Department of Energy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743200"/>
            <a:ext cx="4572000" cy="182880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r">
              <a:defRPr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061D5F4-8719-384B-945C-9A27060F99A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70529" y="5669280"/>
            <a:ext cx="4572000" cy="2743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r">
              <a:buNone/>
              <a:defRPr sz="18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/>
              <a:t>Click to add presenter’s name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3E2D432E-6648-6643-9C6E-38B1EFF5EE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71600" y="5983356"/>
            <a:ext cx="4572000" cy="27432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 algn="r">
              <a:buNone/>
              <a:defRPr sz="1600">
                <a:solidFill>
                  <a:srgbClr val="616265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/>
            </a:lvl2pPr>
            <a:lvl3pPr marL="1097280" indent="0">
              <a:buNone/>
              <a:defRPr/>
            </a:lvl3pPr>
            <a:lvl4pPr marL="1645920" indent="0">
              <a:buNone/>
              <a:defRPr/>
            </a:lvl4pPr>
            <a:lvl5pPr marL="2194560" indent="0">
              <a:buNone/>
              <a:defRPr/>
            </a:lvl5pPr>
          </a:lstStyle>
          <a:p>
            <a:pPr lvl="0"/>
            <a:r>
              <a:rPr lang="en-US"/>
              <a:t>Click to add presenter’s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5389B-4BB4-1644-9B7E-35A85D0C1E3B}"/>
              </a:ext>
            </a:extLst>
          </p:cNvPr>
          <p:cNvSpPr txBox="1"/>
          <p:nvPr userDrawn="1"/>
        </p:nvSpPr>
        <p:spPr>
          <a:xfrm>
            <a:off x="3710609" y="-1245704"/>
            <a:ext cx="18473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A7D3E1-BCC3-C843-81A0-EA4EDFB445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237744"/>
            <a:ext cx="1280160" cy="124922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617363-F73D-B74F-9647-C9D747AC702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370529" y="7178040"/>
            <a:ext cx="824484" cy="228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90C8FB-601C-A04C-84F7-213A857D3E6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75535" y="7249637"/>
            <a:ext cx="929809" cy="155448"/>
          </a:xfrm>
          <a:prstGeom prst="rect">
            <a:avLst/>
          </a:prstGeom>
        </p:spPr>
      </p:pic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9D9DB338-5D5C-4ACA-9ECF-C3E34C441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51641" y="4915645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9D6C2-E8DE-474D-A0BA-E827A5E2450F}" type="datetime1">
              <a:rPr lang="en-US" smtClean="0"/>
              <a:t>6/16/2025</a:t>
            </a:fld>
            <a:endParaRPr lang="en-US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F55B65E8-4040-44D0-A4FE-A050FD948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9037" y="773011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</p:spTree>
    <p:extLst>
      <p:ext uri="{BB962C8B-B14F-4D97-AF65-F5344CB8AC3E}">
        <p14:creationId xmlns:p14="http://schemas.microsoft.com/office/powerpoint/2010/main" val="150130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66026595-8D7E-D24C-9263-B65316A326B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0800" y="457200"/>
            <a:ext cx="7772400" cy="73152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338E046-DF9E-FC49-A812-491AB80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1D0CE8D1-2F12-5A44-A6B5-2CD466F52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6858000"/>
            <a:ext cx="77724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99B87A2-8960-403D-AE0D-D549462722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rgbClr val="C8722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1" name="Content Placeholder 13">
            <a:extLst>
              <a:ext uri="{FF2B5EF4-FFF2-40B4-BE49-F238E27FC236}">
                <a16:creationId xmlns:a16="http://schemas.microsoft.com/office/drawing/2014/main" id="{29354FF4-9871-4E1B-A45A-ABAA2BE2B69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47EFCEB6-2E27-4C42-A1E5-AC8A8BA837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954143-FC59-4F77-BFCB-56949AA46042}" type="datetime1">
              <a:rPr lang="en-US" smtClean="0"/>
              <a:t>6/16/2025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A86FAFB9-0DC0-4AB0-9E8B-6EC7C8ABAA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</p:spTree>
    <p:extLst>
      <p:ext uri="{BB962C8B-B14F-4D97-AF65-F5344CB8AC3E}">
        <p14:creationId xmlns:p14="http://schemas.microsoft.com/office/powerpoint/2010/main" val="1957828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3338E046-DF9E-FC49-A812-491AB8058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0C408BC-A7DE-4A08-AD26-56414D2DD80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430642" y="457199"/>
            <a:ext cx="7772400" cy="7315200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A3C58F0F-5237-4527-BB8E-6EEF623543BB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Date Placeholder 1">
            <a:extLst>
              <a:ext uri="{FF2B5EF4-FFF2-40B4-BE49-F238E27FC236}">
                <a16:creationId xmlns:a16="http://schemas.microsoft.com/office/drawing/2014/main" id="{33D0FD2D-15F4-4320-9C04-2023CAB47E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AB37BF-D481-4A0D-BCF3-E8F52515E607}" type="datetime1">
              <a:rPr lang="en-US" smtClean="0"/>
              <a:t>6/16/2025</a:t>
            </a:fld>
            <a:endParaRPr lang="en-US"/>
          </a:p>
        </p:txBody>
      </p:sp>
      <p:sp>
        <p:nvSpPr>
          <p:cNvPr id="19" name="Footer Placeholder 2">
            <a:extLst>
              <a:ext uri="{FF2B5EF4-FFF2-40B4-BE49-F238E27FC236}">
                <a16:creationId xmlns:a16="http://schemas.microsoft.com/office/drawing/2014/main" id="{08FBEF60-4239-4E67-A385-B22B813AD4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7614967-FAA9-4DA9-B7DE-539AA89235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rgbClr val="C8722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990347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C1406DC-BAEC-4717-8F68-46C92F1663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028E3363-7137-4431-9927-3AE087A5B2B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2057399"/>
            <a:ext cx="12801600" cy="5486401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">
            <a:extLst>
              <a:ext uri="{FF2B5EF4-FFF2-40B4-BE49-F238E27FC236}">
                <a16:creationId xmlns:a16="http://schemas.microsoft.com/office/drawing/2014/main" id="{E76F451D-D169-4CA9-91EE-97F19A35C6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67C1C0-7DC8-4064-9DD7-DCE906513A8D}" type="datetime1">
              <a:rPr lang="en-US" smtClean="0"/>
              <a:t>6/16/2025</a:t>
            </a:fld>
            <a:endParaRPr lang="en-US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8A19F790-0343-4862-A140-1B409986B7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</p:spTree>
    <p:extLst>
      <p:ext uri="{BB962C8B-B14F-4D97-AF65-F5344CB8AC3E}">
        <p14:creationId xmlns:p14="http://schemas.microsoft.com/office/powerpoint/2010/main" val="2806792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00800" y="4572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D00854A-4EC7-2D48-A025-5B0B48548BC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0515600" y="4572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67A8C708-D197-CF47-8089-89928BE1E30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00800" y="43434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3C4D2EBC-B863-FD49-A9DF-1381563078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515600" y="4343400"/>
            <a:ext cx="3657600" cy="342900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93B472-4A32-7C41-A565-485FDC3EB8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29718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19F7807A-D120-BD49-9CBD-9174F26D798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00800" y="68580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8ED17FC-CAF8-9A40-9A88-897DEF9CFE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515600" y="29718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A16FA60-8BA9-8B4A-86AA-F8336C26C78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515600" y="6858000"/>
            <a:ext cx="3657600" cy="9144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7DC2EC3E-C641-FD49-9F15-878B1AFFFD9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3648737A-DE0E-48DB-87F0-65418715CF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2295525"/>
            <a:ext cx="4572001" cy="1590675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rgbClr val="C8722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21" name="Content Placeholder 13">
            <a:extLst>
              <a:ext uri="{FF2B5EF4-FFF2-40B4-BE49-F238E27FC236}">
                <a16:creationId xmlns:a16="http://schemas.microsoft.com/office/drawing/2014/main" id="{97DA340F-6103-4F2C-B3B8-8D8A524DC19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394459" y="4373033"/>
            <a:ext cx="4572000" cy="3429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 marL="822960" indent="-274320">
              <a:buFont typeface="Wingdings" panose="05000000000000000000" pitchFamily="2" charset="2"/>
              <a:buChar char="§"/>
              <a:defRPr sz="2400"/>
            </a:lvl2pPr>
            <a:lvl3pPr marL="1371600" indent="-274320">
              <a:buFont typeface="Wingdings" panose="05000000000000000000" pitchFamily="2" charset="2"/>
              <a:buChar char="ü"/>
              <a:defRPr sz="2000"/>
            </a:lvl3pPr>
            <a:lvl4pPr>
              <a:defRPr sz="1800"/>
            </a:lvl4pPr>
            <a:lvl5pPr marL="2468880" indent="-27432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Date Placeholder 1">
            <a:extLst>
              <a:ext uri="{FF2B5EF4-FFF2-40B4-BE49-F238E27FC236}">
                <a16:creationId xmlns:a16="http://schemas.microsoft.com/office/drawing/2014/main" id="{EE384947-F0AD-4E73-95AD-CAD4DEE44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3DF4C-48FF-410C-ADFF-E28142F97BA7}" type="datetime1">
              <a:rPr lang="en-US" smtClean="0"/>
              <a:t>6/16/2025</a:t>
            </a:fld>
            <a:endParaRPr lang="en-US"/>
          </a:p>
        </p:txBody>
      </p:sp>
      <p:sp>
        <p:nvSpPr>
          <p:cNvPr id="26" name="Footer Placeholder 2">
            <a:extLst>
              <a:ext uri="{FF2B5EF4-FFF2-40B4-BE49-F238E27FC236}">
                <a16:creationId xmlns:a16="http://schemas.microsoft.com/office/drawing/2014/main" id="{8259C4D6-850D-4393-9434-3F69451FBF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</p:spTree>
    <p:extLst>
      <p:ext uri="{BB962C8B-B14F-4D97-AF65-F5344CB8AC3E}">
        <p14:creationId xmlns:p14="http://schemas.microsoft.com/office/powerpoint/2010/main" val="41093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icture Grid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786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86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04120" y="539496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04120" y="2743200"/>
            <a:ext cx="4069080" cy="2377440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160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160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786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786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104120" y="429768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412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83198DF-9C78-DD40-9CE1-2BC11B888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BE0A6ECC-C9D0-4240-B978-69D09F2C99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rgbClr val="C8722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  <p:sp>
        <p:nvSpPr>
          <p:cNvPr id="30" name="Date Placeholder 1">
            <a:extLst>
              <a:ext uri="{FF2B5EF4-FFF2-40B4-BE49-F238E27FC236}">
                <a16:creationId xmlns:a16="http://schemas.microsoft.com/office/drawing/2014/main" id="{E4CF0CE7-333F-4604-B518-6F7EE2AA8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47DE93-D944-4E52-AC22-12B6484F0ED2}" type="datetime1">
              <a:rPr lang="en-US" smtClean="0"/>
              <a:t>6/16/2025</a:t>
            </a:fld>
            <a:endParaRPr lang="en-US"/>
          </a:p>
        </p:txBody>
      </p:sp>
      <p:sp>
        <p:nvSpPr>
          <p:cNvPr id="31" name="Footer Placeholder 2">
            <a:extLst>
              <a:ext uri="{FF2B5EF4-FFF2-40B4-BE49-F238E27FC236}">
                <a16:creationId xmlns:a16="http://schemas.microsoft.com/office/drawing/2014/main" id="{21303C4E-FB0C-4A46-BF34-C99D885AA3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  <p:sp>
        <p:nvSpPr>
          <p:cNvPr id="32" name="Content Placeholder 4">
            <a:extLst>
              <a:ext uri="{FF2B5EF4-FFF2-40B4-BE49-F238E27FC236}">
                <a16:creationId xmlns:a16="http://schemas.microsoft.com/office/drawing/2014/main" id="{C14080C3-5390-4F4E-9C88-2C080B5CE5D9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1371600" y="2194560"/>
            <a:ext cx="12801600" cy="525886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22960" indent="-274320"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371600" indent="-274320">
              <a:buFont typeface="Wingdings" panose="05000000000000000000" pitchFamily="2" charset="2"/>
              <a:buChar char="ü"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468880" indent="-274320">
              <a:buFont typeface="Wingdings" panose="05000000000000000000" pitchFamily="2" charset="2"/>
              <a:buChar char="§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8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icture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49C90B8-4BAF-9A46-98DB-81259C436289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EE2FC3-856F-2F4B-A52D-94189159AC1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7160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E341CF1-EFF3-A64D-A9D4-B96C8CD8F3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7160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D0629C78-28FC-874B-96C1-DFAAFF975DE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3786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5089EEED-3863-BD48-BCCB-4D264015DA6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3786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EEF5B44F-191D-F44D-8AB3-0B9E4AF4B4E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104120" y="5060515"/>
            <a:ext cx="4069080" cy="2711885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A26442AE-D905-374C-9CB4-1A1F44C08C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04120" y="2066544"/>
            <a:ext cx="4069080" cy="2715768"/>
          </a:xfrm>
          <a:prstGeom prst="rect">
            <a:avLst/>
          </a:prstGeom>
          <a:solidFill>
            <a:srgbClr val="B3B3B3"/>
          </a:solidFill>
        </p:spPr>
        <p:txBody>
          <a:bodyPr lIns="0" tIns="0" rIns="0" bIns="0" anchor="ctr" anchorCtr="0"/>
          <a:lstStyle>
            <a:lvl1pPr marL="0" indent="0" algn="ctr">
              <a:buNone/>
              <a:defRPr sz="1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CEBE105C-2ECB-0B46-923F-378B0A5AEB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7160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B0900D4-1543-834B-AE27-9A72FD91B39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7160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64FB6B4-B0C6-5949-9F2B-7BCB7B20739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73786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8FDD81E0-346D-A544-A838-A6991588AE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3786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DB91CB5-0E93-FA44-9508-60493542C74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104120" y="3959352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2F736B8-F799-F047-BE4E-297E64A7549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104120" y="6949440"/>
            <a:ext cx="4069080" cy="8229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100000">
                <a:srgbClr val="000000"/>
              </a:gs>
            </a:gsLst>
            <a:lin ang="5400000" scaled="0"/>
          </a:gradFill>
        </p:spPr>
        <p:txBody>
          <a:bodyPr lIns="182880" tIns="182880" rIns="182880" bIns="182880" anchor="b" anchorCtr="0"/>
          <a:lstStyle>
            <a:lvl1pPr marL="0" indent="0">
              <a:buNone/>
              <a:defRPr sz="15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864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09728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4592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19456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insert image caption</a:t>
            </a:r>
          </a:p>
        </p:txBody>
      </p:sp>
      <p:sp>
        <p:nvSpPr>
          <p:cNvPr id="24" name="Slide Number Placeholder 3">
            <a:extLst>
              <a:ext uri="{FF2B5EF4-FFF2-40B4-BE49-F238E27FC236}">
                <a16:creationId xmlns:a16="http://schemas.microsoft.com/office/drawing/2014/main" id="{183198DF-9C78-DD40-9CE1-2BC11B888821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Date Placeholder 1">
            <a:extLst>
              <a:ext uri="{FF2B5EF4-FFF2-40B4-BE49-F238E27FC236}">
                <a16:creationId xmlns:a16="http://schemas.microsoft.com/office/drawing/2014/main" id="{68F188F7-153E-49D5-8DFC-1902520470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E9CDF-AC6F-4ABC-B406-42673008F387}" type="datetime1">
              <a:rPr lang="en-US" smtClean="0"/>
              <a:t>6/16/2025</a:t>
            </a:fld>
            <a:endParaRPr lang="en-US"/>
          </a:p>
        </p:txBody>
      </p:sp>
      <p:sp>
        <p:nvSpPr>
          <p:cNvPr id="29" name="Footer Placeholder 2">
            <a:extLst>
              <a:ext uri="{FF2B5EF4-FFF2-40B4-BE49-F238E27FC236}">
                <a16:creationId xmlns:a16="http://schemas.microsoft.com/office/drawing/2014/main" id="{578EF931-9BED-4D2C-8850-F588C3E360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B7AD090-7EA2-424E-A15B-B80A20326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00400" y="270933"/>
            <a:ext cx="10972800" cy="1310979"/>
          </a:xfrm>
          <a:prstGeom prst="rect">
            <a:avLst/>
          </a:prstGeom>
        </p:spPr>
        <p:txBody>
          <a:bodyPr lIns="0" anchor="b"/>
          <a:lstStyle>
            <a:lvl1pPr>
              <a:defRPr lang="en-US" sz="3600" b="1" kern="1200" dirty="0">
                <a:solidFill>
                  <a:srgbClr val="C8722E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slide title</a:t>
            </a:r>
          </a:p>
        </p:txBody>
      </p:sp>
    </p:spTree>
    <p:extLst>
      <p:ext uri="{BB962C8B-B14F-4D97-AF65-F5344CB8AC3E}">
        <p14:creationId xmlns:p14="http://schemas.microsoft.com/office/powerpoint/2010/main" val="482923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D96EEDE-6486-774B-B0E3-751BBA42CE35}"/>
              </a:ext>
            </a:extLst>
          </p:cNvPr>
          <p:cNvSpPr/>
          <p:nvPr userDrawn="1"/>
        </p:nvSpPr>
        <p:spPr>
          <a:xfrm>
            <a:off x="5029200" y="0"/>
            <a:ext cx="96012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rgbClr val="B3B3B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8F28E1ED-1888-403E-AAF0-8053EF9DF5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703408" y="7795155"/>
            <a:ext cx="3108007" cy="4344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47AE78-57F8-43E2-9337-100820453893}" type="datetime1">
              <a:rPr lang="en-US" smtClean="0"/>
              <a:t>6/16/2025</a:t>
            </a:fld>
            <a:endParaRPr lang="en-US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227E8059-8EC0-42A2-8A9E-251427CDC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6" y="7772400"/>
            <a:ext cx="12007821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</p:spTree>
    <p:extLst>
      <p:ext uri="{BB962C8B-B14F-4D97-AF65-F5344CB8AC3E}">
        <p14:creationId xmlns:p14="http://schemas.microsoft.com/office/powerpoint/2010/main" val="2269145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/ 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3994296" y="7772400"/>
            <a:ext cx="453223" cy="457200"/>
          </a:xfrm>
          <a:prstGeom prst="rect">
            <a:avLst/>
          </a:prstGeom>
        </p:spPr>
        <p:txBody>
          <a:bodyPr lIns="0" tIns="0" rIns="0" bIns="0" anchor="ctr" anchorCtr="0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7A4BB3-E848-5A44-82DF-322201952CD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6D1A4-6DD7-B54C-AB7B-63074374BB93}"/>
              </a:ext>
            </a:extLst>
          </p:cNvPr>
          <p:cNvSpPr txBox="1"/>
          <p:nvPr userDrawn="1"/>
        </p:nvSpPr>
        <p:spPr>
          <a:xfrm>
            <a:off x="1371600" y="2057400"/>
            <a:ext cx="4572000" cy="54864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B62A8373-42F9-431F-865E-129CCA0046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9247" y="7772400"/>
            <a:ext cx="547155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</p:spTree>
    <p:extLst>
      <p:ext uri="{BB962C8B-B14F-4D97-AF65-F5344CB8AC3E}">
        <p14:creationId xmlns:p14="http://schemas.microsoft.com/office/powerpoint/2010/main" val="324176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346836"/>
            <a:ext cx="1243584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2C92A-F4A7-4A6D-821C-CBA60C9CBC4B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E43D-1FA8-A74E-B23E-5CF276A092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5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29221F-20F2-144C-A638-0A6C756C26C9}"/>
              </a:ext>
            </a:extLst>
          </p:cNvPr>
          <p:cNvSpPr/>
          <p:nvPr userDrawn="1"/>
        </p:nvSpPr>
        <p:spPr>
          <a:xfrm>
            <a:off x="914400" y="0"/>
            <a:ext cx="5486400" cy="8229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88D28A-E737-5049-8A98-3AC3A6EA2CD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371600" y="237744"/>
            <a:ext cx="1280160" cy="1249224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AA279-64AD-4C24-987C-D056E5350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89037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Rust + Lamellar Intro</a:t>
            </a:r>
          </a:p>
        </p:txBody>
      </p:sp>
    </p:spTree>
    <p:extLst>
      <p:ext uri="{BB962C8B-B14F-4D97-AF65-F5344CB8AC3E}">
        <p14:creationId xmlns:p14="http://schemas.microsoft.com/office/powerpoint/2010/main" val="64710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4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rs/lamellar/latest/lamellar/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crates.io/crates/lamella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github.com/pnnl/lamellar-runtim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play.rust-lang.org/?version=stable&amp;mode=debug&amp;edition=2021&amp;gist=a8ddc15faa98db41df433f795c61af0a" TargetMode="Externa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rust-lang.org/?version=stable&amp;mode=debug&amp;edition=2021&amp;gist=03b7c04c5c40c0ba6614f4dd6414efe1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rust-lang.org/?version=stable&amp;mode=debug&amp;edition=2021&amp;gist=4cf313e6dbd90a7852f0a98ec295fe34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rust-lang.org/?version=stable&amp;mode=debug&amp;edition=2021&amp;gist=8a5dc6f88a4e3b25c5b2886eb70cfb79" TargetMode="Externa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play.rust-lang.org/?version=stable&amp;mode=debug&amp;edition=2021&amp;gist=09f44c419f0eb3fef8259a3bcd0483a8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://www.crates.io/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rs/lamellar/latest/lamellar/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crates.io/crates/lamella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github.com/pnnl/lamellar-runtime" TargetMode="Externa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github.com/pnnl/lamellar-benchmarks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s://github.com/pnnl/lamellar-runtime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hyperlink" Target="https://docs.rs/lamellar/latest/lamellar/" TargetMode="External"/><Relationship Id="rId4" Type="http://schemas.openxmlformats.org/officeDocument/2006/relationships/hyperlink" Target="https://crates.io/crates/lamell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FD0D9-1CAC-4FBD-8120-CBD5A07EB9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2453" y="2743199"/>
            <a:ext cx="5208693" cy="2098763"/>
          </a:xfrm>
        </p:spPr>
        <p:txBody>
          <a:bodyPr/>
          <a:lstStyle/>
          <a:p>
            <a:r>
              <a:rPr lang="en-US" sz="4000" dirty="0">
                <a:solidFill>
                  <a:schemeClr val="accent1"/>
                </a:solidFill>
              </a:rPr>
              <a:t>Introducing the Lamellar Runtime</a:t>
            </a:r>
            <a:r>
              <a:rPr lang="en-US" sz="4000" dirty="0"/>
              <a:t>:</a:t>
            </a:r>
            <a:br>
              <a:rPr lang="en-US" sz="4000" dirty="0"/>
            </a:br>
            <a:r>
              <a:rPr lang="en-US" sz="4000" dirty="0"/>
              <a:t>A Modern Approach to High-performance Computing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886310-1A8B-41C6-8ABF-4E94922462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71599" y="5423119"/>
            <a:ext cx="4663439" cy="924671"/>
          </a:xfrm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>
                <a:latin typeface="Arial"/>
                <a:cs typeface="Arial"/>
              </a:rPr>
              <a:t>Ryan D. Friese</a:t>
            </a:r>
            <a:br>
              <a:rPr lang="en-US" b="0" dirty="0">
                <a:latin typeface="Arial"/>
                <a:cs typeface="Arial"/>
              </a:rPr>
            </a:br>
            <a:endParaRPr lang="en-US" b="0" dirty="0">
              <a:latin typeface="Arial"/>
              <a:cs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9C3C0-764A-4145-9480-D79B28BB65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71600" y="6689696"/>
            <a:ext cx="4572000" cy="274320"/>
          </a:xfrm>
        </p:spPr>
        <p:txBody>
          <a:bodyPr/>
          <a:lstStyle/>
          <a:p>
            <a:r>
              <a:rPr lang="en-US" dirty="0"/>
              <a:t>Pacific Northwest National Lab</a:t>
            </a:r>
          </a:p>
          <a:p>
            <a:r>
              <a:rPr lang="en-US" dirty="0"/>
              <a:t>ryan.friese@pnnl.gov</a:t>
            </a:r>
            <a:br>
              <a:rPr lang="en-US" dirty="0"/>
            </a:br>
            <a:r>
              <a:rPr lang="en-US" dirty="0"/>
              <a:t>509-375-2903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EC6C3B-204B-4EB1-B815-17D3036BCE38}"/>
              </a:ext>
            </a:extLst>
          </p:cNvPr>
          <p:cNvSpPr txBox="1"/>
          <p:nvPr/>
        </p:nvSpPr>
        <p:spPr>
          <a:xfrm>
            <a:off x="3291839" y="4920175"/>
            <a:ext cx="2743200" cy="42473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2150" dirty="0"/>
              <a:t>Apr 2, 2025</a:t>
            </a:r>
            <a:endParaRPr lang="en-US" dirty="0"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FBF6D4-3F54-55C5-DB59-C54C2A0BD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592" y="357750"/>
            <a:ext cx="1554480" cy="1554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4C9432-830C-36EB-ABFC-783542D51BFB}"/>
              </a:ext>
            </a:extLst>
          </p:cNvPr>
          <p:cNvSpPr txBox="1"/>
          <p:nvPr/>
        </p:nvSpPr>
        <p:spPr>
          <a:xfrm>
            <a:off x="7366593" y="1912230"/>
            <a:ext cx="1554479" cy="6924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300" dirty="0">
                <a:hlinkClick r:id="rId4"/>
              </a:rPr>
              <a:t>https://github.com/pnnl/lamellar-runtime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5CC76F-CC30-83EB-157B-F986C3FBA6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8132" y="2604727"/>
            <a:ext cx="1554480" cy="1554480"/>
          </a:xfrm>
          <a:prstGeom prst="rect">
            <a:avLst/>
          </a:prstGeom>
        </p:spPr>
      </p:pic>
      <p:pic>
        <p:nvPicPr>
          <p:cNvPr id="12" name="Picture 11" descr="A qr code with a letter r&#10;&#10;Description automatically generated">
            <a:extLst>
              <a:ext uri="{FF2B5EF4-FFF2-40B4-BE49-F238E27FC236}">
                <a16:creationId xmlns:a16="http://schemas.microsoft.com/office/drawing/2014/main" id="{2F11127F-9AA5-8834-EF1D-CBA575887E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77858" y="4651650"/>
            <a:ext cx="1556923" cy="15569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7B96E3-67AF-821C-0087-32E222C5AA40}"/>
              </a:ext>
            </a:extLst>
          </p:cNvPr>
          <p:cNvSpPr txBox="1"/>
          <p:nvPr/>
        </p:nvSpPr>
        <p:spPr>
          <a:xfrm>
            <a:off x="9878133" y="4159207"/>
            <a:ext cx="1554479" cy="4924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300" dirty="0">
                <a:hlinkClick r:id="rId7"/>
              </a:rPr>
              <a:t>https://crates.io/crates/lamellar</a:t>
            </a:r>
            <a:endParaRPr 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767514-8B9C-0111-37A8-F67DD8DE0FCE}"/>
              </a:ext>
            </a:extLst>
          </p:cNvPr>
          <p:cNvSpPr txBox="1"/>
          <p:nvPr/>
        </p:nvSpPr>
        <p:spPr>
          <a:xfrm>
            <a:off x="12377858" y="6208572"/>
            <a:ext cx="155447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hlinkClick r:id="rId8"/>
              </a:rPr>
              <a:t>https://docs.rs/lamellar/latest/lamellar/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40471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C179BC0-0395-3788-BEC2-8561EA805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65A1458-0FEF-F682-46C4-45CF78D45A4D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Rust Overview</a:t>
            </a:r>
          </a:p>
          <a:p>
            <a:r>
              <a:rPr lang="en-US" dirty="0"/>
              <a:t>Lamellar Overview</a:t>
            </a:r>
          </a:p>
          <a:p>
            <a:r>
              <a:rPr lang="en-US" dirty="0"/>
              <a:t>Experimental Results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F1750F-6267-962E-CB78-5BC05FA0532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DA71D50-9009-4C72-8B7A-D7ADDE43F433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A7EC18-71F9-5F90-5AF3-C588FE1483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DF8207-4833-AD00-C92A-4FDFB3B20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144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1E43D-1FA8-A74E-B23E-5CF276A0926F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360" dirty="0"/>
              <a:t>Why Rust?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20"/>
          </p:nvPr>
        </p:nvSpPr>
        <p:spPr>
          <a:xfrm>
            <a:off x="899553" y="5967579"/>
            <a:ext cx="12801600" cy="2185214"/>
          </a:xfrm>
        </p:spPr>
        <p:txBody>
          <a:bodyPr numCol="2">
            <a:noAutofit/>
          </a:bodyPr>
          <a:lstStyle/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Mozilla 2006 – V1.0 2015 – V1.85.1 Mar ’25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Industry Adoption: Amazon, Dropbox, Facebook, Google, Microsoft, etc.</a:t>
            </a:r>
          </a:p>
          <a:p>
            <a:pPr lvl="1"/>
            <a:r>
              <a:rPr lang="en-US" sz="2000" dirty="0">
                <a:solidFill>
                  <a:schemeClr val="bg2">
                    <a:lumMod val="50000"/>
                  </a:schemeClr>
                </a:solidFill>
              </a:rPr>
              <a:t>The Rust Foundation 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Microsoft &amp; Google: 70% 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of vulnerabilities are memory related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U.S. Government has recommended switching to memory safe language</a:t>
            </a:r>
          </a:p>
          <a:p>
            <a:r>
              <a:rPr lang="en-US" sz="2400" dirty="0">
                <a:solidFill>
                  <a:schemeClr val="bg2">
                    <a:lumMod val="50000"/>
                  </a:schemeClr>
                </a:solidFill>
              </a:rPr>
              <a:t>Voted “most loved programming language” on stack overflow 2016-2023</a:t>
            </a:r>
          </a:p>
          <a:p>
            <a:endParaRPr lang="en-US" sz="126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33DC04-0409-484D-8B7F-7D0C4E120449}"/>
              </a:ext>
            </a:extLst>
          </p:cNvPr>
          <p:cNvSpPr txBox="1"/>
          <p:nvPr/>
        </p:nvSpPr>
        <p:spPr>
          <a:xfrm>
            <a:off x="1318260" y="1581912"/>
            <a:ext cx="1041342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Rust is a modern systems programing language that is an alternative to C and C++.</a:t>
            </a:r>
            <a:br>
              <a:rPr lang="en-US" dirty="0"/>
            </a:br>
            <a:r>
              <a:rPr lang="en-US" dirty="0"/>
              <a:t>It prioritizes reliability, performance, and productivity.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3B04D7-9445-427A-A39F-8ED1C0767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150" y="10287"/>
            <a:ext cx="3143250" cy="3143250"/>
          </a:xfrm>
          <a:prstGeom prst="rect">
            <a:avLst/>
          </a:prstGeom>
        </p:spPr>
      </p:pic>
      <p:pic>
        <p:nvPicPr>
          <p:cNvPr id="16" name="Graphic 15" descr="Greek Pillar with solid fill">
            <a:extLst>
              <a:ext uri="{FF2B5EF4-FFF2-40B4-BE49-F238E27FC236}">
                <a16:creationId xmlns:a16="http://schemas.microsoft.com/office/drawing/2014/main" id="{7BA9A021-B799-4D72-2CA1-ECAE08230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78696" y="2135015"/>
            <a:ext cx="1909504" cy="19095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A609FF-7047-07AA-DA87-127D19F85070}"/>
              </a:ext>
            </a:extLst>
          </p:cNvPr>
          <p:cNvSpPr txBox="1"/>
          <p:nvPr/>
        </p:nvSpPr>
        <p:spPr>
          <a:xfrm>
            <a:off x="5063805" y="3817459"/>
            <a:ext cx="2873222" cy="155427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Performance</a:t>
            </a:r>
          </a:p>
          <a:p>
            <a:pPr marL="401638" lvl="1" indent="-160338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garbage collector </a:t>
            </a:r>
            <a:b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 runtime</a:t>
            </a:r>
          </a:p>
          <a:p>
            <a:pPr marL="401638" lvl="1" indent="-160338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Zero-cost abstractions</a:t>
            </a:r>
          </a:p>
        </p:txBody>
      </p:sp>
      <p:pic>
        <p:nvPicPr>
          <p:cNvPr id="18" name="Graphic 17" descr="Greek Pillar with solid fill">
            <a:extLst>
              <a:ext uri="{FF2B5EF4-FFF2-40B4-BE49-F238E27FC236}">
                <a16:creationId xmlns:a16="http://schemas.microsoft.com/office/drawing/2014/main" id="{A9A2F8F1-B6E0-FFD8-6B0E-B142318A7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32652" y="2126448"/>
            <a:ext cx="1909504" cy="19095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13F4A59-7224-44EF-5F38-EE1E5505E4F1}"/>
              </a:ext>
            </a:extLst>
          </p:cNvPr>
          <p:cNvSpPr txBox="1"/>
          <p:nvPr/>
        </p:nvSpPr>
        <p:spPr>
          <a:xfrm>
            <a:off x="972058" y="3808892"/>
            <a:ext cx="3860672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Reliability</a:t>
            </a:r>
          </a:p>
          <a:p>
            <a:pPr marL="401638" lvl="1" indent="-160338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Memory and Thread safety</a:t>
            </a:r>
          </a:p>
          <a:p>
            <a:pPr marL="401638" lvl="1" indent="-160338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Strong compile-time guarantees</a:t>
            </a:r>
            <a:endParaRPr lang="en-US" sz="3600" dirty="0"/>
          </a:p>
        </p:txBody>
      </p:sp>
      <p:pic>
        <p:nvPicPr>
          <p:cNvPr id="20" name="Graphic 19" descr="Greek Pillar with solid fill">
            <a:extLst>
              <a:ext uri="{FF2B5EF4-FFF2-40B4-BE49-F238E27FC236}">
                <a16:creationId xmlns:a16="http://schemas.microsoft.com/office/drawing/2014/main" id="{D2313D4B-F217-FC32-D4C3-B0777D928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24155" y="2194262"/>
            <a:ext cx="1909504" cy="190950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6C8E3F85-AD83-8BE0-0462-8FE41276102B}"/>
              </a:ext>
            </a:extLst>
          </p:cNvPr>
          <p:cNvSpPr txBox="1"/>
          <p:nvPr/>
        </p:nvSpPr>
        <p:spPr>
          <a:xfrm>
            <a:off x="8725745" y="3889469"/>
            <a:ext cx="3154390" cy="21852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dirty="0"/>
              <a:t>Productivity</a:t>
            </a:r>
          </a:p>
          <a:p>
            <a:pPr marL="401638" lvl="1" indent="-160338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Cargo build tool and</a:t>
            </a:r>
            <a:br>
              <a:rPr 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package manager</a:t>
            </a:r>
          </a:p>
          <a:p>
            <a:pPr marL="401638" lvl="1" indent="-160338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Verbose and helpful </a:t>
            </a:r>
            <a:br>
              <a:rPr 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8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compiler messages</a:t>
            </a:r>
          </a:p>
          <a:p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F9487F-F380-44B0-AD35-8E84443E86AE}"/>
              </a:ext>
            </a:extLst>
          </p:cNvPr>
          <p:cNvSpPr txBox="1"/>
          <p:nvPr/>
        </p:nvSpPr>
        <p:spPr>
          <a:xfrm>
            <a:off x="5483876" y="5550886"/>
            <a:ext cx="36329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Community Support</a:t>
            </a:r>
            <a:endParaRPr lang="en-US" sz="28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788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7" grpId="0"/>
      <p:bldP spid="19" grpId="0"/>
      <p:bldP spid="21" grpId="0"/>
      <p:bldP spid="2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BB9A14-CE6B-EE59-F2E8-F1F2E8CD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CWE 2023 – Top 25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B540F-7F89-4956-227E-87BE0C3E510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18FD5E9-C8CE-447D-A2F9-7E166EE4C752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AD972-97D0-B985-B66E-A97AE1B3F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B428F4C3-FEE4-D99E-0C77-AE74C2079AE1}"/>
              </a:ext>
            </a:extLst>
          </p:cNvPr>
          <p:cNvGraphicFramePr>
            <a:graphicFrameLocks noGrp="1"/>
          </p:cNvGraphicFramePr>
          <p:nvPr>
            <p:ph sz="quarter" idx="20"/>
            <p:extLst>
              <p:ext uri="{D42A27DB-BD31-4B8C-83A1-F6EECF244321}">
                <p14:modId xmlns:p14="http://schemas.microsoft.com/office/powerpoint/2010/main" val="245807465"/>
              </p:ext>
            </p:extLst>
          </p:nvPr>
        </p:nvGraphicFramePr>
        <p:xfrm>
          <a:off x="5486217" y="2311093"/>
          <a:ext cx="832519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918">
                  <a:extLst>
                    <a:ext uri="{9D8B030D-6E8A-4147-A177-3AD203B41FA5}">
                      <a16:colId xmlns:a16="http://schemas.microsoft.com/office/drawing/2014/main" val="693671036"/>
                    </a:ext>
                  </a:extLst>
                </a:gridCol>
                <a:gridCol w="972525">
                  <a:extLst>
                    <a:ext uri="{9D8B030D-6E8A-4147-A177-3AD203B41FA5}">
                      <a16:colId xmlns:a16="http://schemas.microsoft.com/office/drawing/2014/main" val="3316903283"/>
                    </a:ext>
                  </a:extLst>
                </a:gridCol>
                <a:gridCol w="6601755">
                  <a:extLst>
                    <a:ext uri="{9D8B030D-6E8A-4147-A177-3AD203B41FA5}">
                      <a16:colId xmlns:a16="http://schemas.microsoft.com/office/drawing/2014/main" val="259343069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Rank</a:t>
                      </a: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ID</a:t>
                      </a: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Name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08677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CWE-787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Out-of-bounds Write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3136583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CWE-79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Neutralization of Input During Web Page Generation (</a:t>
                      </a:r>
                      <a:r>
                        <a:rPr lang="en-US" sz="1100" b="0" i="1">
                          <a:latin typeface="+mn-lt"/>
                        </a:rPr>
                        <a:t>Cross-site Scripting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2535577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3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CWE-89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Neutralization of Special Elements used in an SQL Command (</a:t>
                      </a:r>
                      <a:r>
                        <a:rPr lang="en-US" sz="1100" b="0" i="1">
                          <a:latin typeface="+mn-lt"/>
                        </a:rPr>
                        <a:t>SQL Injection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25962208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4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CWE-416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Use After Free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5529184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5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CWE-78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Neutralization of Special Elements used in an OS Command (</a:t>
                      </a:r>
                      <a:r>
                        <a:rPr lang="en-US" sz="1100" b="0" i="1">
                          <a:latin typeface="+mn-lt"/>
                        </a:rPr>
                        <a:t>OS Command Injection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9600886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6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CWE-20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Input Validation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42731183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7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CWE-125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Out-of-bounds Read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97826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8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Limitation of a Pathname to a Restricted Directory (</a:t>
                      </a:r>
                      <a:r>
                        <a:rPr lang="en-US" sz="1100" b="0" i="1">
                          <a:latin typeface="+mn-lt"/>
                        </a:rPr>
                        <a:t>Path Traversal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201450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9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CWE-352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Cross-Site Request Forgery (</a:t>
                      </a:r>
                      <a:r>
                        <a:rPr lang="en-US" sz="1100" b="0" i="1">
                          <a:latin typeface="+mn-lt"/>
                        </a:rPr>
                        <a:t>CSRF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7900822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10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CWE-434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Unrestricted Upload of File with Dangerous Type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7640405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11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CWE-862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Missing Authorization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705425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12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CWE-476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NULL Pointer Dereference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7720544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13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CWE-287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Authentication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8068560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14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CWE-190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+mn-lt"/>
                        </a:rPr>
                        <a:t>Integer Overflow or Wraparound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0974066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15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CWE-502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Deserialization of Untrusted Data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5282575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16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CWE-77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Neutralization of Special Elements used in a Command (</a:t>
                      </a:r>
                      <a:r>
                        <a:rPr lang="en-US" sz="1100" b="0" i="1">
                          <a:latin typeface="+mn-lt"/>
                        </a:rPr>
                        <a:t>Command Injection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1116288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17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CWE-119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Restriction of Operations within the Bounds of a Memory Buffer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8392095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18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CWE-798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Use of Hard-coded Credentials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6603962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19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CWE-918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Server-Side Request Forgery (</a:t>
                      </a:r>
                      <a:r>
                        <a:rPr lang="en-US" sz="1100" b="0" i="1">
                          <a:latin typeface="+mn-lt"/>
                        </a:rPr>
                        <a:t>SSRF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2926116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20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CWE-306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Missing Authentication for Critical Function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354574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21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CWE-362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Concurrent Execution using Shared Resource with Improper Synchronization (</a:t>
                      </a:r>
                      <a:r>
                        <a:rPr lang="en-US" sz="1100" b="0" i="1">
                          <a:latin typeface="+mn-lt"/>
                        </a:rPr>
                        <a:t>Race Condition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439240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22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CWE-269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Privilege Management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27559728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23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CWE-94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Improper Control of Generation of Code (</a:t>
                      </a:r>
                      <a:r>
                        <a:rPr lang="en-US" sz="1100" b="0" i="1">
                          <a:latin typeface="+mn-lt"/>
                        </a:rPr>
                        <a:t>Code Injection</a:t>
                      </a:r>
                      <a:r>
                        <a:rPr lang="en-US" sz="1100" b="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26933095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24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CWE-863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>
                          <a:latin typeface="+mn-lt"/>
                        </a:rPr>
                        <a:t>Incorrect Authorization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24117891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25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CWE-276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+mn-lt"/>
                        </a:rPr>
                        <a:t>Incorrect Default Permissions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41812108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B65E0-56CE-3C9C-6A7C-97AFE447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54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BB9A14-CE6B-EE59-F2E8-F1F2E8CDD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CWE 2023 – Top 25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8B540F-7F89-4956-227E-87BE0C3E510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8676CA5-8BB0-4B6A-9FCD-9FF66479CDD9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AD972-97D0-B985-B66E-A97AE1B3FD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graphicFrame>
        <p:nvGraphicFramePr>
          <p:cNvPr id="9" name="Table 7">
            <a:extLst>
              <a:ext uri="{FF2B5EF4-FFF2-40B4-BE49-F238E27FC236}">
                <a16:creationId xmlns:a16="http://schemas.microsoft.com/office/drawing/2014/main" id="{D6C318A2-DA98-1F85-AAB3-FC899B04A45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9104492"/>
              </p:ext>
            </p:extLst>
          </p:nvPr>
        </p:nvGraphicFramePr>
        <p:xfrm>
          <a:off x="5486217" y="2311093"/>
          <a:ext cx="8325198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0918">
                  <a:extLst>
                    <a:ext uri="{9D8B030D-6E8A-4147-A177-3AD203B41FA5}">
                      <a16:colId xmlns:a16="http://schemas.microsoft.com/office/drawing/2014/main" val="693671036"/>
                    </a:ext>
                  </a:extLst>
                </a:gridCol>
                <a:gridCol w="972525">
                  <a:extLst>
                    <a:ext uri="{9D8B030D-6E8A-4147-A177-3AD203B41FA5}">
                      <a16:colId xmlns:a16="http://schemas.microsoft.com/office/drawing/2014/main" val="3316903283"/>
                    </a:ext>
                  </a:extLst>
                </a:gridCol>
                <a:gridCol w="6601755">
                  <a:extLst>
                    <a:ext uri="{9D8B030D-6E8A-4147-A177-3AD203B41FA5}">
                      <a16:colId xmlns:a16="http://schemas.microsoft.com/office/drawing/2014/main" val="259343069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Rank</a:t>
                      </a: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ID</a:t>
                      </a: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Name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08677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CWE-787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+mn-lt"/>
                        </a:rPr>
                        <a:t>Out-of-bounds Write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3136583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CWE-79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Neutralization of Input During Web Page Generation (</a:t>
                      </a:r>
                      <a:r>
                        <a:rPr lang="en-US" sz="1100" i="1">
                          <a:latin typeface="+mn-lt"/>
                        </a:rPr>
                        <a:t>Cross-site Scripting</a:t>
                      </a:r>
                      <a:r>
                        <a:rPr lang="en-US" sz="110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2535577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3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CWE-89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Neutralization of Special Elements used in an SQL Command (</a:t>
                      </a:r>
                      <a:r>
                        <a:rPr lang="en-US" sz="1100" i="1">
                          <a:latin typeface="+mn-lt"/>
                        </a:rPr>
                        <a:t>SQL Injection</a:t>
                      </a:r>
                      <a:r>
                        <a:rPr lang="en-US" sz="110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25962208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4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CWE-416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+mn-lt"/>
                        </a:rPr>
                        <a:t>Use After Free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55291843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5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CWE-78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Neutralization of Special Elements used in an OS Command (</a:t>
                      </a:r>
                      <a:r>
                        <a:rPr lang="en-US" sz="1100" i="1">
                          <a:latin typeface="+mn-lt"/>
                        </a:rPr>
                        <a:t>OS Command Injection</a:t>
                      </a:r>
                      <a:r>
                        <a:rPr lang="en-US" sz="110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9600886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6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CWE-20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Input Validation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427311839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7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CWE-125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+mn-lt"/>
                        </a:rPr>
                        <a:t>Out-of-bounds Read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978268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8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Limitation of a Pathname to a Restricted Directory (</a:t>
                      </a:r>
                      <a:r>
                        <a:rPr lang="en-US" sz="1100" i="1">
                          <a:latin typeface="+mn-lt"/>
                        </a:rPr>
                        <a:t>Path Traversal</a:t>
                      </a:r>
                      <a:r>
                        <a:rPr lang="en-US" sz="110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20145077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9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CWE-352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Cross-Site Request Forgery (</a:t>
                      </a:r>
                      <a:r>
                        <a:rPr lang="en-US" sz="1100" i="1">
                          <a:latin typeface="+mn-lt"/>
                        </a:rPr>
                        <a:t>CSRF</a:t>
                      </a:r>
                      <a:r>
                        <a:rPr lang="en-US" sz="110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7900822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10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CWE-434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Unrestricted Upload of File with Dangerous Type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7640405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11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CWE-862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Missing Authorization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705425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12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CWE-476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+mn-lt"/>
                        </a:rPr>
                        <a:t>NULL Pointer Dereference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7720544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13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CWE-287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Authentication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8068560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14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CWE-190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+mn-lt"/>
                        </a:rPr>
                        <a:t>Integer Overflow or Wraparound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0974066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15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CWE-502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Deserialization of Untrusted Data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52825754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16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CWE-77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Neutralization of Special Elements used in a Command (</a:t>
                      </a:r>
                      <a:r>
                        <a:rPr lang="en-US" sz="1100" i="1">
                          <a:latin typeface="+mn-lt"/>
                        </a:rPr>
                        <a:t>Command Injection</a:t>
                      </a:r>
                      <a:r>
                        <a:rPr lang="en-US" sz="110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11162889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17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CWE-119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+mn-lt"/>
                        </a:rPr>
                        <a:t>Improper Restriction of Operations within the Bounds of a Memory Buffer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83920953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18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CWE-798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Use of Hard-coded Credentials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6603962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19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CWE-918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Server-Side Request Forgery (</a:t>
                      </a:r>
                      <a:r>
                        <a:rPr lang="en-US" sz="1100" i="1">
                          <a:latin typeface="+mn-lt"/>
                        </a:rPr>
                        <a:t>SSRF</a:t>
                      </a:r>
                      <a:r>
                        <a:rPr lang="en-US" sz="110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12926116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20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CWE-306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Missing Authentication for Critical Function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35457426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21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CWE-362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 b="1">
                          <a:latin typeface="+mn-lt"/>
                        </a:rPr>
                        <a:t>Concurrent Execution using Shared Resource with Improper Synchronization (</a:t>
                      </a:r>
                      <a:r>
                        <a:rPr lang="en-US" sz="1100" b="1" i="1">
                          <a:latin typeface="+mn-lt"/>
                        </a:rPr>
                        <a:t>Race Condition</a:t>
                      </a:r>
                      <a:r>
                        <a:rPr lang="en-US" sz="1100" b="1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34392408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22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CWE-269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Privilege Management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275597287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23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CWE-94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Improper Control of Generation of Code (</a:t>
                      </a:r>
                      <a:r>
                        <a:rPr lang="en-US" sz="1100" i="1">
                          <a:latin typeface="+mn-lt"/>
                        </a:rPr>
                        <a:t>Code Injection</a:t>
                      </a:r>
                      <a:r>
                        <a:rPr lang="en-US" sz="1100">
                          <a:latin typeface="+mn-lt"/>
                        </a:rPr>
                        <a:t>)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26933095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24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CWE-863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Incorrect Authorization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24117891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effectLst/>
                          <a:latin typeface="+mn-lt"/>
                        </a:rPr>
                        <a:t>25</a:t>
                      </a:r>
                      <a:endParaRPr lang="en-US" sz="1100">
                        <a:effectLst/>
                        <a:latin typeface="+mn-lt"/>
                      </a:endParaRPr>
                    </a:p>
                  </a:txBody>
                  <a:tcPr marR="182880" marT="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CWE-276</a:t>
                      </a:r>
                    </a:p>
                  </a:txBody>
                  <a:tcPr marR="182880" marT="0" marB="0" anchor="b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latin typeface="+mn-lt"/>
                        </a:rPr>
                        <a:t>Incorrect Default Permissions</a:t>
                      </a:r>
                    </a:p>
                  </a:txBody>
                  <a:tcPr marR="182880" marT="0" marB="0" anchor="ctr"/>
                </a:tc>
                <a:extLst>
                  <a:ext uri="{0D108BD9-81ED-4DB2-BD59-A6C34878D82A}">
                    <a16:rowId xmlns:a16="http://schemas.microsoft.com/office/drawing/2014/main" val="418121084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0AAFE508-54CE-373C-FDC2-3D873EF90569}"/>
              </a:ext>
            </a:extLst>
          </p:cNvPr>
          <p:cNvSpPr txBox="1"/>
          <p:nvPr/>
        </p:nvSpPr>
        <p:spPr>
          <a:xfrm>
            <a:off x="3315179" y="3601783"/>
            <a:ext cx="13767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/>
              <a:t>Mitigated by Rust</a:t>
            </a:r>
          </a:p>
          <a:p>
            <a:pPr algn="ctr"/>
            <a:r>
              <a:rPr lang="en-US" sz="2000" b="1"/>
              <a:t>language</a:t>
            </a:r>
          </a:p>
        </p:txBody>
      </p:sp>
      <p:pic>
        <p:nvPicPr>
          <p:cNvPr id="11" name="Picture 10" descr="Rust Logo">
            <a:extLst>
              <a:ext uri="{FF2B5EF4-FFF2-40B4-BE49-F238E27FC236}">
                <a16:creationId xmlns:a16="http://schemas.microsoft.com/office/drawing/2014/main" id="{4AD42AC4-27B1-4CC7-0402-7DB2BBD3D8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8404" y="3410768"/>
            <a:ext cx="1376775" cy="1376775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B5D87FF-8DE6-9890-3F05-18AE6DBA2030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691954" y="2603967"/>
            <a:ext cx="981913" cy="1495189"/>
          </a:xfrm>
          <a:prstGeom prst="straightConnector1">
            <a:avLst/>
          </a:prstGeom>
          <a:ln w="127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5B75B6B-F866-9BBE-3175-357C1C11C521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691954" y="3137779"/>
            <a:ext cx="981913" cy="961377"/>
          </a:xfrm>
          <a:prstGeom prst="straightConnector1">
            <a:avLst/>
          </a:prstGeom>
          <a:ln w="127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DDB17C5-7614-9560-3CD1-34AD248AA2AC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4691954" y="3671879"/>
            <a:ext cx="981913" cy="427277"/>
          </a:xfrm>
          <a:prstGeom prst="straightConnector1">
            <a:avLst/>
          </a:prstGeom>
          <a:ln w="127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9237428-DE8C-50B5-47D1-7D3177A2E68C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691954" y="4099156"/>
            <a:ext cx="981913" cy="528782"/>
          </a:xfrm>
          <a:prstGeom prst="straightConnector1">
            <a:avLst/>
          </a:prstGeom>
          <a:ln w="127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6B57494-E29B-2D2F-3EA2-34BD41E2F588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691954" y="4099156"/>
            <a:ext cx="981912" cy="1411829"/>
          </a:xfrm>
          <a:prstGeom prst="straightConnector1">
            <a:avLst/>
          </a:prstGeom>
          <a:ln w="127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AD75E14-F0B6-7F23-5423-AA2A2FA4366E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691954" y="4099156"/>
            <a:ext cx="981913" cy="867724"/>
          </a:xfrm>
          <a:prstGeom prst="straightConnector1">
            <a:avLst/>
          </a:prstGeom>
          <a:ln w="127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AB6B417-0CEE-A2E2-64FD-1F3CB25689C5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4691954" y="4099156"/>
            <a:ext cx="981911" cy="2147718"/>
          </a:xfrm>
          <a:prstGeom prst="straightConnector1">
            <a:avLst/>
          </a:prstGeom>
          <a:ln w="12700">
            <a:solidFill>
              <a:srgbClr val="C00000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7431E0-E108-2C21-E82F-7EF6D856D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39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AC8B49-D53E-8DB6-813F-4D5B0A982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Type System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78438F-FF80-C5C5-393B-CF89164F1D6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2057399"/>
            <a:ext cx="3000166" cy="5486401"/>
          </a:xfrm>
        </p:spPr>
        <p:txBody>
          <a:bodyPr/>
          <a:lstStyle/>
          <a:p>
            <a:r>
              <a:rPr lang="en-US" dirty="0"/>
              <a:t>Strong</a:t>
            </a:r>
          </a:p>
          <a:p>
            <a:r>
              <a:rPr lang="en-US" dirty="0"/>
              <a:t>Static</a:t>
            </a:r>
          </a:p>
          <a:p>
            <a:r>
              <a:rPr lang="en-US" dirty="0"/>
              <a:t>Powerful</a:t>
            </a:r>
            <a:br>
              <a:rPr lang="en-US" dirty="0"/>
            </a:br>
            <a:r>
              <a:rPr lang="en-US" dirty="0"/>
              <a:t>Inference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FC64F-6C10-52B2-2F5E-8A82D19AB28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8512AB4-B009-47B9-8274-318902CBEE18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A5C13-9301-B003-8E06-A54672ACFC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Rust + Lamellar Intro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5247760-35A5-C968-FF24-E66447770D19}"/>
              </a:ext>
            </a:extLst>
          </p:cNvPr>
          <p:cNvSpPr txBox="1">
            <a:spLocks/>
          </p:cNvSpPr>
          <p:nvPr/>
        </p:nvSpPr>
        <p:spPr>
          <a:xfrm>
            <a:off x="12474713" y="6764857"/>
            <a:ext cx="473096" cy="381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972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459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9456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4320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9184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4048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89120" algn="l" defTabSz="1097280" rtl="0" eaLnBrk="1" latinLnBrk="0" hangingPunct="1"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61E43D-1FA8-A74E-B23E-5CF276A0926F}" type="slidenum">
              <a:rPr lang="en-US" sz="1800" smtClean="0"/>
              <a:pPr/>
              <a:t>6</a:t>
            </a:fld>
            <a:endParaRPr lang="en-US" sz="180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398422D-7C94-929B-BBE6-261059CBB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84365"/>
              </p:ext>
            </p:extLst>
          </p:nvPr>
        </p:nvGraphicFramePr>
        <p:xfrm>
          <a:off x="7101196" y="1604667"/>
          <a:ext cx="7459728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146">
                  <a:extLst>
                    <a:ext uri="{9D8B030D-6E8A-4147-A177-3AD203B41FA5}">
                      <a16:colId xmlns:a16="http://schemas.microsoft.com/office/drawing/2014/main" val="3410883891"/>
                    </a:ext>
                  </a:extLst>
                </a:gridCol>
                <a:gridCol w="3150202">
                  <a:extLst>
                    <a:ext uri="{9D8B030D-6E8A-4147-A177-3AD203B41FA5}">
                      <a16:colId xmlns:a16="http://schemas.microsoft.com/office/drawing/2014/main" val="3890629651"/>
                    </a:ext>
                  </a:extLst>
                </a:gridCol>
                <a:gridCol w="1685380">
                  <a:extLst>
                    <a:ext uri="{9D8B030D-6E8A-4147-A177-3AD203B41FA5}">
                      <a16:colId xmlns:a16="http://schemas.microsoft.com/office/drawing/2014/main" val="2117650027"/>
                    </a:ext>
                  </a:extLst>
                </a:gridCol>
              </a:tblGrid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230546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 dirty="0"/>
                        <a:t>i8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char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str(</a:t>
                      </a:r>
                      <a:r>
                        <a:rPr lang="en-US" sz="2000" err="1"/>
                        <a:t>len</a:t>
                      </a:r>
                      <a:r>
                        <a:rPr lang="en-US" sz="2000"/>
                        <a:t> = 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968552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i16,i32,i64,isize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short, int, long, size_t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66333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/>
                        <a:t>u8,u16,u32,</a:t>
                      </a:r>
                      <a:br>
                        <a:rPr lang="en-US" sz="2000"/>
                      </a:br>
                      <a:r>
                        <a:rPr lang="en-US" sz="2000"/>
                        <a:t>u64,usize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unsigned </a:t>
                      </a:r>
                    </a:p>
                    <a:p>
                      <a:r>
                        <a:rPr lang="en-US" sz="2000"/>
                        <a:t>char, short, int,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16652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f32, f64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float, 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float, float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33793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686975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≈ struct + traits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132633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 err="1"/>
                        <a:t>enum</a:t>
                      </a:r>
                      <a:r>
                        <a:rPr lang="en-US" sz="2000"/>
                        <a:t> (integer-like)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err="1"/>
                        <a:t>enum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04933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 err="1"/>
                        <a:t>enum</a:t>
                      </a:r>
                      <a:r>
                        <a:rPr lang="en-US" sz="2000"/>
                        <a:t> (variant-like)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≈ enum+struct+ union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09855273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[</a:t>
                      </a:r>
                      <a:r>
                        <a:rPr lang="en-US" sz="2000" err="1"/>
                        <a:t>T;size</a:t>
                      </a:r>
                      <a:r>
                        <a:rPr lang="en-US" sz="200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array ( T foo[size];)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970149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 err="1"/>
                        <a:t>Vec</a:t>
                      </a:r>
                      <a:r>
                        <a:rPr lang="en-US" sz="2000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std::vector&lt;T&gt;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1189777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709399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&amp;str(String slice)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const char*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str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6327450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*const T, *mut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const T*, 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153911"/>
                  </a:ext>
                </a:extLst>
              </a:tr>
              <a:tr h="206872">
                <a:tc>
                  <a:txBody>
                    <a:bodyPr/>
                    <a:lstStyle/>
                    <a:p>
                      <a:r>
                        <a:rPr lang="en-US" sz="2000"/>
                        <a:t>Box/RC/ARC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std::auto/shared/etc.</a:t>
                      </a:r>
                      <a:endParaRPr lang="en-US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602859"/>
                  </a:ext>
                </a:extLst>
              </a:tr>
            </a:tbl>
          </a:graphicData>
        </a:graphic>
      </p:graphicFrame>
      <p:sp>
        <p:nvSpPr>
          <p:cNvPr id="12" name="Left Brace 11">
            <a:extLst>
              <a:ext uri="{FF2B5EF4-FFF2-40B4-BE49-F238E27FC236}">
                <a16:creationId xmlns:a16="http://schemas.microsoft.com/office/drawing/2014/main" id="{CD693115-ADF5-E98F-D602-3FD487AAE8DD}"/>
              </a:ext>
            </a:extLst>
          </p:cNvPr>
          <p:cNvSpPr/>
          <p:nvPr/>
        </p:nvSpPr>
        <p:spPr>
          <a:xfrm>
            <a:off x="6592018" y="2081327"/>
            <a:ext cx="341138" cy="169660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3FB96B09-5D4B-4C24-AACD-703AA04DE692}"/>
              </a:ext>
            </a:extLst>
          </p:cNvPr>
          <p:cNvSpPr/>
          <p:nvPr/>
        </p:nvSpPr>
        <p:spPr>
          <a:xfrm>
            <a:off x="6604364" y="3985766"/>
            <a:ext cx="341138" cy="1307712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969D9E0-BC4D-A0F9-56EB-A41CF9576722}"/>
              </a:ext>
            </a:extLst>
          </p:cNvPr>
          <p:cNvSpPr/>
          <p:nvPr/>
        </p:nvSpPr>
        <p:spPr>
          <a:xfrm>
            <a:off x="6617650" y="5537301"/>
            <a:ext cx="341138" cy="142147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D19AA102-1B87-E7E9-7845-E1517C65C1A6}"/>
              </a:ext>
            </a:extLst>
          </p:cNvPr>
          <p:cNvSpPr/>
          <p:nvPr/>
        </p:nvSpPr>
        <p:spPr>
          <a:xfrm>
            <a:off x="6617650" y="7113126"/>
            <a:ext cx="341138" cy="574580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BF832-D0A4-727E-33AB-F8453E3A775C}"/>
              </a:ext>
            </a:extLst>
          </p:cNvPr>
          <p:cNvSpPr txBox="1"/>
          <p:nvPr/>
        </p:nvSpPr>
        <p:spPr>
          <a:xfrm>
            <a:off x="3477798" y="7165535"/>
            <a:ext cx="31265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7965" indent="-227965" algn="r"/>
            <a:r>
              <a:rPr lang="en-US" sz="2000" dirty="0">
                <a:solidFill>
                  <a:schemeClr val="accent2"/>
                </a:solidFill>
              </a:rPr>
              <a:t>Pointers (Smart  &amp; Raw)</a:t>
            </a:r>
            <a:endParaRPr lang="en-US" sz="2000" dirty="0">
              <a:solidFill>
                <a:schemeClr val="accent2"/>
              </a:solidFill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01940E-97AD-F1FA-D0BE-E2A237227878}"/>
              </a:ext>
            </a:extLst>
          </p:cNvPr>
          <p:cNvSpPr txBox="1"/>
          <p:nvPr/>
        </p:nvSpPr>
        <p:spPr>
          <a:xfrm>
            <a:off x="5493045" y="2697349"/>
            <a:ext cx="123186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2000" dirty="0">
                <a:solidFill>
                  <a:srgbClr val="0D0D0D"/>
                </a:solidFill>
              </a:rPr>
              <a:t>Scalars </a:t>
            </a: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661D8D-5E67-E303-B9F4-1E36470D2B4C}"/>
              </a:ext>
            </a:extLst>
          </p:cNvPr>
          <p:cNvSpPr txBox="1"/>
          <p:nvPr/>
        </p:nvSpPr>
        <p:spPr>
          <a:xfrm>
            <a:off x="5042279" y="6056798"/>
            <a:ext cx="156208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en-US" sz="2000" dirty="0">
                <a:solidFill>
                  <a:srgbClr val="0D0D0D"/>
                </a:solidFill>
              </a:rPr>
              <a:t>Compound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F3A7A8-FD16-B90E-AE76-05E222AAB02D}"/>
              </a:ext>
            </a:extLst>
          </p:cNvPr>
          <p:cNvSpPr txBox="1"/>
          <p:nvPr/>
        </p:nvSpPr>
        <p:spPr>
          <a:xfrm>
            <a:off x="5194727" y="4285679"/>
            <a:ext cx="14186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2000" dirty="0">
                <a:solidFill>
                  <a:srgbClr val="0D0D0D"/>
                </a:solidFill>
              </a:rPr>
              <a:t>User-Defined</a:t>
            </a:r>
            <a:endParaRPr lang="en-US" sz="2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823EAF-36A0-FF5D-2067-477786516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65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1515C2-3385-0E2A-860B-32BF194B0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Ownership and Borrowing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4834F5-0741-0209-7770-6F640A5930D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914401" y="1932709"/>
            <a:ext cx="5791200" cy="5486401"/>
          </a:xfrm>
        </p:spPr>
        <p:txBody>
          <a:bodyPr/>
          <a:lstStyle/>
          <a:p>
            <a:r>
              <a:rPr lang="en-US" b="1" dirty="0"/>
              <a:t>Enforced</a:t>
            </a:r>
            <a:r>
              <a:rPr lang="en-US" dirty="0"/>
              <a:t> ownership model:</a:t>
            </a:r>
          </a:p>
          <a:p>
            <a:pPr lvl="1"/>
            <a:r>
              <a:rPr lang="en-US" dirty="0"/>
              <a:t>One Owner (usually)</a:t>
            </a:r>
          </a:p>
          <a:p>
            <a:pPr lvl="1"/>
            <a:r>
              <a:rPr lang="en-US" dirty="0"/>
              <a:t>One mutable borrow OR</a:t>
            </a:r>
            <a:br>
              <a:rPr lang="en-US" dirty="0"/>
            </a:br>
            <a:r>
              <a:rPr lang="en-US" dirty="0"/>
              <a:t>Many immutable borrows</a:t>
            </a:r>
          </a:p>
          <a:p>
            <a:r>
              <a:rPr lang="en-US" dirty="0"/>
              <a:t>When owner goes out of scope (dropped), resources are freed</a:t>
            </a:r>
          </a:p>
          <a:p>
            <a:r>
              <a:rPr lang="en-US" dirty="0"/>
              <a:t>Assignment transfers ownership </a:t>
            </a:r>
          </a:p>
          <a:p>
            <a:r>
              <a:rPr lang="en-US" dirty="0"/>
              <a:t>Borrowing through references (&amp;)</a:t>
            </a:r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4F4E5-7641-8511-C8A3-033AC6FB2D1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DB0EDE4-07F5-45B3-8492-CA18FEBCA0D8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D8218-927C-9956-FE49-C4CDC88FC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B8ED38B-763F-206A-97DC-3608D4D267A7}"/>
              </a:ext>
            </a:extLst>
          </p:cNvPr>
          <p:cNvSpPr/>
          <p:nvPr/>
        </p:nvSpPr>
        <p:spPr>
          <a:xfrm>
            <a:off x="1893828" y="5923290"/>
            <a:ext cx="3966518" cy="13463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We will see some common errors </a:t>
            </a:r>
            <a:r>
              <a:rPr lang="en-US" err="1"/>
              <a:t>w.r.t.</a:t>
            </a:r>
            <a:r>
              <a:rPr lang="en-US"/>
              <a:t> ownership and borrowing shortly!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FB264D1-FAD1-7426-8016-059E9910CD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70718"/>
              </p:ext>
            </p:extLst>
          </p:nvPr>
        </p:nvGraphicFramePr>
        <p:xfrm>
          <a:off x="6705601" y="1604667"/>
          <a:ext cx="7741918" cy="5522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01">
                  <a:extLst>
                    <a:ext uri="{9D8B030D-6E8A-4147-A177-3AD203B41FA5}">
                      <a16:colId xmlns:a16="http://schemas.microsoft.com/office/drawing/2014/main" val="3586125687"/>
                    </a:ext>
                  </a:extLst>
                </a:gridCol>
                <a:gridCol w="1667194">
                  <a:extLst>
                    <a:ext uri="{9D8B030D-6E8A-4147-A177-3AD203B41FA5}">
                      <a16:colId xmlns:a16="http://schemas.microsoft.com/office/drawing/2014/main" val="3410883891"/>
                    </a:ext>
                  </a:extLst>
                </a:gridCol>
                <a:gridCol w="2056203">
                  <a:extLst>
                    <a:ext uri="{9D8B030D-6E8A-4147-A177-3AD203B41FA5}">
                      <a16:colId xmlns:a16="http://schemas.microsoft.com/office/drawing/2014/main" val="3890629651"/>
                    </a:ext>
                  </a:extLst>
                </a:gridCol>
                <a:gridCol w="1636320">
                  <a:extLst>
                    <a:ext uri="{9D8B030D-6E8A-4147-A177-3AD203B41FA5}">
                      <a16:colId xmlns:a16="http://schemas.microsoft.com/office/drawing/2014/main" val="2117650027"/>
                    </a:ext>
                  </a:extLst>
                </a:gridCol>
              </a:tblGrid>
              <a:tr h="243436">
                <a:tc>
                  <a:txBody>
                    <a:bodyPr/>
                    <a:lstStyle/>
                    <a:p>
                      <a:r>
                        <a:rPr lang="en-US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C++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230546"/>
                  </a:ext>
                </a:extLst>
              </a:tr>
              <a:tr h="426012">
                <a:tc>
                  <a:txBody>
                    <a:bodyPr/>
                    <a:lstStyle/>
                    <a:p>
                      <a:r>
                        <a:rPr lang="en-US"/>
                        <a:t>Immutable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&amp;T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Const T&amp;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2968552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r>
                        <a:rPr lang="en-US"/>
                        <a:t>Mutable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&amp;mut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T&amp;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56633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Immutable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*const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const 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7516652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r>
                        <a:rPr lang="en-US"/>
                        <a:t>Mutable pointer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*mut 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3379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r>
                        <a:rPr lang="en-US"/>
                        <a:t>Unique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Box&lt;T&gt;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std::</a:t>
                      </a:r>
                      <a:r>
                        <a:rPr lang="en-US" err="1"/>
                        <a:t>unique_ptr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561143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r>
                        <a:rPr lang="en-US"/>
                        <a:t>Shared ownership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Rc</a:t>
                      </a:r>
                      <a:r>
                        <a:rPr lang="en-US"/>
                        <a:t>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std::</a:t>
                      </a:r>
                      <a:r>
                        <a:rPr lang="en-US" err="1"/>
                        <a:t>shared_ptr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034299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r>
                        <a:rPr lang="en-US"/>
                        <a:t>Weak 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Weak&lt;T&gt;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std::</a:t>
                      </a:r>
                      <a:r>
                        <a:rPr lang="en-US" err="1"/>
                        <a:t>weak_ptr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Weakref.ref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8686975"/>
                  </a:ext>
                </a:extLst>
              </a:tr>
              <a:tr h="243436">
                <a:tc>
                  <a:txBody>
                    <a:bodyPr/>
                    <a:lstStyle/>
                    <a:p>
                      <a:r>
                        <a:rPr lang="en-US"/>
                        <a:t>Thread safe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Arc&lt;T&gt;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std::</a:t>
                      </a:r>
                      <a:r>
                        <a:rPr lang="en-US" err="1"/>
                        <a:t>shared_ptr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132633"/>
                  </a:ext>
                </a:extLst>
              </a:tr>
              <a:tr h="430463">
                <a:tc>
                  <a:txBody>
                    <a:bodyPr/>
                    <a:lstStyle/>
                    <a:p>
                      <a:r>
                        <a:rPr lang="en-US"/>
                        <a:t>Memory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Automatic</a:t>
                      </a:r>
                      <a:r>
                        <a:rPr lang="en-US" baseline="30000"/>
                        <a:t>1,2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Manual, Automatic</a:t>
                      </a:r>
                      <a:r>
                        <a:rPr lang="en-US" baseline="300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3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Automatic</a:t>
                      </a:r>
                      <a:r>
                        <a:rPr lang="en-US" baseline="30000" dirty="0"/>
                        <a:t>3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04933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0221F40-F8BA-456C-7EAC-B886A65A3FBA}"/>
              </a:ext>
            </a:extLst>
          </p:cNvPr>
          <p:cNvSpPr txBox="1">
            <a:spLocks/>
          </p:cNvSpPr>
          <p:nvPr/>
        </p:nvSpPr>
        <p:spPr>
          <a:xfrm>
            <a:off x="8975443" y="7184265"/>
            <a:ext cx="3961624" cy="745075"/>
          </a:xfrm>
          <a:prstGeom prst="rect">
            <a:avLst/>
          </a:prstGeom>
        </p:spPr>
        <p:txBody>
          <a:bodyPr>
            <a:noAutofit/>
          </a:bodyPr>
          <a:lstStyle>
            <a:lvl1pPr marL="228591" indent="-228591" algn="l" defTabSz="914363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77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2954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ü"/>
              <a:defRPr sz="1667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136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318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333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499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81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63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45" indent="-228591" algn="l" defTabSz="914363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aseline="30000" dirty="0"/>
              <a:t>1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Compile time borrow checking.</a:t>
            </a:r>
            <a:r>
              <a:rPr lang="en-US" sz="1800" baseline="30000" dirty="0"/>
              <a:t> </a:t>
            </a:r>
            <a:br>
              <a:rPr lang="en-US" sz="1800" baseline="30000" dirty="0"/>
            </a:br>
            <a:r>
              <a:rPr lang="en-US" sz="1800" baseline="30000" dirty="0"/>
              <a:t>2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Runtime reference counting.</a:t>
            </a:r>
            <a:r>
              <a:rPr lang="en-US" sz="1800" baseline="30000" dirty="0"/>
              <a:t> </a:t>
            </a:r>
            <a:br>
              <a:rPr lang="en-US" sz="1800" baseline="30000" dirty="0"/>
            </a:br>
            <a:r>
              <a:rPr lang="en-US" sz="1800" baseline="30000" dirty="0"/>
              <a:t>3</a:t>
            </a:r>
            <a:r>
              <a:rPr lang="en-US" sz="1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Runtime garbage collection.</a:t>
            </a:r>
            <a:br>
              <a:rPr lang="en-US" sz="1800" dirty="0"/>
            </a:br>
            <a:endParaRPr lang="en-US" sz="1800" dirty="0"/>
          </a:p>
          <a:p>
            <a:pPr marL="0" indent="0">
              <a:buFont typeface="Arial" panose="020B0604020202020204" pitchFamily="34" charset="0"/>
              <a:buNone/>
            </a:pPr>
            <a:endParaRPr lang="en-US" sz="160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92DD-4D76-75F7-A848-0E77582F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1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FD2F6F-7622-207A-731B-226F96D93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it wrong: </a:t>
            </a:r>
            <a:r>
              <a:rPr lang="en-US" dirty="0" err="1"/>
              <a:t>Rustc</a:t>
            </a:r>
            <a:r>
              <a:rPr lang="en-US" dirty="0"/>
              <a:t> and useful errors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BE450-6F5A-B572-5E35-DB182DF814A4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The Rust compiler (</a:t>
            </a:r>
            <a:r>
              <a:rPr lang="en-US" dirty="0" err="1"/>
              <a:t>rustc</a:t>
            </a:r>
            <a:r>
              <a:rPr lang="en-US" dirty="0"/>
              <a:t>) catches many errors at compile time</a:t>
            </a:r>
          </a:p>
          <a:p>
            <a:pPr lvl="1"/>
            <a:r>
              <a:rPr lang="en-US" dirty="0"/>
              <a:t>Seg-faults are rare in end-user Rust applications</a:t>
            </a:r>
          </a:p>
          <a:p>
            <a:r>
              <a:rPr lang="en-US" dirty="0" err="1"/>
              <a:t>Rustc</a:t>
            </a:r>
            <a:r>
              <a:rPr lang="en-US" dirty="0"/>
              <a:t> error messages </a:t>
            </a:r>
            <a:br>
              <a:rPr lang="en-US" dirty="0"/>
            </a:br>
            <a:r>
              <a:rPr lang="en-US" dirty="0"/>
              <a:t>succinctly tell you the issue</a:t>
            </a:r>
          </a:p>
          <a:p>
            <a:pPr lvl="1"/>
            <a:r>
              <a:rPr lang="en-US" dirty="0"/>
              <a:t>Often it also tells you </a:t>
            </a:r>
            <a:br>
              <a:rPr lang="en-US" dirty="0"/>
            </a:br>
            <a:r>
              <a:rPr lang="en-US" dirty="0"/>
              <a:t>a potential fix!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F176C1-25B9-E2B3-CA0E-A0244603319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1A0A41B-D193-4B03-9223-7FDAB8C3271B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02681C-7E77-4DFE-7198-AC668DD07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Rust + Lamellar Intro</a:t>
            </a:r>
          </a:p>
        </p:txBody>
      </p:sp>
      <p:pic>
        <p:nvPicPr>
          <p:cNvPr id="8" name="Content Placeholder 6" descr="A screen shot of a computer code&#10;&#10;Description automatically generated">
            <a:extLst>
              <a:ext uri="{FF2B5EF4-FFF2-40B4-BE49-F238E27FC236}">
                <a16:creationId xmlns:a16="http://schemas.microsoft.com/office/drawing/2014/main" id="{00033749-BDA4-4BB7-942B-4386FEB68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8608" y="-3355588"/>
            <a:ext cx="8229600" cy="2044700"/>
          </a:xfrm>
          <a:prstGeom prst="rect">
            <a:avLst/>
          </a:prstGeom>
        </p:spPr>
      </p:pic>
      <p:pic>
        <p:nvPicPr>
          <p:cNvPr id="9" name="Picture 8" descr="A screen shot of a computer&#10;&#10;Description automatically generated">
            <a:extLst>
              <a:ext uri="{FF2B5EF4-FFF2-40B4-BE49-F238E27FC236}">
                <a16:creationId xmlns:a16="http://schemas.microsoft.com/office/drawing/2014/main" id="{8EC2ED1F-52E8-39E5-5826-8B06F798C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563381"/>
            <a:ext cx="12069332" cy="23047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196860-605E-938F-C549-A08F15632D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923027"/>
            <a:ext cx="7772400" cy="939800"/>
          </a:xfrm>
          <a:prstGeom prst="rect">
            <a:avLst/>
          </a:prstGeom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84135483-12B7-A6D2-42DE-74FB2182E30A}"/>
              </a:ext>
            </a:extLst>
          </p:cNvPr>
          <p:cNvSpPr/>
          <p:nvPr/>
        </p:nvSpPr>
        <p:spPr>
          <a:xfrm>
            <a:off x="851586" y="7265205"/>
            <a:ext cx="2310714" cy="518254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4827D4-515D-E1C2-9B75-F5ECD9305533}"/>
              </a:ext>
            </a:extLst>
          </p:cNvPr>
          <p:cNvSpPr/>
          <p:nvPr/>
        </p:nvSpPr>
        <p:spPr>
          <a:xfrm>
            <a:off x="6062981" y="2987368"/>
            <a:ext cx="8567419" cy="152113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main()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s1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::from(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"Hello"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//s1 is the owner of this String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s2 = s1;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// transfer ownership to s2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"{}"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,s1);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//ERROR! s1 no longer owns the 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A70831-518D-E8B4-EC55-24A2A5DF1587}"/>
              </a:ext>
            </a:extLst>
          </p:cNvPr>
          <p:cNvSpPr txBox="1"/>
          <p:nvPr/>
        </p:nvSpPr>
        <p:spPr>
          <a:xfrm>
            <a:off x="7772400" y="7069761"/>
            <a:ext cx="74104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</a:rPr>
              <a:t>Try it out: </a:t>
            </a:r>
            <a:r>
              <a:rPr lang="en-US" sz="1800" dirty="0">
                <a:hlinkClick r:id="rId5"/>
              </a:rPr>
              <a:t>https://play.rust-lang.org/?version=stable&amp;mode=</a:t>
            </a:r>
            <a:br>
              <a:rPr lang="en-US" sz="1800" dirty="0">
                <a:hlinkClick r:id="rId5"/>
              </a:rPr>
            </a:br>
            <a:r>
              <a:rPr lang="en-US" sz="1800" dirty="0" err="1">
                <a:hlinkClick r:id="rId5"/>
              </a:rPr>
              <a:t>debug&amp;edition</a:t>
            </a:r>
            <a:r>
              <a:rPr lang="en-US" sz="1800" dirty="0">
                <a:hlinkClick r:id="rId5"/>
              </a:rPr>
              <a:t>=2021&amp;gist=a8ddc15faa98db41df433f795c61af0a</a:t>
            </a:r>
            <a:endParaRPr lang="en-US" sz="18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A7E421-E346-BC0C-43DF-CB935A25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94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CDC11-D53F-BFB7-1CDA-E2B7C4B6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Traits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7699F-EE97-0945-B331-1D2EA9D79E9A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Defined shared behavior: A collection of methods (c.f. Java/Go interfaces)</a:t>
            </a:r>
          </a:p>
          <a:p>
            <a:pPr lvl="1"/>
            <a:r>
              <a:rPr lang="en-US" dirty="0"/>
              <a:t>Can contain default method implementations</a:t>
            </a:r>
          </a:p>
          <a:p>
            <a:r>
              <a:rPr lang="en-US" dirty="0"/>
              <a:t>Share functionality between types </a:t>
            </a:r>
          </a:p>
          <a:p>
            <a:pPr lvl="1"/>
            <a:r>
              <a:rPr lang="en-US" dirty="0">
                <a:latin typeface="Consolas" panose="020B0609020204030204" pitchFamily="49" charset="0"/>
              </a:rPr>
              <a:t>String</a:t>
            </a:r>
            <a:r>
              <a:rPr lang="en-US" dirty="0"/>
              <a:t> &amp; </a:t>
            </a:r>
            <a:r>
              <a:rPr lang="en-US" dirty="0">
                <a:latin typeface="Consolas" panose="020B0609020204030204" pitchFamily="49" charset="0"/>
              </a:rPr>
              <a:t>i64</a:t>
            </a:r>
            <a:r>
              <a:rPr lang="en-US" dirty="0"/>
              <a:t> both implement the printing-related “</a:t>
            </a:r>
            <a:r>
              <a:rPr lang="en-US" dirty="0">
                <a:latin typeface="Consolas" panose="020B0609020204030204" pitchFamily="49" charset="0"/>
              </a:rPr>
              <a:t>Display</a:t>
            </a:r>
            <a:r>
              <a:rPr lang="en-US" dirty="0"/>
              <a:t>” trait</a:t>
            </a:r>
          </a:p>
          <a:p>
            <a:r>
              <a:rPr lang="en-US" dirty="0"/>
              <a:t>Allows for generic programming (through type “</a:t>
            </a:r>
            <a:r>
              <a:rPr lang="en-US" dirty="0" err="1">
                <a:latin typeface="Consolas" panose="020B0609020204030204" pitchFamily="49" charset="0"/>
              </a:rPr>
              <a:t>impl</a:t>
            </a:r>
            <a:r>
              <a:rPr lang="en-US" dirty="0"/>
              <a:t>” restrictions on functions)</a:t>
            </a:r>
          </a:p>
          <a:p>
            <a:r>
              <a:rPr lang="en-US" b="1" dirty="0"/>
              <a:t>Composition</a:t>
            </a:r>
            <a:r>
              <a:rPr lang="en-US" dirty="0"/>
              <a:t> Over </a:t>
            </a:r>
            <a:r>
              <a:rPr lang="en-US" b="1" dirty="0"/>
              <a:t>Inheritance</a:t>
            </a:r>
            <a:r>
              <a:rPr lang="en-US" dirty="0"/>
              <a:t> OOP design principle.</a:t>
            </a:r>
          </a:p>
          <a:p>
            <a:pPr lvl="1"/>
            <a:r>
              <a:rPr lang="en-US" dirty="0"/>
              <a:t>Structs can “</a:t>
            </a:r>
            <a:r>
              <a:rPr lang="en-US" dirty="0" err="1">
                <a:latin typeface="Consolas" panose="020B0609020204030204" pitchFamily="49" charset="0"/>
              </a:rPr>
              <a:t>impl</a:t>
            </a:r>
            <a:r>
              <a:rPr lang="en-US" dirty="0"/>
              <a:t>” many traits</a:t>
            </a:r>
          </a:p>
          <a:p>
            <a:pPr lvl="1"/>
            <a:r>
              <a:rPr lang="en-US" dirty="0"/>
              <a:t>Structs can not inherit other structs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00CCE-2DCC-9C09-EA09-319ACB2F03F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A3D69-8E5B-4EF8-B25B-0B41C4A79BAE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4FE04-C470-8CC5-40A1-631DFBF18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C226B1-10C6-9A2F-8624-E207614E2FF9}"/>
              </a:ext>
            </a:extLst>
          </p:cNvPr>
          <p:cNvSpPr/>
          <p:nvPr/>
        </p:nvSpPr>
        <p:spPr>
          <a:xfrm>
            <a:off x="10740607" y="4549468"/>
            <a:ext cx="2261286" cy="95095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trait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foo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bar(&amp;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BC6174-8B63-BD5B-58BC-C511A118978B}"/>
              </a:ext>
            </a:extLst>
          </p:cNvPr>
          <p:cNvSpPr/>
          <p:nvPr/>
        </p:nvSpPr>
        <p:spPr>
          <a:xfrm>
            <a:off x="3733800" y="5746439"/>
            <a:ext cx="4240427" cy="1403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foo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bar(&amp;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(“I’m an i32”);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12E0C8-B2B6-3258-B725-BEA8FDEE234D}"/>
              </a:ext>
            </a:extLst>
          </p:cNvPr>
          <p:cNvSpPr/>
          <p:nvPr/>
        </p:nvSpPr>
        <p:spPr>
          <a:xfrm>
            <a:off x="8343900" y="5755964"/>
            <a:ext cx="4240427" cy="140366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foo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bar(&amp;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(“I’m a String”);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1985F5-3E5D-664D-C946-E507445604FF}"/>
              </a:ext>
            </a:extLst>
          </p:cNvPr>
          <p:cNvSpPr txBox="1"/>
          <p:nvPr/>
        </p:nvSpPr>
        <p:spPr>
          <a:xfrm>
            <a:off x="1112128" y="7084380"/>
            <a:ext cx="13518272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Try it out </a:t>
            </a:r>
            <a:r>
              <a:rPr lang="en-US" dirty="0"/>
              <a:t>-- </a:t>
            </a:r>
            <a:r>
              <a:rPr lang="en-US" dirty="0">
                <a:hlinkClick r:id="rId2"/>
              </a:rPr>
              <a:t>https://play.rust-lang.org/?version=stable&amp;mode=debug&amp;edition=2021&amp;gist=03b7c04c5c40c0ba6614f4dd6414efe1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712494-1C3C-D1DE-5AAD-11B7E5280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34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CDC11-D53F-BFB7-1CDA-E2B7C4B6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Generics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7699F-EE97-0945-B331-1D2EA9D79E9A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Enables code that operates on multiple types without sacrificing type safety</a:t>
            </a:r>
          </a:p>
          <a:p>
            <a:r>
              <a:rPr lang="en-US" dirty="0"/>
              <a:t>Resolved at compile time: aka </a:t>
            </a:r>
            <a:r>
              <a:rPr lang="en-US" dirty="0" err="1"/>
              <a:t>monomorphization</a:t>
            </a:r>
            <a:r>
              <a:rPr lang="en-US" dirty="0"/>
              <a:t> </a:t>
            </a:r>
          </a:p>
          <a:p>
            <a:r>
              <a:rPr lang="en-US" dirty="0"/>
              <a:t>Where are generics used:</a:t>
            </a:r>
          </a:p>
          <a:p>
            <a:pPr lvl="1"/>
            <a:r>
              <a:rPr lang="en-US" dirty="0" err="1"/>
              <a:t>Stucts</a:t>
            </a:r>
            <a:r>
              <a:rPr lang="en-US" dirty="0"/>
              <a:t>/</a:t>
            </a:r>
            <a:r>
              <a:rPr lang="en-US" dirty="0" err="1"/>
              <a:t>enums</a:t>
            </a:r>
            <a:r>
              <a:rPr lang="en-US" dirty="0"/>
              <a:t>:</a:t>
            </a:r>
          </a:p>
          <a:p>
            <a:pPr marL="548640" lvl="1" indent="0">
              <a:buNone/>
            </a:pPr>
            <a:endParaRPr lang="en-US" dirty="0"/>
          </a:p>
          <a:p>
            <a:pPr lvl="1"/>
            <a:r>
              <a:rPr lang="en-US" dirty="0"/>
              <a:t>Functions: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Trait Bounds: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00CCE-2DCC-9C09-EA09-319ACB2F03F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BD73CBB-9AB4-451F-9438-D93D21DE8D40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4FE04-C470-8CC5-40A1-631DFBF180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16088" y="7778997"/>
            <a:ext cx="12007821" cy="438150"/>
          </a:xfrm>
        </p:spPr>
        <p:txBody>
          <a:bodyPr/>
          <a:lstStyle/>
          <a:p>
            <a:r>
              <a:rPr lang="en-US" dirty="0"/>
              <a:t>Rust + Lamellar Intro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C226B1-10C6-9A2F-8624-E207614E2FF9}"/>
              </a:ext>
            </a:extLst>
          </p:cNvPr>
          <p:cNvSpPr/>
          <p:nvPr/>
        </p:nvSpPr>
        <p:spPr>
          <a:xfrm>
            <a:off x="6088407" y="3141281"/>
            <a:ext cx="2072584" cy="10945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en-US" sz="1800" dirty="0">
                <a:solidFill>
                  <a:srgbClr val="F637E3"/>
                </a:solidFill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first: </a:t>
            </a:r>
            <a:r>
              <a:rPr lang="en-US" altLang="en-US" sz="1800" dirty="0">
                <a:solidFill>
                  <a:srgbClr val="F637E3"/>
                </a:solidFill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second: </a:t>
            </a:r>
            <a:r>
              <a:rPr lang="en-US" altLang="en-US" sz="1800" dirty="0">
                <a:solidFill>
                  <a:srgbClr val="F637E3"/>
                </a:solidFill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BC6174-8B63-BD5B-58BC-C511A118978B}"/>
              </a:ext>
            </a:extLst>
          </p:cNvPr>
          <p:cNvSpPr/>
          <p:nvPr/>
        </p:nvSpPr>
        <p:spPr>
          <a:xfrm>
            <a:off x="3764849" y="4271800"/>
            <a:ext cx="6336613" cy="89294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&gt;(first: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second: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first,second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12E0C8-B2B6-3258-B725-BEA8FDEE234D}"/>
              </a:ext>
            </a:extLst>
          </p:cNvPr>
          <p:cNvSpPr/>
          <p:nvPr/>
        </p:nvSpPr>
        <p:spPr>
          <a:xfrm>
            <a:off x="4123035" y="5220401"/>
            <a:ext cx="7179965" cy="7972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print_pair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&gt;(p: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!("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{}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{}”,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p.first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p.second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827FAF-3896-6FD3-CF38-B1CD133F492D}"/>
              </a:ext>
            </a:extLst>
          </p:cNvPr>
          <p:cNvSpPr/>
          <p:nvPr/>
        </p:nvSpPr>
        <p:spPr>
          <a:xfrm>
            <a:off x="929246" y="6073291"/>
            <a:ext cx="8876403" cy="13990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main(){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i32_pair: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i32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str_pair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::&lt;&amp;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"1st"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"2nd"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either_pair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Either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Either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"Ten"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));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47EEE1-EB82-AC7A-48AE-297D70DFC3DD}"/>
              </a:ext>
            </a:extLst>
          </p:cNvPr>
          <p:cNvSpPr/>
          <p:nvPr/>
        </p:nvSpPr>
        <p:spPr>
          <a:xfrm>
            <a:off x="8686800" y="3141280"/>
            <a:ext cx="2341016" cy="10945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 err="1">
                <a:solidFill>
                  <a:srgbClr val="0546FF"/>
                </a:solidFill>
                <a:latin typeface="Consolas" panose="020B0609020204030204" pitchFamily="49" charset="0"/>
              </a:rPr>
              <a:t>e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Either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en-US" sz="1800" dirty="0">
                <a:solidFill>
                  <a:srgbClr val="F637E3"/>
                </a:solidFill>
                <a:latin typeface="Consolas" panose="020B0609020204030204" pitchFamily="49" charset="0"/>
              </a:rPr>
              <a:t>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en-US" sz="1800" dirty="0">
                <a:solidFill>
                  <a:srgbClr val="F637E3"/>
                </a:solidFill>
                <a:latin typeface="Consolas" panose="020B0609020204030204" pitchFamily="49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en-US" sz="1800" dirty="0">
                <a:solidFill>
                  <a:srgbClr val="F637E3"/>
                </a:solidFill>
                <a:latin typeface="Consolas" panose="020B0609020204030204" pitchFamily="49" charset="0"/>
              </a:rPr>
              <a:t>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lang="en-US" altLang="en-US" sz="1800" dirty="0">
                <a:solidFill>
                  <a:srgbClr val="F637E3"/>
                </a:solidFill>
                <a:latin typeface="Consolas" panose="020B0609020204030204" pitchFamily="49" charset="0"/>
              </a:rPr>
              <a:t>Right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en-US" sz="1800" dirty="0">
                <a:solidFill>
                  <a:srgbClr val="F637E3"/>
                </a:solidFill>
                <a:latin typeface="Consolas" panose="020B0609020204030204" pitchFamily="49" charset="0"/>
              </a:rPr>
              <a:t>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35159D1-CBAB-C58F-8618-13447D2395DE}"/>
              </a:ext>
            </a:extLst>
          </p:cNvPr>
          <p:cNvSpPr/>
          <p:nvPr/>
        </p:nvSpPr>
        <p:spPr>
          <a:xfrm>
            <a:off x="9661765" y="6808546"/>
            <a:ext cx="4850503" cy="13990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print_pair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(i32_pair);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print_pair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str_pair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//ERROR! Either does not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 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print_pair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either_pair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}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E13B45-84CF-1102-3B51-9594FDAB9DA6}"/>
              </a:ext>
            </a:extLst>
          </p:cNvPr>
          <p:cNvSpPr txBox="1"/>
          <p:nvPr/>
        </p:nvSpPr>
        <p:spPr>
          <a:xfrm>
            <a:off x="929246" y="7472377"/>
            <a:ext cx="882719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Try it out: </a:t>
            </a:r>
            <a:r>
              <a:rPr lang="en-US" sz="2000" dirty="0">
                <a:hlinkClick r:id="rId2"/>
              </a:rPr>
              <a:t>https://play.rust-lang.org/?version=stable&amp;mode=debug&amp;edition=</a:t>
            </a:r>
            <a:br>
              <a:rPr lang="en-US" sz="2000" dirty="0">
                <a:hlinkClick r:id="rId2"/>
              </a:rPr>
            </a:br>
            <a:r>
              <a:rPr lang="en-US" sz="2000" dirty="0">
                <a:hlinkClick r:id="rId2"/>
              </a:rPr>
              <a:t>2021&amp;gist=4cf313e6dbd90a7852f0a98ec295fe34</a:t>
            </a:r>
            <a:endParaRPr lang="en-US" sz="20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5D02ABC-97CD-9C66-A2E2-63414CE1D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06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CDC11-D53F-BFB7-1CDA-E2B7C4B6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Associated Types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7699F-EE97-0945-B331-1D2EA9D79E9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86212" y="1825023"/>
            <a:ext cx="12801600" cy="5486401"/>
          </a:xfrm>
        </p:spPr>
        <p:txBody>
          <a:bodyPr/>
          <a:lstStyle/>
          <a:p>
            <a:r>
              <a:rPr lang="en-US" dirty="0"/>
              <a:t>Simplifies usage patterns when traits are generic over some internal type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00CCE-2DCC-9C09-EA09-319ACB2F03F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C5AAE92-277F-4211-9782-BE184C974504}" type="datetime1">
              <a:rPr lang="en-US" smtClean="0"/>
              <a:t>6/16/2025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C226B1-10C6-9A2F-8624-E207614E2FF9}"/>
              </a:ext>
            </a:extLst>
          </p:cNvPr>
          <p:cNvSpPr/>
          <p:nvPr/>
        </p:nvSpPr>
        <p:spPr>
          <a:xfrm>
            <a:off x="78776" y="4215459"/>
            <a:ext cx="7121754" cy="167825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make_sound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::from(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"woof!"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'static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make_sound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-&gt; 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'static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"meow!"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BBC6174-8B63-BD5B-58BC-C511A118978B}"/>
              </a:ext>
            </a:extLst>
          </p:cNvPr>
          <p:cNvSpPr/>
          <p:nvPr/>
        </p:nvSpPr>
        <p:spPr>
          <a:xfrm>
            <a:off x="1268555" y="3205556"/>
            <a:ext cx="3719811" cy="84204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trait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&gt;{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make_sound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827FAF-3896-6FD3-CF38-B1CD133F492D}"/>
              </a:ext>
            </a:extLst>
          </p:cNvPr>
          <p:cNvSpPr/>
          <p:nvPr/>
        </p:nvSpPr>
        <p:spPr>
          <a:xfrm>
            <a:off x="148362" y="6341564"/>
            <a:ext cx="7513549" cy="13990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talk&lt;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(animal1: 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animal2: 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"Animal 1 says {}"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,animal1.make_sound());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"Animal 2 says {}"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,animal2.make_sound());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47EEE1-EB82-AC7A-48AE-297D70DFC3DD}"/>
              </a:ext>
            </a:extLst>
          </p:cNvPr>
          <p:cNvSpPr/>
          <p:nvPr/>
        </p:nvSpPr>
        <p:spPr>
          <a:xfrm>
            <a:off x="1524000" y="2448199"/>
            <a:ext cx="1676400" cy="54725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27641-0ED1-7BB3-066A-65DC87999BCD}"/>
              </a:ext>
            </a:extLst>
          </p:cNvPr>
          <p:cNvSpPr/>
          <p:nvPr/>
        </p:nvSpPr>
        <p:spPr>
          <a:xfrm>
            <a:off x="9679546" y="2411339"/>
            <a:ext cx="4493654" cy="127073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trait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make_sound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24C827-E050-3DBA-E966-B4D68C7BC2AA}"/>
              </a:ext>
            </a:extLst>
          </p:cNvPr>
          <p:cNvSpPr/>
          <p:nvPr/>
        </p:nvSpPr>
        <p:spPr>
          <a:xfrm>
            <a:off x="8915399" y="3704829"/>
            <a:ext cx="5636225" cy="255385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Dog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make_sound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-&gt;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::from(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"woof!"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impl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Cat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= 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'static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make_sound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 -&gt;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"meow!"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8F0091C-0E1A-3B3A-F49F-8365CF46AD30}"/>
              </a:ext>
            </a:extLst>
          </p:cNvPr>
          <p:cNvSpPr/>
          <p:nvPr/>
        </p:nvSpPr>
        <p:spPr>
          <a:xfrm>
            <a:off x="7927967" y="6341564"/>
            <a:ext cx="6643124" cy="13990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talk2&lt;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Animal2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&gt;(animal1: 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animal2: &amp;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"Animal 1 says {}"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,animal1.make_sound());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"Animal 2 says {}"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,animal2.make_sound());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CD642C9-9D68-5F73-06F5-5C066B5C3FF0}"/>
              </a:ext>
            </a:extLst>
          </p:cNvPr>
          <p:cNvSpPr/>
          <p:nvPr/>
        </p:nvSpPr>
        <p:spPr>
          <a:xfrm>
            <a:off x="7026267" y="3514617"/>
            <a:ext cx="901700" cy="6894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C01F4F-B844-EEBA-C440-45CE8FDB9254}"/>
              </a:ext>
            </a:extLst>
          </p:cNvPr>
          <p:cNvSpPr/>
          <p:nvPr/>
        </p:nvSpPr>
        <p:spPr>
          <a:xfrm>
            <a:off x="1117600" y="6309814"/>
            <a:ext cx="6292868" cy="383086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EBB963-5996-B6AC-5394-2D2FBF2EFCC2}"/>
              </a:ext>
            </a:extLst>
          </p:cNvPr>
          <p:cNvSpPr/>
          <p:nvPr/>
        </p:nvSpPr>
        <p:spPr>
          <a:xfrm>
            <a:off x="9071803" y="6297628"/>
            <a:ext cx="2942397" cy="383086"/>
          </a:xfrm>
          <a:prstGeom prst="rect">
            <a:avLst/>
          </a:prstGeom>
          <a:noFill/>
          <a:ln w="349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01A8A-046C-F93B-51AB-FDE25F0BDD29}"/>
              </a:ext>
            </a:extLst>
          </p:cNvPr>
          <p:cNvSpPr txBox="1"/>
          <p:nvPr/>
        </p:nvSpPr>
        <p:spPr>
          <a:xfrm>
            <a:off x="126011" y="7823531"/>
            <a:ext cx="12904189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</a:rPr>
              <a:t>Try it out: </a:t>
            </a:r>
            <a:r>
              <a:rPr lang="en-US" sz="1800" dirty="0">
                <a:hlinkClick r:id="rId2"/>
              </a:rPr>
              <a:t>https://play.rust-lang.org/?version=stable&amp;mode=debug&amp;edition=2021&amp;gist=8a5dc6f88a4e3b25c5b2886eb70cfb79</a:t>
            </a:r>
            <a:endParaRPr lang="en-US" sz="18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C9C1BA-4D40-6F4D-8F53-9F9AB79BB0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95B02DD-D509-E6A7-5C02-EE146EE15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82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2CDC11-D53F-BFB7-1CDA-E2B7C4B68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Rust Enum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37699F-EE97-0945-B331-1D2EA9D79E9A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86212" y="1825023"/>
            <a:ext cx="12801600" cy="5486401"/>
          </a:xfrm>
        </p:spPr>
        <p:txBody>
          <a:bodyPr/>
          <a:lstStyle/>
          <a:p>
            <a:r>
              <a:rPr lang="en-US" dirty="0"/>
              <a:t>Enums are Algebraic Data Types if coming from a functional language</a:t>
            </a:r>
          </a:p>
          <a:p>
            <a:r>
              <a:rPr lang="en-US" dirty="0"/>
              <a:t>Each Enum variant can have data to go along with it</a:t>
            </a:r>
          </a:p>
          <a:p>
            <a:r>
              <a:rPr lang="en-US" dirty="0"/>
              <a:t>When processing an instance, each variant needs</a:t>
            </a:r>
            <a:br>
              <a:rPr lang="en-US" dirty="0"/>
            </a:br>
            <a:r>
              <a:rPr lang="en-US" dirty="0"/>
              <a:t>to be handled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00CCE-2DCC-9C09-EA09-319ACB2F03F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C6B3E0D-3EA8-4100-8D45-876694EC94B2}" type="datetime1">
              <a:rPr lang="en-US" smtClean="0"/>
              <a:t>6/16/2025</a:t>
            </a:fld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747EEE1-EB82-AC7A-48AE-297D70DFC3DD}"/>
              </a:ext>
            </a:extLst>
          </p:cNvPr>
          <p:cNvSpPr/>
          <p:nvPr/>
        </p:nvSpPr>
        <p:spPr>
          <a:xfrm>
            <a:off x="10567942" y="2295070"/>
            <a:ext cx="2843259" cy="19096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#[derive(Debug)]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f32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FetchMulAdd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f32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f32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Nop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527641-0ED1-7BB3-066A-65DC87999BCD}"/>
              </a:ext>
            </a:extLst>
          </p:cNvPr>
          <p:cNvSpPr/>
          <p:nvPr/>
        </p:nvSpPr>
        <p:spPr>
          <a:xfrm>
            <a:off x="259707" y="3904567"/>
            <a:ext cx="7794707" cy="227964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main(){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apply_op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old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apply_op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FetchMulAdd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8.0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C53929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)).unwrap();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new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apply_op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"old: {old} new: {new:?}"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apply_op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apply_op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Nop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C226B1-10C6-9A2F-8624-E207614E2FF9}"/>
              </a:ext>
            </a:extLst>
          </p:cNvPr>
          <p:cNvSpPr/>
          <p:nvPr/>
        </p:nvSpPr>
        <p:spPr>
          <a:xfrm>
            <a:off x="8387682" y="4319511"/>
            <a:ext cx="5983011" cy="378150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apply_op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 &amp;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mut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f32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op: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)-&gt;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f32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op{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=&gt;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(*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Store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(v) =&gt; { *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= v;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Ops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FetchMulAdd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(v1,v2) =&gt;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    let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old = *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 *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= (*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*v1)+v1;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Some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(old)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 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    // blanket statement to handle all other options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37474F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_ =&gt; {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"Op {:?}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unimplemented"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,op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24C827-E050-3DBA-E966-B4D68C7BC2AA}"/>
              </a:ext>
            </a:extLst>
          </p:cNvPr>
          <p:cNvSpPr/>
          <p:nvPr/>
        </p:nvSpPr>
        <p:spPr>
          <a:xfrm>
            <a:off x="2387651" y="6427327"/>
            <a:ext cx="3204133" cy="9271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  <a:cs typeface="Courier New" panose="02070309020205020404" pitchFamily="49" charset="0"/>
              </a:rPr>
              <a:t>old: 2 new: Some(18.0)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  <a:cs typeface="Courier New" panose="02070309020205020404" pitchFamily="49" charset="0"/>
              </a:rPr>
              <a:t>Op Print unimplemented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  <a:cs typeface="Courier New" panose="02070309020205020404" pitchFamily="49" charset="0"/>
              </a:rPr>
              <a:t>Op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  <a:cs typeface="Courier New" panose="02070309020205020404" pitchFamily="49" charset="0"/>
              </a:rPr>
              <a:t>Nop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ource Code Pro" panose="020B0509030403020204" pitchFamily="49" charset="0"/>
                <a:cs typeface="Courier New" panose="02070309020205020404" pitchFamily="49" charset="0"/>
              </a:rPr>
              <a:t> unimplemented</a:t>
            </a:r>
            <a:r>
              <a:rPr kumimoji="0" lang="en-US" altLang="en-US" sz="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01A8A-046C-F93B-51AB-FDE25F0BDD29}"/>
              </a:ext>
            </a:extLst>
          </p:cNvPr>
          <p:cNvSpPr txBox="1"/>
          <p:nvPr/>
        </p:nvSpPr>
        <p:spPr>
          <a:xfrm>
            <a:off x="10811359" y="128584"/>
            <a:ext cx="3409548" cy="14773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2"/>
                </a:solidFill>
              </a:rPr>
              <a:t>Try it out: </a:t>
            </a:r>
            <a:r>
              <a:rPr lang="en-US" sz="1800" dirty="0">
                <a:solidFill>
                  <a:schemeClr val="accent2"/>
                </a:solidFill>
                <a:hlinkClick r:id="rId2"/>
              </a:rPr>
              <a:t>https://play.rust-lang.org/?version=stable&amp;mode=debug&amp;edition=2021&amp;gist=09f44c419f0eb3fef8259a3bcd0483a8</a:t>
            </a:r>
            <a:endParaRPr lang="en-US" sz="1800" dirty="0"/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56167775-5066-CBDE-8A98-B792FBB62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solidFill>
            <a:srgbClr val="F9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2EB59-36F2-797A-6F6C-451738F41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83459" y="7791450"/>
            <a:ext cx="12007821" cy="438150"/>
          </a:xfrm>
        </p:spPr>
        <p:txBody>
          <a:bodyPr/>
          <a:lstStyle/>
          <a:p>
            <a:r>
              <a:rPr lang="en-US" dirty="0"/>
              <a:t>Rust + Lamellar Intro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0A412C-6D24-6F7E-0061-961F3D70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51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E66B-0D91-2D4B-9332-433BFC64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Rust Error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609DC-CFDB-484B-8DBE-D7A33940CD9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1799135"/>
            <a:ext cx="12801600" cy="832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Rust enforces error handle (or at least explicit acknowledgement you are ignoring an error)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82E996-CDE8-1E84-A8E6-A54A4459DD2F}"/>
              </a:ext>
            </a:extLst>
          </p:cNvPr>
          <p:cNvSpPr/>
          <p:nvPr/>
        </p:nvSpPr>
        <p:spPr>
          <a:xfrm>
            <a:off x="992909" y="2589235"/>
            <a:ext cx="4648200" cy="10655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std::fs::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main()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f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File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::open(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"hello.txt"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121AE6-C2E5-4384-CE2E-5E0E46DF99B0}"/>
              </a:ext>
            </a:extLst>
          </p:cNvPr>
          <p:cNvSpPr/>
          <p:nvPr/>
        </p:nvSpPr>
        <p:spPr>
          <a:xfrm>
            <a:off x="8686800" y="2308611"/>
            <a:ext cx="2440709" cy="13109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&gt;{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AAAEB9-C8F5-D064-7030-F8292285F059}"/>
              </a:ext>
            </a:extLst>
          </p:cNvPr>
          <p:cNvSpPr/>
          <p:nvPr/>
        </p:nvSpPr>
        <p:spPr>
          <a:xfrm>
            <a:off x="992909" y="5167213"/>
            <a:ext cx="10357262" cy="22837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D81B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f =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match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f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Ok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(file) =&gt; file,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637E3"/>
                </a:solidFill>
                <a:effectLst/>
                <a:latin typeface="Consolas" panose="020B0609020204030204" pitchFamily="49" charset="0"/>
              </a:rPr>
              <a:t>Err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(error) =&gt; {           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// BEST: explicitly handle/recover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panic!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"There was a problem opening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3872"/>
                </a:solidFill>
                <a:effectLst/>
                <a:latin typeface="Consolas" panose="020B0609020204030204" pitchFamily="49" charset="0"/>
              </a:rPr>
              <a:t>// from an error or at lease provide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FA2C04"/>
                </a:solidFill>
                <a:latin typeface="Consolas" panose="020B0609020204030204" pitchFamily="49" charset="0"/>
              </a:rPr>
              <a:t>     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the file: {:?}"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, error)   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// more detailed error message on panic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D81B60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37474F"/>
                </a:solidFill>
                <a:latin typeface="Consolas" panose="020B0609020204030204" pitchFamily="49" charset="0"/>
              </a:rPr>
              <a:t> 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};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}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BB8A70-4CAB-37B5-742C-77487700F6B3}"/>
              </a:ext>
            </a:extLst>
          </p:cNvPr>
          <p:cNvSpPr/>
          <p:nvPr/>
        </p:nvSpPr>
        <p:spPr>
          <a:xfrm>
            <a:off x="992909" y="3873307"/>
            <a:ext cx="11389591" cy="45410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f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f.unwrap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();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//MINIMUM: ignore an error may happen, panics with generic message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B68C49-A84B-C656-2523-5A7A50D9C12F}"/>
              </a:ext>
            </a:extLst>
          </p:cNvPr>
          <p:cNvSpPr/>
          <p:nvPr/>
        </p:nvSpPr>
        <p:spPr>
          <a:xfrm>
            <a:off x="992909" y="4520260"/>
            <a:ext cx="11643591" cy="454102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546FF"/>
                </a:solidFill>
                <a:effectLst/>
                <a:latin typeface="Consolas" panose="020B0609020204030204" pitchFamily="49" charset="0"/>
              </a:rPr>
              <a:t>  let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 f =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f.expect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FA2C04"/>
                </a:solidFill>
                <a:effectLst/>
                <a:latin typeface="Consolas" panose="020B0609020204030204" pitchFamily="49" charset="0"/>
              </a:rPr>
              <a:t>"error better opening file"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37474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D81B60"/>
                </a:solidFill>
                <a:effectLst/>
                <a:latin typeface="Consolas" panose="020B0609020204030204" pitchFamily="49" charset="0"/>
              </a:rPr>
              <a:t>//BETTER: panics with custom error message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09D01-48F7-4DB9-61D8-67FA941EB00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6A0A2A4-A075-435D-B9C3-8A1029D4719C}" type="datetime1">
              <a:rPr lang="en-US" smtClean="0"/>
              <a:t>6/16/2025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6C51E4F-4DC8-1FA8-1563-62ABF820D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29AE0C8-133D-7836-4E76-1B34CE16D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5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E66B-0D91-2D4B-9332-433BFC645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Rust</a:t>
            </a:r>
            <a:r>
              <a:rPr lang="en-US" sz="3200" dirty="0"/>
              <a:t> </a:t>
            </a:r>
            <a:r>
              <a:rPr lang="en-US" dirty="0"/>
              <a:t>Concurrency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609DC-CFDB-484B-8DBE-D7A33940CD9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2057399"/>
            <a:ext cx="12801600" cy="55509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Rust supports multiple  forms of concurrent execution </a:t>
            </a:r>
          </a:p>
          <a:p>
            <a:r>
              <a:rPr lang="en-US" sz="2400" b="1" dirty="0"/>
              <a:t>multi-threading</a:t>
            </a:r>
            <a:r>
              <a:rPr lang="en-US" sz="2400" dirty="0"/>
              <a:t> via explicit </a:t>
            </a:r>
            <a:r>
              <a:rPr lang="en-US" sz="2400" dirty="0" err="1"/>
              <a:t>os</a:t>
            </a:r>
            <a:r>
              <a:rPr lang="en-US" sz="2400" dirty="0"/>
              <a:t> level threads (e.g. </a:t>
            </a:r>
            <a:r>
              <a:rPr lang="en-US" sz="2400" dirty="0" err="1"/>
              <a:t>pthreads</a:t>
            </a:r>
            <a:r>
              <a:rPr lang="en-US" sz="2400" dirty="0"/>
              <a:t>)</a:t>
            </a:r>
          </a:p>
          <a:p>
            <a:r>
              <a:rPr lang="en-US" sz="2400" b="1" dirty="0"/>
              <a:t>Async/await</a:t>
            </a:r>
            <a:r>
              <a:rPr lang="en-US" sz="2400" dirty="0"/>
              <a:t> design pattern for futures is also available in the standard library</a:t>
            </a:r>
          </a:p>
          <a:p>
            <a:pPr lvl="1"/>
            <a:r>
              <a:rPr lang="en-US" sz="2000" dirty="0"/>
              <a:t>Somewhat similar to green threads or user level threads</a:t>
            </a:r>
          </a:p>
          <a:p>
            <a:r>
              <a:rPr lang="en-US" sz="2400" dirty="0"/>
              <a:t>Data sharing via message passing channels (inspired from </a:t>
            </a:r>
            <a:r>
              <a:rPr lang="en-US" sz="2400" dirty="0" err="1"/>
              <a:t>GoLang</a:t>
            </a:r>
            <a:r>
              <a:rPr lang="en-US" sz="2400" dirty="0"/>
              <a:t>)</a:t>
            </a:r>
          </a:p>
          <a:p>
            <a:pPr lvl="1"/>
            <a:r>
              <a:rPr lang="en-US" sz="2000" dirty="0"/>
              <a:t>Ownership of data is transferred from sender to receiver</a:t>
            </a:r>
          </a:p>
          <a:p>
            <a:r>
              <a:rPr lang="en-US" sz="2400" dirty="0"/>
              <a:t>Shared ownership of data achieved through smart pointers </a:t>
            </a:r>
          </a:p>
          <a:p>
            <a:pPr lvl="1"/>
            <a:r>
              <a:rPr lang="en-US" sz="2000" dirty="0"/>
              <a:t>Arc&lt;T&gt; - (atomic reference counting pointers) – only deallocates when reference is 0</a:t>
            </a:r>
          </a:p>
          <a:p>
            <a:r>
              <a:rPr lang="en-US" sz="2400" dirty="0"/>
              <a:t>Mutex and Locks control mutable access to data</a:t>
            </a:r>
          </a:p>
          <a:p>
            <a:pPr marL="0" indent="0">
              <a:buNone/>
            </a:pPr>
            <a:r>
              <a:rPr lang="en-US" sz="2400" b="1" dirty="0"/>
              <a:t>Sync </a:t>
            </a:r>
            <a:r>
              <a:rPr lang="en-US" sz="2400" dirty="0"/>
              <a:t>and </a:t>
            </a:r>
            <a:r>
              <a:rPr lang="en-US" sz="2400" b="1" dirty="0"/>
              <a:t>Send </a:t>
            </a:r>
            <a:r>
              <a:rPr lang="en-US" sz="2400" dirty="0"/>
              <a:t>traits – Extensible Concurrency</a:t>
            </a:r>
          </a:p>
          <a:p>
            <a:r>
              <a:rPr lang="en-US" sz="2400" dirty="0"/>
              <a:t>Send – allows transfer of ownership between threads</a:t>
            </a:r>
          </a:p>
          <a:p>
            <a:r>
              <a:rPr lang="en-US" sz="2400" dirty="0"/>
              <a:t>Sync – allows access from multiple threads</a:t>
            </a:r>
          </a:p>
          <a:p>
            <a:r>
              <a:rPr lang="en-US" sz="2400" dirty="0"/>
              <a:t>Manually implementing Sync and Send requires the “Unsafe” keyword</a:t>
            </a:r>
          </a:p>
          <a:p>
            <a:pPr lvl="1"/>
            <a:r>
              <a:rPr lang="en-US" sz="2000" dirty="0"/>
              <a:t>Developer is promising the compiler that the implementations are safe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84A4E3-612B-8C4A-9A5C-4791DB6006C5}"/>
              </a:ext>
            </a:extLst>
          </p:cNvPr>
          <p:cNvSpPr txBox="1">
            <a:spLocks/>
          </p:cNvSpPr>
          <p:nvPr/>
        </p:nvSpPr>
        <p:spPr>
          <a:xfrm>
            <a:off x="2583180" y="5792691"/>
            <a:ext cx="9464040" cy="1323726"/>
          </a:xfrm>
          <a:prstGeom prst="rect">
            <a:avLst/>
          </a:prstGeom>
        </p:spPr>
        <p:txBody>
          <a:bodyPr vert="horz" lIns="109728" tIns="54864" rIns="109728" bIns="54864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36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DD5E7DB-A1EC-A445-A321-6C2AFE655ED1}"/>
              </a:ext>
            </a:extLst>
          </p:cNvPr>
          <p:cNvSpPr txBox="1">
            <a:spLocks/>
          </p:cNvSpPr>
          <p:nvPr/>
        </p:nvSpPr>
        <p:spPr>
          <a:xfrm>
            <a:off x="1371600" y="6673863"/>
            <a:ext cx="12801600" cy="934503"/>
          </a:xfrm>
          <a:prstGeom prst="rect">
            <a:avLst/>
          </a:prstGeom>
        </p:spPr>
        <p:txBody>
          <a:bodyPr>
            <a:normAutofit/>
          </a:bodyPr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EE726-33D5-5F35-59CA-59E0AEAA55F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682F296-F407-4F82-9BA2-26F86C106594}" type="datetime1">
              <a:rPr lang="en-US" smtClean="0"/>
              <a:t>6/16/2025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98264C-7971-431E-855D-51302D3CB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B8AE96-24ED-6DCF-50E8-CEE894E61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56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8D13AF-307C-DF0A-40A3-E74F8EAA3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Cargo: The Rust Build Tool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7A352-1322-EFE6-03DB-505922745FD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2057399"/>
            <a:ext cx="12801600" cy="5486401"/>
          </a:xfrm>
        </p:spPr>
        <p:txBody>
          <a:bodyPr/>
          <a:lstStyle/>
          <a:p>
            <a:r>
              <a:rPr lang="en-US" dirty="0"/>
              <a:t>“Crates” are Rust libraries.</a:t>
            </a:r>
          </a:p>
          <a:p>
            <a:r>
              <a:rPr lang="en-US" dirty="0"/>
              <a:t>Robust dependency management</a:t>
            </a:r>
          </a:p>
          <a:p>
            <a:pPr lvl="1"/>
            <a:r>
              <a:rPr lang="en-US" dirty="0"/>
              <a:t>Download/resolution/compilation of crates</a:t>
            </a:r>
          </a:p>
          <a:p>
            <a:pPr lvl="1"/>
            <a:r>
              <a:rPr lang="en-US" dirty="0"/>
              <a:t>Lifecycle support (debug/release, benchmarks, testing, publishing)</a:t>
            </a:r>
          </a:p>
          <a:p>
            <a:r>
              <a:rPr lang="en-US" dirty="0"/>
              <a:t>Canonical package layout and manifest for Rust projects</a:t>
            </a:r>
          </a:p>
          <a:p>
            <a:r>
              <a:rPr lang="en-US" dirty="0"/>
              <a:t>Foreign code integration </a:t>
            </a:r>
          </a:p>
          <a:p>
            <a:pPr lvl="1"/>
            <a:r>
              <a:rPr lang="en-US" dirty="0"/>
              <a:t>Convention-conforming support for other languages</a:t>
            </a:r>
          </a:p>
          <a:p>
            <a:pPr lvl="1"/>
            <a:r>
              <a:rPr lang="en-US" dirty="0"/>
              <a:t>Convenience crates: Bindgen and CC</a:t>
            </a:r>
          </a:p>
          <a:p>
            <a:r>
              <a:rPr lang="en-US" dirty="0">
                <a:hlinkClick r:id="rId2"/>
              </a:rPr>
              <a:t>www.crates.io</a:t>
            </a:r>
            <a:r>
              <a:rPr lang="en-US" dirty="0"/>
              <a:t> – the rust community’s crate </a:t>
            </a:r>
            <a:r>
              <a:rPr lang="en-US" dirty="0" err="1"/>
              <a:t>registy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39335-77F1-CED9-3226-7F81A36524A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795A060-6546-46DB-888C-D451127A86EA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16DAC7-E692-200D-76B4-6F29354248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pic>
        <p:nvPicPr>
          <p:cNvPr id="7" name="Picture 2" descr="Cargo Logo">
            <a:extLst>
              <a:ext uri="{FF2B5EF4-FFF2-40B4-BE49-F238E27FC236}">
                <a16:creationId xmlns:a16="http://schemas.microsoft.com/office/drawing/2014/main" id="{21D5726E-1B8F-FF2A-5DDC-FBFE41468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4150" y="4497387"/>
            <a:ext cx="2914650" cy="261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949F84-FB72-E227-4314-C86784C23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19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16760" y="5755857"/>
            <a:ext cx="10972800" cy="879269"/>
          </a:xfrm>
        </p:spPr>
        <p:txBody>
          <a:bodyPr>
            <a:normAutofit/>
          </a:bodyPr>
          <a:lstStyle/>
          <a:p>
            <a:pPr algn="l"/>
            <a:r>
              <a:rPr lang="en-US" sz="3840" dirty="0">
                <a:solidFill>
                  <a:schemeClr val="tx2"/>
                </a:solidFill>
              </a:rPr>
              <a:t>LAMELLAR</a:t>
            </a:r>
            <a:r>
              <a:rPr lang="en-US" sz="3840" b="0" dirty="0"/>
              <a:t> An HPC runtime developed in Rust</a:t>
            </a:r>
            <a:endParaRPr lang="en-US" sz="4800" b="0" dirty="0"/>
          </a:p>
        </p:txBody>
      </p:sp>
      <p:sp>
        <p:nvSpPr>
          <p:cNvPr id="6" name="Footer Placeholder 3"/>
          <p:cNvSpPr txBox="1">
            <a:spLocks/>
          </p:cNvSpPr>
          <p:nvPr/>
        </p:nvSpPr>
        <p:spPr>
          <a:xfrm>
            <a:off x="5646420" y="7810502"/>
            <a:ext cx="3703320" cy="438150"/>
          </a:xfrm>
          <a:prstGeom prst="rect">
            <a:avLst/>
          </a:prstGeom>
        </p:spPr>
        <p:txBody>
          <a:bodyPr vert="horz" lIns="109728" tIns="54864" rIns="109728" bIns="54864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44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266644-995B-9974-F37D-AF91A2DA7EB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A55BD53-636F-47A6-84CF-3445C0ACF388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7D599B-A453-3BB2-EDB2-1C122908D7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E33F15-2272-DE5B-7414-3821CF41B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CD397C-78B2-B5B1-F3CC-553122B3A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5205" y="3006123"/>
            <a:ext cx="1554480" cy="1554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D0ABB97-1DD2-1DA6-6A27-C88848B56CAD}"/>
              </a:ext>
            </a:extLst>
          </p:cNvPr>
          <p:cNvSpPr txBox="1"/>
          <p:nvPr/>
        </p:nvSpPr>
        <p:spPr>
          <a:xfrm>
            <a:off x="3045206" y="4560603"/>
            <a:ext cx="1554479" cy="6924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300" dirty="0">
                <a:hlinkClick r:id="rId4"/>
              </a:rPr>
              <a:t>https://github.com/pnnl/lamellar-runtime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260E7D-E814-F53D-9731-567DB459AC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444" y="3006123"/>
            <a:ext cx="1554480" cy="1554480"/>
          </a:xfrm>
          <a:prstGeom prst="rect">
            <a:avLst/>
          </a:prstGeom>
        </p:spPr>
      </p:pic>
      <p:pic>
        <p:nvPicPr>
          <p:cNvPr id="12" name="Picture 11" descr="A qr code with a letter r&#10;&#10;Description automatically generated">
            <a:extLst>
              <a:ext uri="{FF2B5EF4-FFF2-40B4-BE49-F238E27FC236}">
                <a16:creationId xmlns:a16="http://schemas.microsoft.com/office/drawing/2014/main" id="{EB201454-3734-400B-A505-D12D0263AA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683" y="3006123"/>
            <a:ext cx="1556923" cy="15569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2538147-D7EF-D495-30BC-0221DE591699}"/>
              </a:ext>
            </a:extLst>
          </p:cNvPr>
          <p:cNvSpPr txBox="1"/>
          <p:nvPr/>
        </p:nvSpPr>
        <p:spPr>
          <a:xfrm>
            <a:off x="4722980" y="4557162"/>
            <a:ext cx="1554479" cy="49244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300" dirty="0">
                <a:hlinkClick r:id="rId7"/>
              </a:rPr>
              <a:t>https://crates.io/crates/lamellar</a:t>
            </a:r>
            <a:endParaRPr lang="en-US" sz="13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999498-AF1B-DD47-8CA7-BBE9C2764108}"/>
              </a:ext>
            </a:extLst>
          </p:cNvPr>
          <p:cNvSpPr txBox="1"/>
          <p:nvPr/>
        </p:nvSpPr>
        <p:spPr>
          <a:xfrm>
            <a:off x="6498127" y="4539559"/>
            <a:ext cx="1554479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hlinkClick r:id="rId8"/>
              </a:rPr>
              <a:t>https://docs.rs/lamellar/latest/</a:t>
            </a:r>
            <a:r>
              <a:rPr lang="en-US" sz="1200">
                <a:hlinkClick r:id="rId8"/>
              </a:rPr>
              <a:t>lamellar/</a:t>
            </a:r>
            <a:r>
              <a:rPr lang="en-US" sz="1200"/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350880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9D1E98-9097-6E47-878E-6FEAC148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D3375C0-4D0A-F14D-868F-47656E54C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>
                <a:solidFill>
                  <a:schemeClr val="accent1"/>
                </a:solidFill>
              </a:rPr>
              <a:t>LAMELLAR </a:t>
            </a:r>
            <a:r>
              <a:rPr lang="en-US" sz="3200">
                <a:solidFill>
                  <a:schemeClr val="bg2">
                    <a:lumMod val="50000"/>
                  </a:schemeClr>
                </a:solidFill>
              </a:rPr>
              <a:t>Stack &amp; Nomenclature</a:t>
            </a:r>
            <a:endParaRPr lang="en-US" sz="3200" b="0">
              <a:solidFill>
                <a:schemeClr val="bg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BB52340-7CF4-6948-9399-B0AA71CDC850}"/>
              </a:ext>
            </a:extLst>
          </p:cNvPr>
          <p:cNvSpPr txBox="1"/>
          <p:nvPr/>
        </p:nvSpPr>
        <p:spPr>
          <a:xfrm>
            <a:off x="1270535" y="1541026"/>
            <a:ext cx="7015662" cy="6232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" b="1" dirty="0"/>
              <a:t>Lamellar</a:t>
            </a:r>
            <a:endParaRPr lang="en-US" sz="2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 distributed, asynchronous tasking and PGAS runtime for HPC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Active Messages</a:t>
            </a:r>
            <a:r>
              <a:rPr lang="en-US" sz="2200" dirty="0"/>
              <a:t>: Distributed async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Darcs</a:t>
            </a:r>
            <a:r>
              <a:rPr lang="en-US" sz="2200" dirty="0"/>
              <a:t>: Distributed Arcs </a:t>
            </a:r>
            <a:br>
              <a:rPr lang="en-US" sz="2200" dirty="0"/>
            </a:br>
            <a:r>
              <a:rPr lang="en-US" sz="2200" dirty="0"/>
              <a:t>(Atomic Reference Counted pointers)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LamellarArrays: </a:t>
            </a:r>
            <a:r>
              <a:rPr lang="en-US" sz="2200" dirty="0"/>
              <a:t>High(er)-level data structure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/>
          </a:p>
          <a:p>
            <a:r>
              <a:rPr lang="en-US" sz="2300" b="1" dirty="0"/>
              <a:t>Lamellae</a:t>
            </a:r>
            <a:endParaRPr lang="en-US" sz="23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Interface between network devices/drivers and upper-level runtime layers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Support High Performance InfiniBand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r>
              <a:rPr lang="en-US" sz="2300" b="1" dirty="0"/>
              <a:t>PE – </a:t>
            </a:r>
            <a:r>
              <a:rPr lang="en-US" sz="2300" dirty="0"/>
              <a:t>Processing Element (≅ MPI Rank)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Supports multiple OS threads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Multiple PEs per hardware node (e.g., one per socket)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/>
              <a:t>Thread pool </a:t>
            </a:r>
            <a:r>
              <a:rPr lang="en-US" sz="2200" dirty="0"/>
              <a:t>for Active Messages and Futures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7D1C79-CA8A-C604-BBA1-ED09522F1D94}"/>
              </a:ext>
            </a:extLst>
          </p:cNvPr>
          <p:cNvSpPr/>
          <p:nvPr/>
        </p:nvSpPr>
        <p:spPr>
          <a:xfrm>
            <a:off x="8487403" y="2582831"/>
            <a:ext cx="5960116" cy="4093096"/>
          </a:xfrm>
          <a:prstGeom prst="rect">
            <a:avLst/>
          </a:prstGeom>
          <a:solidFill>
            <a:srgbClr val="00338E">
              <a:lumMod val="40000"/>
              <a:lumOff val="60000"/>
            </a:srgbClr>
          </a:solidFill>
          <a:ln w="38100" cap="flat" cmpd="sng" algn="ctr">
            <a:solidFill>
              <a:srgbClr val="61626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63"/>
            <a:endParaRPr lang="en-US" kern="0">
              <a:solidFill>
                <a:srgbClr val="191C1F"/>
              </a:solidFill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790E98-8BB3-1E91-35FD-061534030605}"/>
              </a:ext>
            </a:extLst>
          </p:cNvPr>
          <p:cNvSpPr/>
          <p:nvPr/>
        </p:nvSpPr>
        <p:spPr>
          <a:xfrm>
            <a:off x="8482552" y="6739307"/>
            <a:ext cx="5960115" cy="648735"/>
          </a:xfrm>
          <a:prstGeom prst="rect">
            <a:avLst/>
          </a:prstGeom>
          <a:solidFill>
            <a:srgbClr val="A63F1E">
              <a:lumMod val="60000"/>
              <a:lumOff val="40000"/>
            </a:srgbClr>
          </a:solidFill>
          <a:ln w="38100" cap="flat" cmpd="sng" algn="ctr">
            <a:solidFill>
              <a:srgbClr val="61626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63"/>
            <a:r>
              <a:rPr lang="en-US" sz="3000" kern="0">
                <a:solidFill>
                  <a:srgbClr val="191C1F"/>
                </a:solidFill>
                <a:latin typeface="Arial"/>
              </a:rPr>
              <a:t>Network interfaces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35D73E-01FE-B22F-D69D-AF1BD4149CFC}"/>
              </a:ext>
            </a:extLst>
          </p:cNvPr>
          <p:cNvGrpSpPr/>
          <p:nvPr/>
        </p:nvGrpSpPr>
        <p:grpSpPr>
          <a:xfrm>
            <a:off x="8580119" y="5625549"/>
            <a:ext cx="5796699" cy="948953"/>
            <a:chOff x="1838995" y="4625233"/>
            <a:chExt cx="2341776" cy="575658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8D63E1-07A6-F6BA-6322-DBF32D545340}"/>
                </a:ext>
              </a:extLst>
            </p:cNvPr>
            <p:cNvSpPr/>
            <p:nvPr/>
          </p:nvSpPr>
          <p:spPr>
            <a:xfrm>
              <a:off x="1838995" y="4677423"/>
              <a:ext cx="2341776" cy="523468"/>
            </a:xfrm>
            <a:prstGeom prst="rect">
              <a:avLst/>
            </a:prstGeom>
            <a:solidFill>
              <a:srgbClr val="007836">
                <a:lumMod val="20000"/>
                <a:lumOff val="80000"/>
              </a:srgbClr>
            </a:solidFill>
            <a:ln w="38100" cap="flat" cmpd="sng" algn="ctr">
              <a:solidFill>
                <a:srgbClr val="61626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/>
              <a:endParaRPr lang="en-US" kern="0">
                <a:solidFill>
                  <a:srgbClr val="191C1F"/>
                </a:solidFill>
                <a:latin typeface="Arial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B135B81-E41F-0744-5C1A-435C16F50746}"/>
                </a:ext>
              </a:extLst>
            </p:cNvPr>
            <p:cNvSpPr/>
            <p:nvPr/>
          </p:nvSpPr>
          <p:spPr>
            <a:xfrm>
              <a:off x="2127075" y="4939157"/>
              <a:ext cx="480334" cy="200826"/>
            </a:xfrm>
            <a:prstGeom prst="rect">
              <a:avLst/>
            </a:prstGeom>
            <a:solidFill>
              <a:srgbClr val="C10435">
                <a:lumMod val="20000"/>
                <a:lumOff val="80000"/>
              </a:srgbClr>
            </a:solidFill>
            <a:ln w="38100" cap="flat" cmpd="sng" algn="ctr">
              <a:solidFill>
                <a:srgbClr val="61626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/>
              <a:r>
                <a:rPr lang="en-US" sz="2333" kern="0">
                  <a:solidFill>
                    <a:srgbClr val="191C1F"/>
                  </a:solidFill>
                  <a:latin typeface="Arial"/>
                </a:rPr>
                <a:t>ROFI</a:t>
              </a:r>
              <a:endParaRPr lang="en-US" sz="3000" kern="0">
                <a:solidFill>
                  <a:srgbClr val="191C1F"/>
                </a:solidFill>
                <a:latin typeface="Arial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39CD3F-6EC1-D305-3623-25C0C8E94970}"/>
                </a:ext>
              </a:extLst>
            </p:cNvPr>
            <p:cNvSpPr/>
            <p:nvPr/>
          </p:nvSpPr>
          <p:spPr>
            <a:xfrm>
              <a:off x="3474551" y="4938147"/>
              <a:ext cx="480334" cy="203973"/>
            </a:xfrm>
            <a:prstGeom prst="rect">
              <a:avLst/>
            </a:prstGeom>
            <a:solidFill>
              <a:srgbClr val="C10435">
                <a:lumMod val="20000"/>
                <a:lumOff val="80000"/>
              </a:srgbClr>
            </a:solidFill>
            <a:ln w="38100" cap="flat" cmpd="sng" algn="ctr">
              <a:solidFill>
                <a:srgbClr val="61626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/>
              <a:r>
                <a:rPr lang="en-US" sz="2333" kern="0">
                  <a:solidFill>
                    <a:srgbClr val="191C1F"/>
                  </a:solidFill>
                  <a:latin typeface="Arial"/>
                </a:rPr>
                <a:t>Local</a:t>
              </a:r>
              <a:endParaRPr lang="en-US" sz="1500" kern="0">
                <a:solidFill>
                  <a:srgbClr val="191C1F"/>
                </a:solidFill>
                <a:latin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9B1F3C1-9C94-EC6E-CC35-00C80FBF03B4}"/>
                </a:ext>
              </a:extLst>
            </p:cNvPr>
            <p:cNvSpPr txBox="1"/>
            <p:nvPr/>
          </p:nvSpPr>
          <p:spPr>
            <a:xfrm>
              <a:off x="2722221" y="4625233"/>
              <a:ext cx="671046" cy="3360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 defTabSz="914363"/>
              <a:r>
                <a:rPr lang="en-US" sz="3000" kern="0">
                  <a:solidFill>
                    <a:srgbClr val="191C1F"/>
                  </a:solidFill>
                  <a:latin typeface="Arial"/>
                </a:rPr>
                <a:t>lamellae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0C3CD6DC-ACAB-0783-33E8-D43F388FEAF0}"/>
              </a:ext>
            </a:extLst>
          </p:cNvPr>
          <p:cNvSpPr/>
          <p:nvPr/>
        </p:nvSpPr>
        <p:spPr>
          <a:xfrm>
            <a:off x="8482542" y="1966270"/>
            <a:ext cx="5964977" cy="522110"/>
          </a:xfrm>
          <a:prstGeom prst="rect">
            <a:avLst/>
          </a:prstGeom>
          <a:solidFill>
            <a:srgbClr val="F4AA00">
              <a:lumMod val="60000"/>
              <a:lumOff val="40000"/>
            </a:srgbClr>
          </a:solidFill>
          <a:ln w="38100" cap="flat" cmpd="sng" algn="ctr">
            <a:solidFill>
              <a:srgbClr val="61626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63"/>
            <a:r>
              <a:rPr lang="en-US" sz="3000" kern="0">
                <a:solidFill>
                  <a:srgbClr val="191C1F"/>
                </a:solidFill>
                <a:latin typeface="Arial"/>
              </a:rPr>
              <a:t>Applications</a:t>
            </a:r>
            <a:endParaRPr lang="en-US" kern="0">
              <a:solidFill>
                <a:srgbClr val="191C1F"/>
              </a:solidFill>
              <a:latin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225BE5-8828-DA12-B5A3-1DA14723E122}"/>
              </a:ext>
            </a:extLst>
          </p:cNvPr>
          <p:cNvSpPr txBox="1"/>
          <p:nvPr/>
        </p:nvSpPr>
        <p:spPr>
          <a:xfrm>
            <a:off x="10394511" y="2468848"/>
            <a:ext cx="1941557" cy="6052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63"/>
            <a:r>
              <a:rPr lang="en-US" sz="3333" b="1">
                <a:solidFill>
                  <a:srgbClr val="191C1F"/>
                </a:solidFill>
                <a:latin typeface="Arial"/>
              </a:rPr>
              <a:t>Lamellar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80B63E0-DCD7-8BAA-C1E2-9980A01EDFBB}"/>
              </a:ext>
            </a:extLst>
          </p:cNvPr>
          <p:cNvGrpSpPr/>
          <p:nvPr/>
        </p:nvGrpSpPr>
        <p:grpSpPr>
          <a:xfrm>
            <a:off x="8571972" y="3907192"/>
            <a:ext cx="5592022" cy="1190165"/>
            <a:chOff x="6983354" y="3228462"/>
            <a:chExt cx="6770192" cy="197544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0D95B60-6078-81FD-0EC4-DAA3C7760FFA}"/>
                </a:ext>
              </a:extLst>
            </p:cNvPr>
            <p:cNvSpPr/>
            <p:nvPr/>
          </p:nvSpPr>
          <p:spPr>
            <a:xfrm>
              <a:off x="9412127" y="4289170"/>
              <a:ext cx="4325727" cy="914736"/>
            </a:xfrm>
            <a:prstGeom prst="rect">
              <a:avLst/>
            </a:prstGeom>
            <a:solidFill>
              <a:srgbClr val="F4AA00">
                <a:lumMod val="40000"/>
                <a:lumOff val="6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/>
              <a:endParaRPr lang="en-US" kern="0">
                <a:solidFill>
                  <a:srgbClr val="191C1F"/>
                </a:solidFill>
                <a:latin typeface="Arial"/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C55A5EB-D91D-CA37-66D3-5D56D2E8341E}"/>
                </a:ext>
              </a:extLst>
            </p:cNvPr>
            <p:cNvSpPr/>
            <p:nvPr/>
          </p:nvSpPr>
          <p:spPr>
            <a:xfrm>
              <a:off x="11524543" y="3268246"/>
              <a:ext cx="2229003" cy="1158907"/>
            </a:xfrm>
            <a:prstGeom prst="rect">
              <a:avLst/>
            </a:prstGeom>
            <a:solidFill>
              <a:srgbClr val="F4AA00">
                <a:lumMod val="40000"/>
                <a:lumOff val="60000"/>
              </a:srgbClr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/>
              <a:endParaRPr lang="en-US" kern="0">
                <a:solidFill>
                  <a:srgbClr val="191C1F"/>
                </a:solidFill>
                <a:latin typeface="Arial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9F8296A-FA8A-D678-1EA3-76FC4EE1F304}"/>
                </a:ext>
              </a:extLst>
            </p:cNvPr>
            <p:cNvSpPr/>
            <p:nvPr/>
          </p:nvSpPr>
          <p:spPr>
            <a:xfrm>
              <a:off x="6999720" y="4274126"/>
              <a:ext cx="2424762" cy="929781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/>
              <a:endParaRPr lang="en-US" kern="0">
                <a:solidFill>
                  <a:srgbClr val="191C1F"/>
                </a:solidFill>
                <a:latin typeface="Arial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A403289-E9AE-4864-FC6C-EB89570576DE}"/>
                </a:ext>
              </a:extLst>
            </p:cNvPr>
            <p:cNvSpPr/>
            <p:nvPr/>
          </p:nvSpPr>
          <p:spPr>
            <a:xfrm>
              <a:off x="7015402" y="3268997"/>
              <a:ext cx="4509132" cy="1056881"/>
            </a:xfrm>
            <a:prstGeom prst="rect">
              <a:avLst/>
            </a:prstGeom>
            <a:solidFill>
              <a:srgbClr val="FFFFFF"/>
            </a:solidFill>
            <a:ln w="381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363"/>
              <a:endParaRPr lang="en-US" kern="0">
                <a:solidFill>
                  <a:srgbClr val="191C1F"/>
                </a:solidFill>
                <a:latin typeface="Arial"/>
              </a:endParaRPr>
            </a:p>
          </p:txBody>
        </p: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2E347C71-EB0E-D086-B06D-40F6B45A288F}"/>
                </a:ext>
              </a:extLst>
            </p:cNvPr>
            <p:cNvGrpSpPr/>
            <p:nvPr/>
          </p:nvGrpSpPr>
          <p:grpSpPr>
            <a:xfrm>
              <a:off x="6983354" y="3228462"/>
              <a:ext cx="6754510" cy="1975444"/>
              <a:chOff x="6983354" y="3228462"/>
              <a:chExt cx="6754510" cy="1975444"/>
            </a:xfrm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6DDA4CDA-8357-AE8C-C222-9B81DAE9E34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9402196" y="4297094"/>
                <a:ext cx="0" cy="906812"/>
              </a:xfrm>
              <a:prstGeom prst="line">
                <a:avLst/>
              </a:prstGeom>
              <a:noFill/>
              <a:ln w="38100" cap="flat" cmpd="sng" algn="ctr">
                <a:solidFill>
                  <a:srgbClr val="616265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207BEC5-F648-D587-F01B-8710B232B48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24482" y="4301465"/>
                <a:ext cx="2058763" cy="0"/>
              </a:xfrm>
              <a:prstGeom prst="line">
                <a:avLst/>
              </a:prstGeom>
              <a:noFill/>
              <a:ln w="38100" cap="flat" cmpd="sng" algn="ctr">
                <a:solidFill>
                  <a:srgbClr val="616265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A6A7D5FB-2815-4DAD-66E4-B1331F5CBE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1483245" y="3228462"/>
                <a:ext cx="0" cy="1073004"/>
              </a:xfrm>
              <a:prstGeom prst="line">
                <a:avLst/>
              </a:prstGeom>
              <a:noFill/>
              <a:ln w="38100" cap="flat" cmpd="sng" algn="ctr">
                <a:solidFill>
                  <a:srgbClr val="616265"/>
                </a:solidFill>
                <a:prstDash val="solid"/>
                <a:miter lim="800000"/>
              </a:ln>
              <a:effectLst/>
            </p:spPr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C64F876-BCE6-859F-D977-9AEF0E73B2F2}"/>
                  </a:ext>
                </a:extLst>
              </p:cNvPr>
              <p:cNvSpPr txBox="1"/>
              <p:nvPr/>
            </p:nvSpPr>
            <p:spPr>
              <a:xfrm>
                <a:off x="7070446" y="3458564"/>
                <a:ext cx="2288024" cy="1685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363"/>
                <a:r>
                  <a:rPr lang="en-US" sz="3000" kern="0">
                    <a:solidFill>
                      <a:srgbClr val="191C1F"/>
                    </a:solidFill>
                    <a:latin typeface="Arial"/>
                  </a:rPr>
                  <a:t>PGAS</a:t>
                </a:r>
              </a:p>
              <a:p>
                <a:pPr algn="ctr" defTabSz="914363"/>
                <a:r>
                  <a:rPr lang="en-US" sz="3000" kern="0">
                    <a:solidFill>
                      <a:srgbClr val="191C1F"/>
                    </a:solidFill>
                    <a:latin typeface="Arial"/>
                  </a:rPr>
                  <a:t>layer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30AEC8D8-306A-8FD1-68F3-141976B24873}"/>
                  </a:ext>
                </a:extLst>
              </p:cNvPr>
              <p:cNvSpPr/>
              <p:nvPr/>
            </p:nvSpPr>
            <p:spPr>
              <a:xfrm>
                <a:off x="6983354" y="3252874"/>
                <a:ext cx="6754510" cy="1951032"/>
              </a:xfrm>
              <a:prstGeom prst="rect">
                <a:avLst/>
              </a:prstGeom>
              <a:noFill/>
              <a:ln w="38100" cap="flat" cmpd="sng" algn="ctr">
                <a:solidFill>
                  <a:srgbClr val="616265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363"/>
                <a:endParaRPr lang="en-US" kern="0">
                  <a:solidFill>
                    <a:srgbClr val="191C1F"/>
                  </a:solidFill>
                  <a:latin typeface="Arial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DBF20CA-A63C-4A77-3EBC-1081CC010710}"/>
                  </a:ext>
                </a:extLst>
              </p:cNvPr>
              <p:cNvSpPr txBox="1"/>
              <p:nvPr/>
            </p:nvSpPr>
            <p:spPr>
              <a:xfrm>
                <a:off x="8676511" y="3438748"/>
                <a:ext cx="4751859" cy="1685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defTabSz="914363"/>
                <a:r>
                  <a:rPr lang="en-US" sz="3000" kern="0" dirty="0">
                    <a:solidFill>
                      <a:srgbClr val="191C1F"/>
                    </a:solidFill>
                    <a:latin typeface="Arial"/>
                  </a:rPr>
                  <a:t>Active </a:t>
                </a:r>
                <a:br>
                  <a:rPr lang="en-US" sz="3000" kern="0" dirty="0">
                    <a:solidFill>
                      <a:srgbClr val="191C1F"/>
                    </a:solidFill>
                    <a:latin typeface="Arial"/>
                  </a:rPr>
                </a:br>
                <a:r>
                  <a:rPr lang="en-US" sz="3000" kern="0" dirty="0">
                    <a:solidFill>
                      <a:srgbClr val="191C1F"/>
                    </a:solidFill>
                    <a:latin typeface="Arial"/>
                  </a:rPr>
                  <a:t>message layer</a:t>
                </a:r>
              </a:p>
            </p:txBody>
          </p:sp>
        </p:grp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7B70C416-40C4-1A88-4B2E-8DB2042012B3}"/>
              </a:ext>
            </a:extLst>
          </p:cNvPr>
          <p:cNvSpPr/>
          <p:nvPr/>
        </p:nvSpPr>
        <p:spPr>
          <a:xfrm>
            <a:off x="10979860" y="6146225"/>
            <a:ext cx="1154543" cy="331055"/>
          </a:xfrm>
          <a:prstGeom prst="rect">
            <a:avLst/>
          </a:prstGeom>
          <a:solidFill>
            <a:srgbClr val="C10435">
              <a:lumMod val="20000"/>
              <a:lumOff val="80000"/>
            </a:srgbClr>
          </a:solidFill>
          <a:ln w="38100" cap="flat" cmpd="sng" algn="ctr">
            <a:solidFill>
              <a:srgbClr val="616265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63"/>
            <a:r>
              <a:rPr lang="en-US" sz="2333" kern="0">
                <a:solidFill>
                  <a:srgbClr val="191C1F"/>
                </a:solidFill>
                <a:latin typeface="Arial"/>
              </a:rPr>
              <a:t>SMP</a:t>
            </a:r>
            <a:endParaRPr lang="en-US" sz="1500" kern="0">
              <a:solidFill>
                <a:srgbClr val="191C1F"/>
              </a:solidFill>
              <a:latin typeface="Arial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2F936EF-D627-EE7E-2C59-AFCC5B877C53}"/>
              </a:ext>
            </a:extLst>
          </p:cNvPr>
          <p:cNvSpPr/>
          <p:nvPr/>
        </p:nvSpPr>
        <p:spPr>
          <a:xfrm>
            <a:off x="9479970" y="3017210"/>
            <a:ext cx="3810000" cy="38235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0" cap="flat" cmpd="sng" algn="ctr">
            <a:solidFill>
              <a:srgbClr val="8201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63"/>
            <a:r>
              <a:rPr lang="en-US" sz="3000" kern="0">
                <a:solidFill>
                  <a:srgbClr val="000000"/>
                </a:solidFill>
                <a:latin typeface="Arial"/>
              </a:rPr>
              <a:t>LamellarArrays</a:t>
            </a:r>
            <a:endParaRPr lang="en-US" kern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308C62C-B4F8-FF77-5071-271FD844B890}"/>
              </a:ext>
            </a:extLst>
          </p:cNvPr>
          <p:cNvSpPr/>
          <p:nvPr/>
        </p:nvSpPr>
        <p:spPr>
          <a:xfrm>
            <a:off x="9116735" y="3459830"/>
            <a:ext cx="4497086" cy="393387"/>
          </a:xfrm>
          <a:prstGeom prst="rect">
            <a:avLst/>
          </a:prstGeom>
          <a:solidFill>
            <a:srgbClr val="00B050"/>
          </a:solidFill>
          <a:ln w="31750" cap="flat" cmpd="sng" algn="ctr">
            <a:solidFill>
              <a:srgbClr val="8201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63"/>
            <a:r>
              <a:rPr lang="en-US" sz="3000" kern="0" err="1">
                <a:solidFill>
                  <a:srgbClr val="000000"/>
                </a:solidFill>
                <a:latin typeface="Arial"/>
              </a:rPr>
              <a:t>Darcs</a:t>
            </a:r>
            <a:endParaRPr lang="en-US" kern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Arrow: Up 76">
            <a:extLst>
              <a:ext uri="{FF2B5EF4-FFF2-40B4-BE49-F238E27FC236}">
                <a16:creationId xmlns:a16="http://schemas.microsoft.com/office/drawing/2014/main" id="{977489E6-4FB9-C198-2A50-1FB1E6A096AF}"/>
              </a:ext>
            </a:extLst>
          </p:cNvPr>
          <p:cNvSpPr/>
          <p:nvPr/>
        </p:nvSpPr>
        <p:spPr>
          <a:xfrm>
            <a:off x="9150539" y="2611195"/>
            <a:ext cx="225377" cy="787627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Up 77">
            <a:extLst>
              <a:ext uri="{FF2B5EF4-FFF2-40B4-BE49-F238E27FC236}">
                <a16:creationId xmlns:a16="http://schemas.microsoft.com/office/drawing/2014/main" id="{AC1F27A7-B62E-BEFA-4BF6-0C80514B0AC8}"/>
              </a:ext>
            </a:extLst>
          </p:cNvPr>
          <p:cNvSpPr/>
          <p:nvPr/>
        </p:nvSpPr>
        <p:spPr>
          <a:xfrm>
            <a:off x="13752477" y="2626731"/>
            <a:ext cx="253337" cy="1271919"/>
          </a:xfrm>
          <a:prstGeom prst="upArrow">
            <a:avLst/>
          </a:prstGeom>
          <a:solidFill>
            <a:srgbClr val="FFDF9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Up 78">
            <a:extLst>
              <a:ext uri="{FF2B5EF4-FFF2-40B4-BE49-F238E27FC236}">
                <a16:creationId xmlns:a16="http://schemas.microsoft.com/office/drawing/2014/main" id="{A0DC57DF-4DEB-09B2-6C11-AC7A0EEAF8AC}"/>
              </a:ext>
            </a:extLst>
          </p:cNvPr>
          <p:cNvSpPr/>
          <p:nvPr/>
        </p:nvSpPr>
        <p:spPr>
          <a:xfrm>
            <a:off x="8697431" y="2613775"/>
            <a:ext cx="253337" cy="1271919"/>
          </a:xfrm>
          <a:prstGeom prst="upArrow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Up 79">
            <a:extLst>
              <a:ext uri="{FF2B5EF4-FFF2-40B4-BE49-F238E27FC236}">
                <a16:creationId xmlns:a16="http://schemas.microsoft.com/office/drawing/2014/main" id="{5848B545-0691-D0ED-70D3-8378ECCE8FA6}"/>
              </a:ext>
            </a:extLst>
          </p:cNvPr>
          <p:cNvSpPr/>
          <p:nvPr/>
        </p:nvSpPr>
        <p:spPr>
          <a:xfrm>
            <a:off x="12898158" y="2633382"/>
            <a:ext cx="214662" cy="330916"/>
          </a:xfrm>
          <a:prstGeom prst="upArrow">
            <a:avLst/>
          </a:prstGeom>
          <a:solidFill>
            <a:srgbClr val="ADB9C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B08F9622-CE26-2EE1-5E8A-CE78E08AE302}"/>
              </a:ext>
            </a:extLst>
          </p:cNvPr>
          <p:cNvSpPr/>
          <p:nvPr/>
        </p:nvSpPr>
        <p:spPr>
          <a:xfrm>
            <a:off x="9616283" y="5191808"/>
            <a:ext cx="4760535" cy="433742"/>
          </a:xfrm>
          <a:prstGeom prst="rect">
            <a:avLst/>
          </a:prstGeom>
          <a:solidFill>
            <a:schemeClr val="accent2">
              <a:lumMod val="25000"/>
              <a:lumOff val="75000"/>
            </a:schemeClr>
          </a:solidFill>
          <a:ln w="31750" cap="flat" cmpd="sng" algn="ctr">
            <a:solidFill>
              <a:srgbClr val="8201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63"/>
            <a:r>
              <a:rPr lang="en-US" sz="3000" kern="0">
                <a:solidFill>
                  <a:srgbClr val="000000"/>
                </a:solidFill>
                <a:latin typeface="Arial"/>
              </a:rPr>
              <a:t>Thread Pool</a:t>
            </a:r>
            <a:endParaRPr lang="en-US" kern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Arrow: Up 82">
            <a:extLst>
              <a:ext uri="{FF2B5EF4-FFF2-40B4-BE49-F238E27FC236}">
                <a16:creationId xmlns:a16="http://schemas.microsoft.com/office/drawing/2014/main" id="{3D4C95F2-0591-2A49-509E-B42679335F92}"/>
              </a:ext>
            </a:extLst>
          </p:cNvPr>
          <p:cNvSpPr/>
          <p:nvPr/>
        </p:nvSpPr>
        <p:spPr>
          <a:xfrm>
            <a:off x="14136326" y="2633382"/>
            <a:ext cx="253336" cy="2477637"/>
          </a:xfrm>
          <a:prstGeom prst="upArrow">
            <a:avLst/>
          </a:prstGeom>
          <a:solidFill>
            <a:srgbClr val="ED7D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090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4BB715-9506-224C-9594-80658D9C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</a:t>
            </a:r>
            <a:r>
              <a:rPr lang="en-US" dirty="0"/>
              <a:t> Active Messages (AM)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E4EAB-18F8-3948-8FC9-0F46F2D4CEA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048484" y="1699390"/>
            <a:ext cx="13245958" cy="7210818"/>
          </a:xfrm>
        </p:spPr>
        <p:txBody>
          <a:bodyPr/>
          <a:lstStyle/>
          <a:p>
            <a:r>
              <a:rPr lang="en-US" dirty="0"/>
              <a:t>Asynchronous remote execution (async/await)</a:t>
            </a:r>
          </a:p>
          <a:p>
            <a:r>
              <a:rPr lang="en-US" dirty="0"/>
              <a:t>Implemented via Procedural Macros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#[lamellar::AmData] – Extends #[Derive(…)]</a:t>
            </a:r>
          </a:p>
          <a:p>
            <a:pPr lvl="1"/>
            <a:r>
              <a:rPr lang="en-US" dirty="0"/>
              <a:t>Applied to user defined structs </a:t>
            </a:r>
          </a:p>
          <a:p>
            <a:pPr lvl="1"/>
            <a:r>
              <a:rPr lang="en-US" dirty="0"/>
              <a:t>Represents AM Input data</a:t>
            </a:r>
          </a:p>
          <a:p>
            <a:r>
              <a:rPr lang="en-US" dirty="0"/>
              <a:t>#[lamellar::am] – Attribute proc macro </a:t>
            </a:r>
          </a:p>
          <a:p>
            <a:pPr lvl="1"/>
            <a:r>
              <a:rPr lang="en-US" dirty="0"/>
              <a:t>Applied to the user defined </a:t>
            </a:r>
            <a:r>
              <a:rPr lang="en-US" dirty="0" err="1"/>
              <a:t>impl</a:t>
            </a:r>
            <a:r>
              <a:rPr lang="en-US" dirty="0"/>
              <a:t> of the </a:t>
            </a:r>
            <a:r>
              <a:rPr lang="en-US" b="1" dirty="0"/>
              <a:t>LamellarAM</a:t>
            </a:r>
            <a:r>
              <a:rPr lang="en-US" dirty="0"/>
              <a:t> trait</a:t>
            </a:r>
          </a:p>
          <a:p>
            <a:pPr lvl="1"/>
            <a:r>
              <a:rPr lang="en-US" dirty="0"/>
              <a:t>Represents an AM task</a:t>
            </a:r>
          </a:p>
          <a:p>
            <a:endParaRPr lang="en-US" dirty="0"/>
          </a:p>
          <a:p>
            <a:r>
              <a:rPr lang="en-US" dirty="0"/>
              <a:t>Can return data or a “callback” AM to the original PE</a:t>
            </a:r>
          </a:p>
          <a:p>
            <a:r>
              <a:rPr lang="en-US" dirty="0"/>
              <a:t>Point to point (e.g. exec on pe </a:t>
            </a:r>
            <a:r>
              <a:rPr lang="en-US" i="1" dirty="0"/>
              <a:t>p</a:t>
            </a:r>
            <a:r>
              <a:rPr lang="en-US" dirty="0"/>
              <a:t>) </a:t>
            </a:r>
          </a:p>
          <a:p>
            <a:r>
              <a:rPr lang="en-US" dirty="0"/>
              <a:t>Collective (e.g. exec on all)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ED85A89-A7F7-4FF6-9CEC-FD553A212AD1}"/>
              </a:ext>
            </a:extLst>
          </p:cNvPr>
          <p:cNvSpPr/>
          <p:nvPr/>
        </p:nvSpPr>
        <p:spPr>
          <a:xfrm>
            <a:off x="9095425" y="1653000"/>
            <a:ext cx="5199017" cy="809364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Active Message</a:t>
            </a:r>
            <a:br>
              <a:rPr lang="en-US" sz="2800" dirty="0"/>
            </a:br>
            <a:r>
              <a:rPr lang="en-US" sz="2800" dirty="0"/>
              <a:t>Data + Processing Instructions</a:t>
            </a:r>
          </a:p>
        </p:txBody>
      </p:sp>
      <p:sp>
        <p:nvSpPr>
          <p:cNvPr id="12" name="Rounded Rectangle 73">
            <a:extLst>
              <a:ext uri="{FF2B5EF4-FFF2-40B4-BE49-F238E27FC236}">
                <a16:creationId xmlns:a16="http://schemas.microsoft.com/office/drawing/2014/main" id="{2DD8A9C4-15BE-4189-9625-361B18CFD96C}"/>
              </a:ext>
            </a:extLst>
          </p:cNvPr>
          <p:cNvSpPr/>
          <p:nvPr/>
        </p:nvSpPr>
        <p:spPr>
          <a:xfrm>
            <a:off x="8528642" y="2420794"/>
            <a:ext cx="5465654" cy="335023"/>
          </a:xfrm>
          <a:prstGeom prst="roundRect">
            <a:avLst>
              <a:gd name="adj" fmla="val 7533"/>
            </a:avLst>
          </a:prstGeom>
          <a:solidFill>
            <a:schemeClr val="bg1"/>
          </a:solidFill>
          <a:ln w="0" cmpd="sng">
            <a:noFill/>
          </a:ln>
          <a:effectLst>
            <a:outerShdw blurRad="76200" dist="25400" dir="8100000" algn="tr" rotWithShape="0">
              <a:prstClr val="black">
                <a:alpha val="7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 anchorCtr="1"/>
          <a:lstStyle/>
          <a:p>
            <a:pPr algn="ctr"/>
            <a:r>
              <a:rPr lang="en-US" sz="2000"/>
              <a:t>e.g. pointer to function that takes data as input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F7E59-7854-F77A-FEF2-DEB27C0331B3}"/>
              </a:ext>
            </a:extLst>
          </p:cNvPr>
          <p:cNvSpPr txBox="1"/>
          <p:nvPr/>
        </p:nvSpPr>
        <p:spPr>
          <a:xfrm>
            <a:off x="9969972" y="3193792"/>
            <a:ext cx="4498481" cy="50167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#[AmData(Debug)]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Struct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HelloWorldAm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msg: String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orig_pe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usize</a:t>
            </a:r>
            <a:endParaRPr lang="en-US" sz="16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#[am]</a:t>
            </a:r>
          </a:p>
          <a:p>
            <a:r>
              <a:rPr lang="en-US" sz="1600" b="0" dirty="0" err="1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impl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LamellarAm </a:t>
            </a:r>
            <a:r>
              <a:rPr lang="en-US" sz="16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HelloWorldAm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async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fn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exec(</a:t>
            </a:r>
            <a:r>
              <a:rPr lang="en-US" sz="16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Println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!(</a:t>
            </a:r>
            <a:r>
              <a:rPr lang="en-US" sz="1600" b="0" dirty="0">
                <a:solidFill>
                  <a:srgbClr val="CD3131"/>
                </a:solidFill>
                <a:effectLst/>
                <a:latin typeface="Source Code Pro" panose="020B0509030403020204" pitchFamily="49" charset="0"/>
              </a:rPr>
              <a:t>“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{:?}</a:t>
            </a:r>
            <a:r>
              <a:rPr lang="en-US" sz="1600" b="0" dirty="0">
                <a:solidFill>
                  <a:srgbClr val="CD3131"/>
                </a:solidFill>
                <a:effectLst/>
                <a:latin typeface="Source Code Pro" panose="020B0509030403020204" pitchFamily="49" charset="0"/>
              </a:rPr>
              <a:t>”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sz="16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);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lang="en-US" sz="1600" b="0" dirty="0"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//main()...</a:t>
            </a:r>
            <a:endParaRPr lang="en-US" sz="16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world.exec_am_pe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(pe,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HelloWorldAm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msg: </a:t>
            </a:r>
            <a:r>
              <a:rPr lang="en-US" sz="1600" b="0" dirty="0">
                <a:solidFill>
                  <a:srgbClr val="CD3131"/>
                </a:solidFill>
                <a:effectLst/>
                <a:latin typeface="Source Code Pro" panose="020B0509030403020204" pitchFamily="49" charset="0"/>
              </a:rPr>
              <a:t>“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Hello World</a:t>
            </a:r>
            <a:r>
              <a:rPr lang="en-US" sz="1600" b="0" dirty="0">
                <a:solidFill>
                  <a:srgbClr val="CD3131"/>
                </a:solidFill>
                <a:effectLst/>
                <a:latin typeface="Source Code Pro" panose="020B0509030403020204" pitchFamily="49" charset="0"/>
              </a:rPr>
              <a:t>”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orig_pe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world.my_pe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}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).block();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7A1A29-BE86-3D5B-3346-FBF7080DDE7D}"/>
              </a:ext>
            </a:extLst>
          </p:cNvPr>
          <p:cNvSpPr/>
          <p:nvPr/>
        </p:nvSpPr>
        <p:spPr>
          <a:xfrm>
            <a:off x="11454253" y="2808117"/>
            <a:ext cx="2959427" cy="3350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Replaces #[Derive(…)]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41A8CD-FAEE-1433-9A16-3772F5EE3A87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11071612" y="2975629"/>
            <a:ext cx="382641" cy="186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A580797-2B28-529E-25BB-EFFA6291B08E}"/>
              </a:ext>
            </a:extLst>
          </p:cNvPr>
          <p:cNvSpPr/>
          <p:nvPr/>
        </p:nvSpPr>
        <p:spPr>
          <a:xfrm>
            <a:off x="10009468" y="3211957"/>
            <a:ext cx="2168354" cy="30933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A9FC1C0-8E48-8EEC-B250-48C825BBEDE9}"/>
              </a:ext>
            </a:extLst>
          </p:cNvPr>
          <p:cNvSpPr/>
          <p:nvPr/>
        </p:nvSpPr>
        <p:spPr>
          <a:xfrm>
            <a:off x="9095425" y="3653841"/>
            <a:ext cx="853492" cy="6327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data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8BEFC208-D2F0-86FC-D029-5421531ACD0F}"/>
              </a:ext>
            </a:extLst>
          </p:cNvPr>
          <p:cNvSpPr/>
          <p:nvPr/>
        </p:nvSpPr>
        <p:spPr>
          <a:xfrm>
            <a:off x="10002181" y="3714248"/>
            <a:ext cx="455463" cy="542970"/>
          </a:xfrm>
          <a:prstGeom prst="lef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Left Brace 20">
            <a:extLst>
              <a:ext uri="{FF2B5EF4-FFF2-40B4-BE49-F238E27FC236}">
                <a16:creationId xmlns:a16="http://schemas.microsoft.com/office/drawing/2014/main" id="{D507D910-9EAF-D3FE-7B25-D3B82442FBB5}"/>
              </a:ext>
            </a:extLst>
          </p:cNvPr>
          <p:cNvSpPr/>
          <p:nvPr/>
        </p:nvSpPr>
        <p:spPr>
          <a:xfrm>
            <a:off x="9774450" y="5265672"/>
            <a:ext cx="455463" cy="542970"/>
          </a:xfrm>
          <a:prstGeom prst="lef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86FAC-15DC-0DC1-593B-B8FA6A81FD00}"/>
              </a:ext>
            </a:extLst>
          </p:cNvPr>
          <p:cNvSpPr/>
          <p:nvPr/>
        </p:nvSpPr>
        <p:spPr>
          <a:xfrm>
            <a:off x="7796992" y="5473784"/>
            <a:ext cx="1978130" cy="63276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 processing instructions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DA9E34-766B-1E2B-82B4-60AE94EED765}"/>
              </a:ext>
            </a:extLst>
          </p:cNvPr>
          <p:cNvSpPr/>
          <p:nvPr/>
        </p:nvSpPr>
        <p:spPr>
          <a:xfrm>
            <a:off x="9998402" y="4667130"/>
            <a:ext cx="828951" cy="309331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69F738-28CD-5F37-83D6-D68C2F2ADEFA}"/>
              </a:ext>
            </a:extLst>
          </p:cNvPr>
          <p:cNvSpPr/>
          <p:nvPr/>
        </p:nvSpPr>
        <p:spPr>
          <a:xfrm>
            <a:off x="11209994" y="4431420"/>
            <a:ext cx="2168355" cy="33502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Attribute macro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02BF227-E9E2-22B1-2A39-9CFD771ED6AC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10827353" y="4598932"/>
            <a:ext cx="382641" cy="186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DF3AB824-3F49-ECE2-5C6A-B43DACE62BBE}"/>
              </a:ext>
            </a:extLst>
          </p:cNvPr>
          <p:cNvSpPr/>
          <p:nvPr/>
        </p:nvSpPr>
        <p:spPr>
          <a:xfrm>
            <a:off x="9998082" y="6642308"/>
            <a:ext cx="2483899" cy="27310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B628435-AEED-4883-9AB0-F05D626FA1C1}"/>
              </a:ext>
            </a:extLst>
          </p:cNvPr>
          <p:cNvCxnSpPr>
            <a:cxnSpLocks/>
          </p:cNvCxnSpPr>
          <p:nvPr/>
        </p:nvCxnSpPr>
        <p:spPr>
          <a:xfrm flipV="1">
            <a:off x="12306562" y="6374255"/>
            <a:ext cx="382641" cy="186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EF05883A-0AEA-60E2-B63A-9F6549B85DCB}"/>
              </a:ext>
            </a:extLst>
          </p:cNvPr>
          <p:cNvSpPr/>
          <p:nvPr/>
        </p:nvSpPr>
        <p:spPr>
          <a:xfrm>
            <a:off x="12726348" y="5843665"/>
            <a:ext cx="1742105" cy="63370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Execute on a specific PE</a:t>
            </a:r>
          </a:p>
        </p:txBody>
      </p:sp>
      <p:sp>
        <p:nvSpPr>
          <p:cNvPr id="30" name="Left Brace 29">
            <a:extLst>
              <a:ext uri="{FF2B5EF4-FFF2-40B4-BE49-F238E27FC236}">
                <a16:creationId xmlns:a16="http://schemas.microsoft.com/office/drawing/2014/main" id="{05692614-40C1-EBB2-09F0-79A13CB7A3FC}"/>
              </a:ext>
            </a:extLst>
          </p:cNvPr>
          <p:cNvSpPr/>
          <p:nvPr/>
        </p:nvSpPr>
        <p:spPr>
          <a:xfrm>
            <a:off x="9635926" y="7072421"/>
            <a:ext cx="455463" cy="663753"/>
          </a:xfrm>
          <a:prstGeom prst="lef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656A1B-2BC6-5C08-C4CE-1278C9748B0C}"/>
              </a:ext>
            </a:extLst>
          </p:cNvPr>
          <p:cNvSpPr/>
          <p:nvPr/>
        </p:nvSpPr>
        <p:spPr>
          <a:xfrm>
            <a:off x="7555724" y="7097649"/>
            <a:ext cx="1978130" cy="29382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 AM instance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560EBC6-6E24-EF68-2786-56205C86F8A1}"/>
              </a:ext>
            </a:extLst>
          </p:cNvPr>
          <p:cNvSpPr/>
          <p:nvPr/>
        </p:nvSpPr>
        <p:spPr>
          <a:xfrm>
            <a:off x="6487405" y="2625309"/>
            <a:ext cx="1777684" cy="590668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topic for another time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D9EA0AF-84CF-ACFD-4F74-A9754DA94DE2}"/>
              </a:ext>
            </a:extLst>
          </p:cNvPr>
          <p:cNvCxnSpPr>
            <a:cxnSpLocks/>
          </p:cNvCxnSpPr>
          <p:nvPr/>
        </p:nvCxnSpPr>
        <p:spPr>
          <a:xfrm>
            <a:off x="7141029" y="2492330"/>
            <a:ext cx="341268" cy="8066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92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animBg="1"/>
      <p:bldP spid="12" grpId="0" animBg="1"/>
      <p:bldP spid="6" grpId="0" animBg="1"/>
      <p:bldP spid="5" grpId="0" animBg="1"/>
      <p:bldP spid="10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9" grpId="0" animBg="1"/>
      <p:bldP spid="30" grpId="0" animBg="1"/>
      <p:bldP spid="31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40CCF8-78E5-CDC6-A061-3C96139BF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F4CDA50-3331-E93F-3B5E-488907EE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</a:t>
            </a:r>
            <a:r>
              <a:rPr lang="en-US" dirty="0"/>
              <a:t> Remote Operation Handles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5EA60-158A-BA45-C3BE-6046F3AE66A4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Recall</a:t>
            </a:r>
            <a:r>
              <a:rPr lang="en-US" dirty="0"/>
              <a:t>: operations in Lamellar are asynchronous </a:t>
            </a:r>
            <a:br>
              <a:rPr lang="en-US" dirty="0"/>
            </a:br>
            <a:r>
              <a:rPr lang="en-US" dirty="0"/>
              <a:t>(w.r.t  programming model and Rust syntax and types)</a:t>
            </a:r>
          </a:p>
          <a:p>
            <a:pPr lvl="1"/>
            <a:r>
              <a:rPr lang="en-US" dirty="0"/>
              <a:t>Futures in Rust are also lazy, meaning they must be “</a:t>
            </a:r>
            <a:r>
              <a:rPr lang="en-US" dirty="0" err="1">
                <a:latin typeface="Consolas" panose="020B0609020204030204" pitchFamily="49" charset="0"/>
              </a:rPr>
              <a:t>await</a:t>
            </a:r>
            <a:r>
              <a:rPr lang="en-US" dirty="0" err="1"/>
              <a:t>”ed</a:t>
            </a:r>
            <a:r>
              <a:rPr lang="en-US" dirty="0"/>
              <a:t> </a:t>
            </a:r>
          </a:p>
          <a:p>
            <a:r>
              <a:rPr lang="en-US" dirty="0"/>
              <a:t>In Lamellar async operations are represented by “handles”</a:t>
            </a:r>
          </a:p>
          <a:p>
            <a:pPr lvl="1"/>
            <a:r>
              <a:rPr lang="en-US" dirty="0"/>
              <a:t>They allow users to:</a:t>
            </a:r>
          </a:p>
          <a:p>
            <a:pPr lvl="1"/>
            <a:r>
              <a:rPr lang="en-US" i="1" dirty="0"/>
              <a:t>block() – </a:t>
            </a:r>
            <a:r>
              <a:rPr lang="en-US" dirty="0"/>
              <a:t>wait for the operation to complete within a </a:t>
            </a:r>
            <a:r>
              <a:rPr lang="en-US" b="1" dirty="0"/>
              <a:t>non</a:t>
            </a:r>
            <a:r>
              <a:rPr lang="en-US" i="1" dirty="0"/>
              <a:t>-</a:t>
            </a:r>
            <a:r>
              <a:rPr lang="en-US" dirty="0"/>
              <a:t>async block (of code)</a:t>
            </a:r>
          </a:p>
          <a:p>
            <a:pPr lvl="1"/>
            <a:r>
              <a:rPr lang="en-US" i="1" dirty="0"/>
              <a:t>spawn()</a:t>
            </a:r>
            <a:r>
              <a:rPr lang="en-US" dirty="0"/>
              <a:t> – start execution of the operation, but return a new handle for the result</a:t>
            </a:r>
          </a:p>
          <a:p>
            <a:pPr lvl="1"/>
            <a:r>
              <a:rPr lang="en-US" i="1" dirty="0"/>
              <a:t>await – </a:t>
            </a:r>
            <a:r>
              <a:rPr lang="en-US" dirty="0"/>
              <a:t>every handle is a future that can be “</a:t>
            </a:r>
            <a:r>
              <a:rPr lang="en-US" dirty="0" err="1">
                <a:latin typeface="Consolas" panose="020B0609020204030204" pitchFamily="49" charset="0"/>
              </a:rPr>
              <a:t>await</a:t>
            </a:r>
            <a:r>
              <a:rPr lang="en-US" dirty="0" err="1"/>
              <a:t>”ed</a:t>
            </a:r>
            <a:r>
              <a:rPr lang="en-US" dirty="0"/>
              <a:t> within an async block.</a:t>
            </a:r>
            <a:endParaRPr lang="en-US" i="1" dirty="0"/>
          </a:p>
          <a:p>
            <a:pPr lvl="1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D9FAC-ED28-D32A-3D2B-B78337A1053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A67C1C0-7DC8-4064-9DD7-DCE906513A8D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7DED2-8FCF-0412-CBAD-503EEBFEAE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D7C27C-1471-A03E-8B45-FCD320897D86}"/>
              </a:ext>
            </a:extLst>
          </p:cNvPr>
          <p:cNvSpPr txBox="1"/>
          <p:nvPr/>
        </p:nvSpPr>
        <p:spPr>
          <a:xfrm>
            <a:off x="2596844" y="5464742"/>
            <a:ext cx="10661956" cy="25545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Source Code Pro" panose="020B050903040302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Source Code Pro" panose="020B0509030403020204" pitchFamily="49" charset="0"/>
              </a:rPr>
              <a:t>am_handle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world.exec_am_pe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(pe,…);</a:t>
            </a:r>
          </a:p>
          <a:p>
            <a:r>
              <a:rPr lang="en-US" sz="1600" dirty="0">
                <a:solidFill>
                  <a:srgbClr val="007836"/>
                </a:solidFill>
                <a:latin typeface="Source Code Pro" panose="020B0509030403020204" pitchFamily="49" charset="0"/>
              </a:rPr>
              <a:t>//---option 1---</a:t>
            </a:r>
          </a:p>
          <a:p>
            <a:r>
              <a:rPr lang="en-US" sz="1600" dirty="0">
                <a:solidFill>
                  <a:srgbClr val="0000FF"/>
                </a:solidFill>
                <a:latin typeface="Source Code Pro" panose="020B0509030403020204" pitchFamily="49" charset="0"/>
              </a:rPr>
              <a:t>let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result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am_handle.block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 </a:t>
            </a:r>
            <a:r>
              <a:rPr lang="en-US" sz="1600" dirty="0">
                <a:solidFill>
                  <a:srgbClr val="007836"/>
                </a:solidFill>
                <a:latin typeface="Source Code Pro" panose="020B0509030403020204" pitchFamily="49" charset="0"/>
              </a:rPr>
              <a:t>//thread will block</a:t>
            </a:r>
          </a:p>
          <a:p>
            <a:r>
              <a:rPr lang="en-US" sz="1600" dirty="0">
                <a:solidFill>
                  <a:srgbClr val="007836"/>
                </a:solidFill>
                <a:latin typeface="Source Code Pro" panose="020B0509030403020204" pitchFamily="49" charset="0"/>
              </a:rPr>
              <a:t>//---option 2---</a:t>
            </a:r>
          </a:p>
          <a:p>
            <a:r>
              <a:rPr lang="en-US" sz="1600" dirty="0">
                <a:solidFill>
                  <a:srgbClr val="0000FF"/>
                </a:solidFill>
                <a:latin typeface="Source Code Pro" panose="020B050903040302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Source Code Pro" panose="020B0509030403020204" pitchFamily="49" charset="0"/>
              </a:rPr>
              <a:t>result_handle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Source Code Pro" panose="020B0509030403020204" pitchFamily="49" charset="0"/>
              </a:rPr>
              <a:t>am_handle.spawn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(); </a:t>
            </a:r>
            <a:r>
              <a:rPr lang="en-US" sz="1600" dirty="0">
                <a:solidFill>
                  <a:srgbClr val="007836"/>
                </a:solidFill>
                <a:latin typeface="Source Code Pro" panose="020B0509030403020204" pitchFamily="49" charset="0"/>
              </a:rPr>
              <a:t>//thread free do other work</a:t>
            </a:r>
          </a:p>
          <a:p>
            <a:r>
              <a:rPr lang="en-US" sz="1600" dirty="0">
                <a:solidFill>
                  <a:srgbClr val="0000FF"/>
                </a:solidFill>
                <a:latin typeface="Source Code Pro" panose="020B050903040302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result = </a:t>
            </a:r>
            <a:r>
              <a:rPr lang="en-US" sz="1600" dirty="0" err="1">
                <a:solidFill>
                  <a:srgbClr val="000000"/>
                </a:solidFill>
                <a:latin typeface="Source Code Pro" panose="020B0509030403020204" pitchFamily="49" charset="0"/>
              </a:rPr>
              <a:t>result_handle.block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(); </a:t>
            </a:r>
            <a:r>
              <a:rPr lang="en-US" sz="1600" dirty="0">
                <a:solidFill>
                  <a:srgbClr val="007836"/>
                </a:solidFill>
                <a:latin typeface="Source Code Pro" panose="020B0509030403020204" pitchFamily="49" charset="0"/>
              </a:rPr>
              <a:t>//thread will block</a:t>
            </a:r>
          </a:p>
          <a:p>
            <a:r>
              <a:rPr lang="en-US" sz="1600" dirty="0">
                <a:solidFill>
                  <a:srgbClr val="007836"/>
                </a:solidFill>
                <a:latin typeface="Source Code Pro" panose="020B0509030403020204" pitchFamily="49" charset="0"/>
              </a:rPr>
              <a:t>//---option 3---</a:t>
            </a:r>
          </a:p>
          <a:p>
            <a:r>
              <a:rPr lang="en-US" sz="1600" dirty="0">
                <a:solidFill>
                  <a:srgbClr val="0000FF"/>
                </a:solidFill>
                <a:latin typeface="Source Code Pro" panose="020B0509030403020204" pitchFamily="49" charset="0"/>
              </a:rPr>
              <a:t>async move 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{</a:t>
            </a:r>
            <a:endParaRPr lang="en-US" sz="1600" dirty="0">
              <a:solidFill>
                <a:srgbClr val="007836"/>
              </a:solidFill>
              <a:latin typeface="Source Code Pro" panose="020B0509030403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  </a:t>
            </a:r>
            <a:r>
              <a:rPr lang="en-US" sz="1600" dirty="0">
                <a:solidFill>
                  <a:srgbClr val="0000FF"/>
                </a:solidFill>
                <a:latin typeface="Source Code Pro" panose="020B0509030403020204" pitchFamily="49" charset="0"/>
              </a:rPr>
              <a:t>let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 result = </a:t>
            </a:r>
            <a:r>
              <a:rPr lang="en-US" sz="1600" dirty="0" err="1">
                <a:solidFill>
                  <a:srgbClr val="000000"/>
                </a:solidFill>
                <a:latin typeface="Source Code Pro" panose="020B0509030403020204" pitchFamily="49" charset="0"/>
              </a:rPr>
              <a:t>am_handle.</a:t>
            </a:r>
            <a:r>
              <a:rPr lang="en-US" sz="1600" dirty="0" err="1">
                <a:solidFill>
                  <a:srgbClr val="7030A0"/>
                </a:solidFill>
                <a:latin typeface="Source Code Pro" panose="020B0509030403020204" pitchFamily="49" charset="0"/>
              </a:rPr>
              <a:t>await</a:t>
            </a:r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;</a:t>
            </a:r>
            <a:r>
              <a:rPr lang="en-US" sz="1600" dirty="0">
                <a:solidFill>
                  <a:srgbClr val="007836"/>
                </a:solidFill>
                <a:latin typeface="Source Code Pro" panose="020B0509030403020204" pitchFamily="49" charset="0"/>
              </a:rPr>
              <a:t> // task will allow other tasks to execute</a:t>
            </a:r>
          </a:p>
          <a:p>
            <a:r>
              <a:rPr lang="en-US" sz="1600" dirty="0">
                <a:solidFill>
                  <a:srgbClr val="000000"/>
                </a:solidFill>
                <a:latin typeface="Source Code Pro" panose="020B050903040302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704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FCF835-E24A-4D1B-90E7-B83A84037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EEF1AC0-5F3B-4817-9F2D-D6B2BE2EA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LAMELLAR: </a:t>
            </a:r>
            <a:r>
              <a:rPr lang="en-US" err="1">
                <a:solidFill>
                  <a:schemeClr val="bg2">
                    <a:lumMod val="50000"/>
                  </a:schemeClr>
                </a:solidFill>
              </a:rPr>
              <a:t>Darc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&lt;T&gt; - </a:t>
            </a:r>
            <a:br>
              <a:rPr lang="en-US">
                <a:solidFill>
                  <a:schemeClr val="bg2">
                    <a:lumMod val="50000"/>
                  </a:schemeClr>
                </a:solidFill>
              </a:rPr>
            </a:br>
            <a:r>
              <a:rPr lang="en-US">
                <a:solidFill>
                  <a:schemeClr val="bg2">
                    <a:lumMod val="50000"/>
                  </a:schemeClr>
                </a:solidFill>
              </a:rPr>
              <a:t>Distributed Atomic Reference Count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6D6FDF-AC19-4795-B3BE-569B1296D453}"/>
              </a:ext>
            </a:extLst>
          </p:cNvPr>
          <p:cNvSpPr txBox="1"/>
          <p:nvPr/>
        </p:nvSpPr>
        <p:spPr>
          <a:xfrm>
            <a:off x="1004632" y="2730254"/>
            <a:ext cx="9053882" cy="5355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#[lamellar::AmData(Clone)] </a:t>
            </a:r>
          </a:p>
          <a:p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struct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DarcAm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darc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 Darc&lt;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AtomicUsize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&gt;,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#[lamellar::am]</a:t>
            </a:r>
          </a:p>
          <a:p>
            <a:r>
              <a:rPr lang="en-US" sz="1800" b="0" dirty="0" err="1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impl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LamellarAm 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for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DarcAm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fn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exec(&amp;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   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.darc.fetch_add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,Ordering::Relaxed); 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}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  <a:p>
            <a:b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</a:br>
            <a:r>
              <a:rPr lang="en-US" sz="1800" b="0" dirty="0" err="1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fn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main(){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team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world.create_team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...;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   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 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	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darc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Darc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::new(&amp;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team,AtomicUsize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::new(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)).block();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am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DarcAm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{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darc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for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i 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in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..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1000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{ 		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team.exec_am_pe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i%num_pes,am.clone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()).spawn() </a:t>
            </a:r>
          </a:p>
          <a:p>
            <a:r>
              <a:rPr lang="en-US" sz="1800" dirty="0">
                <a:solidFill>
                  <a:srgbClr val="000000"/>
                </a:solidFill>
                <a:latin typeface="Source Code Pro" panose="020B0509030403020204" pitchFamily="49" charset="0"/>
              </a:rPr>
              <a:t>    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E2AD42-C76B-404A-AC39-8738686B0EE2}"/>
              </a:ext>
            </a:extLst>
          </p:cNvPr>
          <p:cNvSpPr/>
          <p:nvPr/>
        </p:nvSpPr>
        <p:spPr>
          <a:xfrm>
            <a:off x="3129683" y="3344847"/>
            <a:ext cx="1526138" cy="2423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F6422A-35F1-4C79-93F5-3183CE63B9B5}"/>
              </a:ext>
            </a:extLst>
          </p:cNvPr>
          <p:cNvSpPr/>
          <p:nvPr/>
        </p:nvSpPr>
        <p:spPr>
          <a:xfrm>
            <a:off x="5128949" y="2531236"/>
            <a:ext cx="4851328" cy="137301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Each PE contains a local instance of the interior object (in this example, not directly mutable with RDMA)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9250A5-CA26-471B-9247-9778F9CB2524}"/>
              </a:ext>
            </a:extLst>
          </p:cNvPr>
          <p:cNvSpPr/>
          <p:nvPr/>
        </p:nvSpPr>
        <p:spPr>
          <a:xfrm>
            <a:off x="5247928" y="4198455"/>
            <a:ext cx="4732349" cy="31913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Mutability controlled via atomic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D36F5A-4E5E-4D64-B066-CB57D0DF5DE8}"/>
              </a:ext>
            </a:extLst>
          </p:cNvPr>
          <p:cNvSpPr/>
          <p:nvPr/>
        </p:nvSpPr>
        <p:spPr>
          <a:xfrm>
            <a:off x="3828605" y="5843947"/>
            <a:ext cx="6151672" cy="26349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Allocated on either the world or a team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A2D51A-BE8D-4B23-B57C-2F1AA650B3E5}"/>
              </a:ext>
            </a:extLst>
          </p:cNvPr>
          <p:cNvSpPr/>
          <p:nvPr/>
        </p:nvSpPr>
        <p:spPr>
          <a:xfrm>
            <a:off x="929246" y="1746201"/>
            <a:ext cx="8914398" cy="64174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Macro implements specialized (de)serialization methods to appropriate track reference counts when sending to remote PEs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E92402C-D03E-4859-B6F5-C51E7F78B69C}"/>
              </a:ext>
            </a:extLst>
          </p:cNvPr>
          <p:cNvCxnSpPr>
            <a:cxnSpLocks/>
          </p:cNvCxnSpPr>
          <p:nvPr/>
        </p:nvCxnSpPr>
        <p:spPr>
          <a:xfrm>
            <a:off x="3281442" y="2420604"/>
            <a:ext cx="0" cy="30259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DAE3D48C-0570-4C56-AF08-AE1CB15722B0}"/>
              </a:ext>
            </a:extLst>
          </p:cNvPr>
          <p:cNvSpPr/>
          <p:nvPr/>
        </p:nvSpPr>
        <p:spPr>
          <a:xfrm>
            <a:off x="1004633" y="2788173"/>
            <a:ext cx="3651188" cy="2423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3715E41-18B4-4105-8983-01CB0BBAA4AB}"/>
              </a:ext>
            </a:extLst>
          </p:cNvPr>
          <p:cNvCxnSpPr>
            <a:cxnSpLocks/>
          </p:cNvCxnSpPr>
          <p:nvPr/>
        </p:nvCxnSpPr>
        <p:spPr>
          <a:xfrm flipH="1">
            <a:off x="4789448" y="3397142"/>
            <a:ext cx="339500" cy="6564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1B768E5-7F52-4895-B550-B67C5649166D}"/>
              </a:ext>
            </a:extLst>
          </p:cNvPr>
          <p:cNvCxnSpPr>
            <a:cxnSpLocks/>
          </p:cNvCxnSpPr>
          <p:nvPr/>
        </p:nvCxnSpPr>
        <p:spPr>
          <a:xfrm flipH="1">
            <a:off x="5810153" y="4520353"/>
            <a:ext cx="245596" cy="44754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4AE02D0-5F2F-4580-93C8-4A89021803AE}"/>
              </a:ext>
            </a:extLst>
          </p:cNvPr>
          <p:cNvSpPr/>
          <p:nvPr/>
        </p:nvSpPr>
        <p:spPr>
          <a:xfrm>
            <a:off x="5134292" y="4979090"/>
            <a:ext cx="2409508" cy="2423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68019F7-B1F3-4A59-B435-51EF492EED17}"/>
              </a:ext>
            </a:extLst>
          </p:cNvPr>
          <p:cNvCxnSpPr>
            <a:cxnSpLocks/>
          </p:cNvCxnSpPr>
          <p:nvPr/>
        </p:nvCxnSpPr>
        <p:spPr>
          <a:xfrm flipH="1">
            <a:off x="5531573" y="6057144"/>
            <a:ext cx="964107" cy="5916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F2CF85E-38B0-4FC8-8175-AB45F908F217}"/>
              </a:ext>
            </a:extLst>
          </p:cNvPr>
          <p:cNvSpPr/>
          <p:nvPr/>
        </p:nvSpPr>
        <p:spPr>
          <a:xfrm>
            <a:off x="4566507" y="6648824"/>
            <a:ext cx="785382" cy="24236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1A97276-7841-773A-6370-971D0DC56476}"/>
              </a:ext>
            </a:extLst>
          </p:cNvPr>
          <p:cNvSpPr txBox="1"/>
          <p:nvPr/>
        </p:nvSpPr>
        <p:spPr>
          <a:xfrm>
            <a:off x="10058513" y="1669404"/>
            <a:ext cx="4262738" cy="4745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Similar to an Arc but in distributed memory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Global lifetime – value is valid (and accessible) if </a:t>
            </a:r>
            <a:r>
              <a:rPr lang="en-US" i="1" dirty="0">
                <a:latin typeface="Arial"/>
                <a:cs typeface="Arial"/>
              </a:rPr>
              <a:t>any </a:t>
            </a:r>
            <a:r>
              <a:rPr lang="en-US" dirty="0">
                <a:latin typeface="Arial"/>
                <a:cs typeface="Arial"/>
              </a:rPr>
              <a:t>PE has a reference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dirty="0"/>
              <a:t>Inner mutability </a:t>
            </a:r>
            <a:r>
              <a:rPr lang="en-US" b="1" dirty="0"/>
              <a:t>disallowed </a:t>
            </a:r>
            <a:r>
              <a:rPr lang="en-US" dirty="0"/>
              <a:t>by default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Intended for use in active messages</a:t>
            </a:r>
          </a:p>
          <a:p>
            <a:pPr marL="891540" lvl="1" indent="-342900">
              <a:buFont typeface="Arial" panose="020B0604020202020204" pitchFamily="34" charset="0"/>
              <a:buChar char="•"/>
            </a:pPr>
            <a:r>
              <a:rPr lang="en-US" dirty="0"/>
              <a:t>Enables distributed access and manipulation of generic Rust objects</a:t>
            </a:r>
          </a:p>
          <a:p>
            <a:endParaRPr lang="en-US" dirty="0"/>
          </a:p>
          <a:p>
            <a:pPr lvl="2"/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A738023-3A47-5A98-67E6-0B66B4B5FC85}"/>
              </a:ext>
            </a:extLst>
          </p:cNvPr>
          <p:cNvSpPr/>
          <p:nvPr/>
        </p:nvSpPr>
        <p:spPr>
          <a:xfrm>
            <a:off x="11268965" y="601170"/>
            <a:ext cx="2587980" cy="803124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Atomic Reference Counted Pointer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7A9E5AD-B699-C7A7-8CAC-6CC0D8A58737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2450178" y="1404294"/>
            <a:ext cx="112777" cy="341907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3589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4" grpId="0" animBg="1"/>
      <p:bldP spid="19" grpId="0" animBg="1"/>
      <p:bldP spid="2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4BB715-9506-224C-9594-80658D9C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LAMELLAR </a:t>
            </a:r>
            <a:r>
              <a:rPr lang="en-US" err="1">
                <a:solidFill>
                  <a:schemeClr val="bg2">
                    <a:lumMod val="50000"/>
                  </a:schemeClr>
                </a:solidFill>
              </a:rPr>
              <a:t>LamellarArray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 Types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686F1A2-CBEA-F7B9-83D3-8ABCD03E005B}"/>
              </a:ext>
            </a:extLst>
          </p:cNvPr>
          <p:cNvGraphicFramePr>
            <a:graphicFrameLocks noGrp="1"/>
          </p:cNvGraphicFramePr>
          <p:nvPr/>
        </p:nvGraphicFramePr>
        <p:xfrm>
          <a:off x="3064902" y="1686159"/>
          <a:ext cx="9407930" cy="3626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">
                  <a:extLst>
                    <a:ext uri="{9D8B030D-6E8A-4147-A177-3AD203B41FA5}">
                      <a16:colId xmlns:a16="http://schemas.microsoft.com/office/drawing/2014/main" val="125100307"/>
                    </a:ext>
                  </a:extLst>
                </a:gridCol>
                <a:gridCol w="2132330">
                  <a:extLst>
                    <a:ext uri="{9D8B030D-6E8A-4147-A177-3AD203B41FA5}">
                      <a16:colId xmlns:a16="http://schemas.microsoft.com/office/drawing/2014/main" val="555537704"/>
                    </a:ext>
                  </a:extLst>
                </a:gridCol>
                <a:gridCol w="1903730">
                  <a:extLst>
                    <a:ext uri="{9D8B030D-6E8A-4147-A177-3AD203B41FA5}">
                      <a16:colId xmlns:a16="http://schemas.microsoft.com/office/drawing/2014/main" val="3311048489"/>
                    </a:ext>
                  </a:extLst>
                </a:gridCol>
                <a:gridCol w="4859806">
                  <a:extLst>
                    <a:ext uri="{9D8B030D-6E8A-4147-A177-3AD203B41FA5}">
                      <a16:colId xmlns:a16="http://schemas.microsoft.com/office/drawing/2014/main" val="554084358"/>
                    </a:ext>
                  </a:extLst>
                </a:gridCol>
              </a:tblGrid>
              <a:tr h="460888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Type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205680"/>
                  </a:ext>
                </a:extLst>
              </a:tr>
              <a:tr h="460888"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09728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err="1"/>
                        <a:t>ReadOnlyArray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610707"/>
                  </a:ext>
                </a:extLst>
              </a:tr>
              <a:tr h="500965">
                <a:tc rowSpan="2">
                  <a:txBody>
                    <a:bodyPr/>
                    <a:lstStyle/>
                    <a:p>
                      <a:r>
                        <a:rPr lang="en-US"/>
                        <a:t>Atomic</a:t>
                      </a:r>
                    </a:p>
                  </a:txBody>
                  <a:tcPr vert="vert270"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NativeArray</a:t>
                      </a:r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US"/>
                        <a:t>Element-wise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160"/>
                        <a:t>Language-based atomics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7907450"/>
                  </a:ext>
                </a:extLst>
              </a:tr>
              <a:tr h="4608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GenericArray</a:t>
                      </a:r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Mutex-based atomics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888158"/>
                  </a:ext>
                </a:extLst>
              </a:tr>
              <a:tr h="460888">
                <a:tc rowSpan="2">
                  <a:txBody>
                    <a:bodyPr/>
                    <a:lstStyle/>
                    <a:p>
                      <a:pPr algn="ctr"/>
                      <a:r>
                        <a:rPr lang="en-US"/>
                        <a:t>Lock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PE-wise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4208200"/>
                  </a:ext>
                </a:extLst>
              </a:tr>
              <a:tr h="4608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Cluster-wise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640172"/>
                  </a:ext>
                </a:extLst>
              </a:tr>
              <a:tr h="82158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UnsafeArray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For Internal use</a:t>
                      </a:r>
                      <a:br>
                        <a:rPr lang="en-US" dirty="0"/>
                      </a:br>
                      <a:r>
                        <a:rPr lang="en-US" dirty="0"/>
                        <a:t>(requires ‘unsafe’ blocks)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709148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BC2A0D59-425D-4673-DB41-9C74C0C83B0C}"/>
              </a:ext>
            </a:extLst>
          </p:cNvPr>
          <p:cNvSpPr txBox="1"/>
          <p:nvPr/>
        </p:nvSpPr>
        <p:spPr>
          <a:xfrm>
            <a:off x="1077193" y="5381072"/>
            <a:ext cx="614175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Global or local indexing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Iterators for idiomatic Rust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Sub-arrays supported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Block- or cyclic-data distribution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Operation order over indices </a:t>
            </a:r>
            <a:r>
              <a:rPr lang="en-US" sz="2000" b="1" dirty="0"/>
              <a:t>not </a:t>
            </a:r>
            <a:r>
              <a:rPr lang="en-US" sz="2000" dirty="0"/>
              <a:t>guaranteed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Safely converted at runtime. (Memory regions will have only one array type at any time.)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Built on Darcs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11D63A8B-2B14-BA1C-CB10-23BE60BE5F64}"/>
              </a:ext>
            </a:extLst>
          </p:cNvPr>
          <p:cNvGraphicFramePr>
            <a:graphicFrameLocks noGrp="1"/>
          </p:cNvGraphicFramePr>
          <p:nvPr/>
        </p:nvGraphicFramePr>
        <p:xfrm>
          <a:off x="7863839" y="5625720"/>
          <a:ext cx="6583680" cy="20116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362641023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29430987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39657585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5998552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Iterator</a:t>
                      </a:r>
                    </a:p>
                    <a:p>
                      <a:r>
                        <a:rPr lang="en-US"/>
                        <a:t>Type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Parallel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/>
                        <a:t>Data Transfer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/>
                        <a:t>Executing</a:t>
                      </a:r>
                    </a:p>
                    <a:p>
                      <a:r>
                        <a:rPr lang="en-US"/>
                        <a:t>PEs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1022425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Distributed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/>
                        <a:t>Maybe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r>
                        <a:rPr lang="en-US"/>
                        <a:t>All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3484312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263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Calling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961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29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0" y="250613"/>
            <a:ext cx="10972800" cy="1310979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LamellarArray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E4EAB-18F8-3948-8FC9-0F46F2D4CEA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255485" y="1221735"/>
            <a:ext cx="12801600" cy="5442736"/>
          </a:xfrm>
        </p:spPr>
        <p:txBody>
          <a:bodyPr/>
          <a:lstStyle/>
          <a:p>
            <a:endParaRPr lang="en-US" sz="2000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FFA4FD6-AEA0-9842-8F0C-E19909DCE298}"/>
              </a:ext>
            </a:extLst>
          </p:cNvPr>
          <p:cNvSpPr txBox="1">
            <a:spLocks/>
          </p:cNvSpPr>
          <p:nvPr/>
        </p:nvSpPr>
        <p:spPr>
          <a:xfrm>
            <a:off x="1255485" y="1221735"/>
            <a:ext cx="12801600" cy="5442736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/>
          </a:p>
          <a:p>
            <a:endParaRPr lang="en-US"/>
          </a:p>
          <a:p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B99240-5967-8441-AB0A-C723EE120554}"/>
              </a:ext>
            </a:extLst>
          </p:cNvPr>
          <p:cNvSpPr txBox="1"/>
          <p:nvPr/>
        </p:nvSpPr>
        <p:spPr>
          <a:xfrm>
            <a:off x="1042968" y="2633409"/>
            <a:ext cx="12346030" cy="535531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b="0" dirty="0" err="1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fn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main(){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//initialize lamellar</a:t>
            </a:r>
            <a:endParaRPr lang="en-US" sz="18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ll_array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LocalLockArray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::&lt;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usize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&gt;::new(team, ARRAY_LEN, Distribution::Block);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ll_array.dist_iter_mut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     .enumerate()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     .filter(|(i,_)| i % 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2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==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        .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for_each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(|(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i,e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)| *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elem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i*(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my_pe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)).block();</a:t>
            </a:r>
          </a:p>
          <a:p>
            <a:endParaRPr lang="en-US" sz="18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ro_array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Source Code Pro" panose="020B0509030403020204" pitchFamily="49" charset="0"/>
              </a:rPr>
              <a:t>l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l_array.into_read_only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idx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vec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![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1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100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32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54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];b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vals_handle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ro_array.batch_load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idx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).spawn();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>
                <a:solidFill>
                  <a:srgbClr val="008000"/>
                </a:solidFill>
                <a:effectLst/>
                <a:latin typeface="Source Code Pro" panose="020B0509030403020204" pitchFamily="49" charset="0"/>
              </a:rPr>
              <a:t>//do stuff</a:t>
            </a:r>
          </a:p>
          <a:p>
            <a:endParaRPr lang="en-US" sz="1800" b="0" dirty="0">
              <a:solidFill>
                <a:srgbClr val="008000"/>
              </a:solidFill>
              <a:effectLst/>
              <a:latin typeface="Source Code Pro" panose="020B0509030403020204" pitchFamily="49" charset="0"/>
            </a:endParaRPr>
          </a:p>
          <a:p>
            <a:endParaRPr lang="en-US" sz="1800" b="0" dirty="0">
              <a:solidFill>
                <a:srgbClr val="008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Source Code Pro" panose="020B0509030403020204" pitchFamily="49" charset="0"/>
              </a:rPr>
              <a:t> 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vals</a:t>
            </a:r>
            <a:r>
              <a:rPr lang="en-US" sz="1800" dirty="0">
                <a:solidFill>
                  <a:srgbClr val="000000"/>
                </a:solidFill>
                <a:latin typeface="Source Code Pro" panose="020B050903040302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Source Code Pro" panose="020B0509030403020204" pitchFamily="49" charset="0"/>
              </a:rPr>
              <a:t>vals_handle.block</a:t>
            </a:r>
            <a:r>
              <a:rPr lang="en-US" sz="1800" dirty="0">
                <a:solidFill>
                  <a:srgbClr val="000000"/>
                </a:solidFill>
                <a:latin typeface="Source Code Pro" panose="020B0509030403020204" pitchFamily="49" charset="0"/>
              </a:rPr>
              <a:t>();</a:t>
            </a:r>
            <a:endParaRPr lang="en-US" sz="1800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atomic_array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ro_array.into_atomic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atomic_array.add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idx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[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],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val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[</a:t>
            </a:r>
            <a:r>
              <a:rPr lang="en-US" sz="1800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0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]).block();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 </a:t>
            </a:r>
            <a:r>
              <a:rPr lang="en-US" sz="1800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let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sum = </a:t>
            </a:r>
            <a:r>
              <a:rPr lang="en-US" sz="1800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atomic_array.sum</a:t>
            </a:r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().block();</a:t>
            </a:r>
          </a:p>
          <a:p>
            <a:r>
              <a:rPr lang="en-US" sz="1800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E73133-022B-6849-B951-49575BEA5094}"/>
              </a:ext>
            </a:extLst>
          </p:cNvPr>
          <p:cNvSpPr/>
          <p:nvPr/>
        </p:nvSpPr>
        <p:spPr>
          <a:xfrm>
            <a:off x="8094129" y="3219490"/>
            <a:ext cx="1185342" cy="251252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ADB3B9F-4245-AA49-8BD7-3FEB49CA01C0}"/>
              </a:ext>
            </a:extLst>
          </p:cNvPr>
          <p:cNvCxnSpPr>
            <a:cxnSpLocks/>
          </p:cNvCxnSpPr>
          <p:nvPr/>
        </p:nvCxnSpPr>
        <p:spPr>
          <a:xfrm>
            <a:off x="5849970" y="2656449"/>
            <a:ext cx="1292087" cy="40333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9F558459-5FDD-A348-8FCE-8362800474F6}"/>
              </a:ext>
            </a:extLst>
          </p:cNvPr>
          <p:cNvSpPr/>
          <p:nvPr/>
        </p:nvSpPr>
        <p:spPr>
          <a:xfrm>
            <a:off x="7892114" y="2062871"/>
            <a:ext cx="2037156" cy="32872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Global length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5259C37-0322-A94D-88B9-9B3DCCF36CC0}"/>
              </a:ext>
            </a:extLst>
          </p:cNvPr>
          <p:cNvCxnSpPr>
            <a:cxnSpLocks/>
          </p:cNvCxnSpPr>
          <p:nvPr/>
        </p:nvCxnSpPr>
        <p:spPr>
          <a:xfrm flipH="1">
            <a:off x="12142362" y="2703619"/>
            <a:ext cx="770624" cy="299049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794AB81D-59B4-4C40-95AD-EC0024CF19E8}"/>
              </a:ext>
            </a:extLst>
          </p:cNvPr>
          <p:cNvSpPr/>
          <p:nvPr/>
        </p:nvSpPr>
        <p:spPr>
          <a:xfrm>
            <a:off x="11034227" y="1987930"/>
            <a:ext cx="2651851" cy="63976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Currently also support “Cyclic”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C85AAF-C10B-D243-B82D-90BC856B8BC0}"/>
              </a:ext>
            </a:extLst>
          </p:cNvPr>
          <p:cNvSpPr/>
          <p:nvPr/>
        </p:nvSpPr>
        <p:spPr>
          <a:xfrm>
            <a:off x="11499481" y="3182049"/>
            <a:ext cx="674120" cy="288693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A66F3E-2E09-1944-B14F-6ECF72DEB489}"/>
              </a:ext>
            </a:extLst>
          </p:cNvPr>
          <p:cNvCxnSpPr>
            <a:cxnSpLocks/>
          </p:cNvCxnSpPr>
          <p:nvPr/>
        </p:nvCxnSpPr>
        <p:spPr>
          <a:xfrm>
            <a:off x="8323759" y="2519463"/>
            <a:ext cx="0" cy="540324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F5154B19-0036-FF4E-BEF7-F527FF8AC932}"/>
              </a:ext>
            </a:extLst>
          </p:cNvPr>
          <p:cNvSpPr/>
          <p:nvPr/>
        </p:nvSpPr>
        <p:spPr>
          <a:xfrm>
            <a:off x="7297972" y="3189095"/>
            <a:ext cx="577707" cy="282480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E9A3DF-0AA4-1547-8C63-09619E3729EA}"/>
              </a:ext>
            </a:extLst>
          </p:cNvPr>
          <p:cNvSpPr/>
          <p:nvPr/>
        </p:nvSpPr>
        <p:spPr>
          <a:xfrm>
            <a:off x="1068142" y="1991340"/>
            <a:ext cx="5083834" cy="57596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 of pes the data should exist 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A0C7D6-9902-5940-8DFE-7930B61E5252}"/>
              </a:ext>
            </a:extLst>
          </p:cNvPr>
          <p:cNvSpPr/>
          <p:nvPr/>
        </p:nvSpPr>
        <p:spPr>
          <a:xfrm>
            <a:off x="6445268" y="3502747"/>
            <a:ext cx="4616050" cy="55407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Mutable data parallel iteration (safety managed by array type)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4CBAD9-5E88-C24F-ACC1-B8093E28FBE3}"/>
              </a:ext>
            </a:extLst>
          </p:cNvPr>
          <p:cNvSpPr/>
          <p:nvPr/>
        </p:nvSpPr>
        <p:spPr>
          <a:xfrm>
            <a:off x="7441283" y="5807831"/>
            <a:ext cx="5683355" cy="8467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Each array “into” call is collective and blocks until there is only a single reference to the array on each PE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E2D3B0C-2F1D-344A-B78A-2E73C0FD5092}"/>
              </a:ext>
            </a:extLst>
          </p:cNvPr>
          <p:cNvCxnSpPr>
            <a:cxnSpLocks/>
          </p:cNvCxnSpPr>
          <p:nvPr/>
        </p:nvCxnSpPr>
        <p:spPr>
          <a:xfrm flipV="1">
            <a:off x="8235800" y="5350751"/>
            <a:ext cx="350988" cy="202168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E6910FE-F25E-AC42-B29B-4561604B2A92}"/>
              </a:ext>
            </a:extLst>
          </p:cNvPr>
          <p:cNvSpPr/>
          <p:nvPr/>
        </p:nvSpPr>
        <p:spPr>
          <a:xfrm>
            <a:off x="4536353" y="4894201"/>
            <a:ext cx="2206616" cy="243807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AF0F2E3-AC14-D741-92F9-7F82D349A261}"/>
              </a:ext>
            </a:extLst>
          </p:cNvPr>
          <p:cNvSpPr/>
          <p:nvPr/>
        </p:nvSpPr>
        <p:spPr>
          <a:xfrm>
            <a:off x="5117625" y="6802989"/>
            <a:ext cx="1764238" cy="282787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7F2709B-B35B-4B48-8911-095FC0ACF79F}"/>
              </a:ext>
            </a:extLst>
          </p:cNvPr>
          <p:cNvCxnSpPr>
            <a:cxnSpLocks/>
          </p:cNvCxnSpPr>
          <p:nvPr/>
        </p:nvCxnSpPr>
        <p:spPr>
          <a:xfrm flipV="1">
            <a:off x="6995585" y="6616500"/>
            <a:ext cx="425535" cy="28066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A77B0BBB-9D0A-B545-B6F2-E21E9ECE4DF9}"/>
              </a:ext>
            </a:extLst>
          </p:cNvPr>
          <p:cNvSpPr/>
          <p:nvPr/>
        </p:nvSpPr>
        <p:spPr>
          <a:xfrm>
            <a:off x="8235800" y="6720649"/>
            <a:ext cx="5487242" cy="8748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It is not possible to have two different Array Types referencing the same underlying data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0CE13CB-67D7-5F45-9EBA-21D04CE54CA8}"/>
              </a:ext>
            </a:extLst>
          </p:cNvPr>
          <p:cNvCxnSpPr>
            <a:cxnSpLocks/>
          </p:cNvCxnSpPr>
          <p:nvPr/>
        </p:nvCxnSpPr>
        <p:spPr>
          <a:xfrm>
            <a:off x="4759343" y="3660825"/>
            <a:ext cx="1627694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5A6455E-B191-BC9E-6B21-431C1589FCB3}"/>
              </a:ext>
            </a:extLst>
          </p:cNvPr>
          <p:cNvSpPr/>
          <p:nvPr/>
        </p:nvSpPr>
        <p:spPr>
          <a:xfrm>
            <a:off x="2494303" y="3488820"/>
            <a:ext cx="2077697" cy="282480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8A2064-E021-370A-A455-A372371FCE86}"/>
              </a:ext>
            </a:extLst>
          </p:cNvPr>
          <p:cNvSpPr/>
          <p:nvPr/>
        </p:nvSpPr>
        <p:spPr>
          <a:xfrm>
            <a:off x="7401968" y="4307046"/>
            <a:ext cx="921791" cy="282480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064CD4C-A06E-0A79-DE98-44B052D26C2E}"/>
              </a:ext>
            </a:extLst>
          </p:cNvPr>
          <p:cNvCxnSpPr>
            <a:cxnSpLocks/>
          </p:cNvCxnSpPr>
          <p:nvPr/>
        </p:nvCxnSpPr>
        <p:spPr>
          <a:xfrm>
            <a:off x="8525970" y="4502404"/>
            <a:ext cx="843573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CFC0F6F-9513-E746-B135-414C77E03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F05B07-F7AA-D061-4930-F42A36CECAB6}"/>
              </a:ext>
            </a:extLst>
          </p:cNvPr>
          <p:cNvSpPr/>
          <p:nvPr/>
        </p:nvSpPr>
        <p:spPr>
          <a:xfrm>
            <a:off x="2647709" y="5797571"/>
            <a:ext cx="3987843" cy="69275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Supports single and batched element-wise operations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B8D1D95-3CB1-1D3C-E9A6-F1B489E51B51}"/>
              </a:ext>
            </a:extLst>
          </p:cNvPr>
          <p:cNvSpPr/>
          <p:nvPr/>
        </p:nvSpPr>
        <p:spPr>
          <a:xfrm>
            <a:off x="3060091" y="7084528"/>
            <a:ext cx="419287" cy="282787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C23FDFD-AA65-5680-D73E-738BE9BBEED9}"/>
              </a:ext>
            </a:extLst>
          </p:cNvPr>
          <p:cNvSpPr/>
          <p:nvPr/>
        </p:nvSpPr>
        <p:spPr>
          <a:xfrm>
            <a:off x="4942730" y="5418123"/>
            <a:ext cx="1372609" cy="282787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470A080-B5B3-0D22-A4C3-223A3E074FD1}"/>
              </a:ext>
            </a:extLst>
          </p:cNvPr>
          <p:cNvCxnSpPr>
            <a:cxnSpLocks/>
          </p:cNvCxnSpPr>
          <p:nvPr/>
        </p:nvCxnSpPr>
        <p:spPr>
          <a:xfrm flipH="1">
            <a:off x="5470821" y="5707532"/>
            <a:ext cx="81386" cy="27455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26DACB3B-DBA1-11CE-BF62-4465D542C664}"/>
              </a:ext>
            </a:extLst>
          </p:cNvPr>
          <p:cNvCxnSpPr>
            <a:cxnSpLocks/>
          </p:cNvCxnSpPr>
          <p:nvPr/>
        </p:nvCxnSpPr>
        <p:spPr>
          <a:xfrm flipV="1">
            <a:off x="3695700" y="6377495"/>
            <a:ext cx="126010" cy="202865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7563B11C-F8A6-FABC-D084-538F1C6D7216}"/>
              </a:ext>
            </a:extLst>
          </p:cNvPr>
          <p:cNvCxnSpPr>
            <a:cxnSpLocks/>
          </p:cNvCxnSpPr>
          <p:nvPr/>
        </p:nvCxnSpPr>
        <p:spPr>
          <a:xfrm flipV="1">
            <a:off x="3391841" y="6580360"/>
            <a:ext cx="303859" cy="495348"/>
          </a:xfrm>
          <a:prstGeom prst="straightConnector1">
            <a:avLst/>
          </a:prstGeom>
          <a:ln w="63500">
            <a:solidFill>
              <a:schemeClr val="accent1">
                <a:alpha val="46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Left Brace 54">
            <a:extLst>
              <a:ext uri="{FF2B5EF4-FFF2-40B4-BE49-F238E27FC236}">
                <a16:creationId xmlns:a16="http://schemas.microsoft.com/office/drawing/2014/main" id="{9858B1B3-8AAD-8D80-AB9B-DFABF89522F3}"/>
              </a:ext>
            </a:extLst>
          </p:cNvPr>
          <p:cNvSpPr/>
          <p:nvPr/>
        </p:nvSpPr>
        <p:spPr>
          <a:xfrm>
            <a:off x="2232515" y="3877857"/>
            <a:ext cx="123567" cy="751120"/>
          </a:xfrm>
          <a:prstGeom prst="leftBrac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F13245B-C52E-42EE-E477-6EC52E5F1B14}"/>
              </a:ext>
            </a:extLst>
          </p:cNvPr>
          <p:cNvSpPr/>
          <p:nvPr/>
        </p:nvSpPr>
        <p:spPr>
          <a:xfrm>
            <a:off x="476445" y="3837712"/>
            <a:ext cx="1635931" cy="83141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Composable iteration functions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C4690CC-42EF-B501-9F5F-DAD6DD830434}"/>
              </a:ext>
            </a:extLst>
          </p:cNvPr>
          <p:cNvSpPr/>
          <p:nvPr/>
        </p:nvSpPr>
        <p:spPr>
          <a:xfrm>
            <a:off x="9596119" y="4167674"/>
            <a:ext cx="3991313" cy="54159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Block thread until distributed op is completed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ED792E-1273-9CAE-DF4C-0DAA7A4C7E1F}"/>
              </a:ext>
            </a:extLst>
          </p:cNvPr>
          <p:cNvSpPr/>
          <p:nvPr/>
        </p:nvSpPr>
        <p:spPr>
          <a:xfrm>
            <a:off x="7142057" y="5411679"/>
            <a:ext cx="921791" cy="282480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5A679474-AAF1-7B1A-0519-11C0616378D5}"/>
              </a:ext>
            </a:extLst>
          </p:cNvPr>
          <p:cNvSpPr/>
          <p:nvPr/>
        </p:nvSpPr>
        <p:spPr>
          <a:xfrm>
            <a:off x="8650145" y="4782584"/>
            <a:ext cx="3175370" cy="56567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spawn distributed op to worker thread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27B0504-57BF-B46A-5415-4062438219F4}"/>
              </a:ext>
            </a:extLst>
          </p:cNvPr>
          <p:cNvCxnSpPr>
            <a:cxnSpLocks/>
          </p:cNvCxnSpPr>
          <p:nvPr/>
        </p:nvCxnSpPr>
        <p:spPr>
          <a:xfrm>
            <a:off x="6421296" y="5158513"/>
            <a:ext cx="511860" cy="618400"/>
          </a:xfrm>
          <a:prstGeom prst="straightConnector1">
            <a:avLst/>
          </a:prstGeom>
          <a:ln w="63500">
            <a:solidFill>
              <a:schemeClr val="accent1">
                <a:alpha val="46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E8838138-48A2-538A-CE2F-6D845F1ABB7B}"/>
              </a:ext>
            </a:extLst>
          </p:cNvPr>
          <p:cNvCxnSpPr>
            <a:cxnSpLocks/>
          </p:cNvCxnSpPr>
          <p:nvPr/>
        </p:nvCxnSpPr>
        <p:spPr>
          <a:xfrm>
            <a:off x="6421296" y="5155536"/>
            <a:ext cx="184292" cy="224289"/>
          </a:xfrm>
          <a:prstGeom prst="straightConnector1">
            <a:avLst/>
          </a:prstGeom>
          <a:ln w="635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BDF02AD2-17F8-042C-1252-2633B1959A51}"/>
              </a:ext>
            </a:extLst>
          </p:cNvPr>
          <p:cNvSpPr/>
          <p:nvPr/>
        </p:nvSpPr>
        <p:spPr>
          <a:xfrm>
            <a:off x="4381500" y="7360798"/>
            <a:ext cx="469773" cy="274795"/>
          </a:xfrm>
          <a:prstGeom prst="rect">
            <a:avLst/>
          </a:prstGeom>
          <a:noFill/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BAFB69CB-B2A2-943C-26B3-EEC7D808A594}"/>
              </a:ext>
            </a:extLst>
          </p:cNvPr>
          <p:cNvSpPr/>
          <p:nvPr/>
        </p:nvSpPr>
        <p:spPr>
          <a:xfrm>
            <a:off x="2647709" y="7923523"/>
            <a:ext cx="6216854" cy="24859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Supports common and user-defined reductions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EF86882-CC54-79AE-1B0E-E6FDAE2C6FAB}"/>
              </a:ext>
            </a:extLst>
          </p:cNvPr>
          <p:cNvCxnSpPr>
            <a:cxnSpLocks/>
          </p:cNvCxnSpPr>
          <p:nvPr/>
        </p:nvCxnSpPr>
        <p:spPr>
          <a:xfrm>
            <a:off x="4851273" y="7625540"/>
            <a:ext cx="156067" cy="307107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D97E1FA-95D1-4E0E-BD00-09657426AF4A}"/>
              </a:ext>
            </a:extLst>
          </p:cNvPr>
          <p:cNvCxnSpPr>
            <a:cxnSpLocks/>
          </p:cNvCxnSpPr>
          <p:nvPr/>
        </p:nvCxnSpPr>
        <p:spPr>
          <a:xfrm>
            <a:off x="6960738" y="5786349"/>
            <a:ext cx="482674" cy="17708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038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2" grpId="0" animBg="1"/>
      <p:bldP spid="23" grpId="0" animBg="1"/>
      <p:bldP spid="25" grpId="0" animBg="1"/>
      <p:bldP spid="38" grpId="0" animBg="1"/>
      <p:bldP spid="45" grpId="0" animBg="1"/>
      <p:bldP spid="7" grpId="0" animBg="1"/>
      <p:bldP spid="36" grpId="0" animBg="1"/>
      <p:bldP spid="29" grpId="0" animBg="1"/>
      <p:bldP spid="30" grpId="0" animBg="1"/>
      <p:bldP spid="31" grpId="0" animBg="1"/>
      <p:bldP spid="55" grpId="0" animBg="1"/>
      <p:bldP spid="56" grpId="0" animBg="1"/>
      <p:bldP spid="57" grpId="0" animBg="1"/>
      <p:bldP spid="60" grpId="0" animBg="1"/>
      <p:bldP spid="61" grpId="0" animBg="1"/>
      <p:bldP spid="85" grpId="0" animBg="1"/>
      <p:bldP spid="8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Element Wise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E4EAB-18F8-3948-8FC9-0F46F2D4CEA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1744249"/>
            <a:ext cx="12801600" cy="5442736"/>
          </a:xfrm>
        </p:spPr>
        <p:txBody>
          <a:bodyPr/>
          <a:lstStyle/>
          <a:p>
            <a:endParaRPr lang="en-US" sz="2000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D6777A-CD7A-41C6-AB26-D4D4CF7A782F}"/>
              </a:ext>
            </a:extLst>
          </p:cNvPr>
          <p:cNvSpPr txBox="1">
            <a:spLocks/>
          </p:cNvSpPr>
          <p:nvPr/>
        </p:nvSpPr>
        <p:spPr>
          <a:xfrm>
            <a:off x="1096024" y="1581912"/>
            <a:ext cx="13480980" cy="4580349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Each “class” of operations is represented by a </a:t>
            </a:r>
            <a:r>
              <a:rPr lang="en-US" dirty="0" err="1"/>
              <a:t>Supertrait</a:t>
            </a:r>
            <a:r>
              <a:rPr lang="en-US" dirty="0"/>
              <a:t>, containing numerous sub-traits “T” must implement to support the class</a:t>
            </a:r>
          </a:p>
          <a:p>
            <a:pPr lvl="1"/>
            <a:r>
              <a:rPr lang="en-US" dirty="0" err="1"/>
              <a:t>AccessOps</a:t>
            </a:r>
            <a:r>
              <a:rPr lang="en-US" dirty="0"/>
              <a:t>: </a:t>
            </a:r>
            <a:r>
              <a:rPr lang="en-US" dirty="0" err="1"/>
              <a:t>Dist</a:t>
            </a:r>
            <a:endParaRPr lang="en-US" dirty="0"/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store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</a:t>
            </a:r>
            <a:r>
              <a:rPr lang="en-US" dirty="0" err="1">
                <a:latin typeface="Consolas" panose="020B0609020204030204" pitchFamily="49" charset="0"/>
              </a:rPr>
              <a:t>ArrayOpHandle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swap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</a:t>
            </a:r>
            <a:r>
              <a:rPr lang="en-US" dirty="0" err="1">
                <a:latin typeface="Consolas" panose="020B0609020204030204" pitchFamily="49" charset="0"/>
              </a:rPr>
              <a:t>ArrayOpHandle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/>
              <a:t>ReadOnlyOps</a:t>
            </a:r>
            <a:r>
              <a:rPr lang="en-US" dirty="0"/>
              <a:t>: </a:t>
            </a:r>
            <a:r>
              <a:rPr lang="en-US" dirty="0" err="1"/>
              <a:t>Dist</a:t>
            </a:r>
            <a:endParaRPr lang="en-US" dirty="0"/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load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) -&gt; </a:t>
            </a:r>
            <a:r>
              <a:rPr lang="en-US" dirty="0" err="1">
                <a:latin typeface="Consolas" panose="020B0609020204030204" pitchFamily="49" charset="0"/>
              </a:rPr>
              <a:t>ArrayFetchOpHandle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/>
              <a:t>ArithmeticOps</a:t>
            </a:r>
            <a:r>
              <a:rPr lang="en-US" dirty="0"/>
              <a:t>: </a:t>
            </a:r>
            <a:r>
              <a:rPr lang="en-US" dirty="0" err="1"/>
              <a:t>Dist</a:t>
            </a:r>
            <a:r>
              <a:rPr lang="en-US" dirty="0"/>
              <a:t> + std::ops::{</a:t>
            </a:r>
            <a:r>
              <a:rPr lang="en-US" dirty="0" err="1"/>
              <a:t>AddAssign</a:t>
            </a:r>
            <a:r>
              <a:rPr lang="en-US" dirty="0"/>
              <a:t>, </a:t>
            </a:r>
            <a:r>
              <a:rPr lang="en-US" dirty="0" err="1"/>
              <a:t>SubAssign</a:t>
            </a:r>
            <a:r>
              <a:rPr lang="en-US" dirty="0"/>
              <a:t>, </a:t>
            </a:r>
            <a:r>
              <a:rPr lang="en-US" dirty="0" err="1"/>
              <a:t>MulAssign</a:t>
            </a:r>
            <a:r>
              <a:rPr lang="en-US" dirty="0"/>
              <a:t>, </a:t>
            </a:r>
            <a:r>
              <a:rPr lang="en-US" dirty="0" err="1"/>
              <a:t>DivAssign</a:t>
            </a:r>
            <a:r>
              <a:rPr lang="en-US" dirty="0"/>
              <a:t>, </a:t>
            </a:r>
            <a:r>
              <a:rPr lang="en-US" dirty="0" err="1"/>
              <a:t>RemAssign</a:t>
            </a:r>
            <a:r>
              <a:rPr lang="en-US" dirty="0"/>
              <a:t>}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add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fetch_add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sub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fetch_sub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r>
              <a:rPr lang="en-US" b="1" dirty="0" err="1">
                <a:latin typeface="Consolas" panose="020B0609020204030204" pitchFamily="49" charset="0"/>
              </a:rPr>
              <a:t>mul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fetch_mul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div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fetch_div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rem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fetch_rem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endParaRPr lang="en-US" dirty="0">
              <a:latin typeface="Consolas" panose="020B0609020204030204" pitchFamily="49" charset="0"/>
            </a:endParaRPr>
          </a:p>
          <a:p>
            <a:pPr lvl="1"/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85C536-995F-4CB8-972B-CF84758BC9D6}"/>
              </a:ext>
            </a:extLst>
          </p:cNvPr>
          <p:cNvSpPr/>
          <p:nvPr/>
        </p:nvSpPr>
        <p:spPr>
          <a:xfrm>
            <a:off x="10100371" y="2111980"/>
            <a:ext cx="3434005" cy="7809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Dist</a:t>
            </a:r>
            <a:r>
              <a:rPr lang="en-US" dirty="0"/>
              <a:t>: </a:t>
            </a:r>
            <a:r>
              <a:rPr lang="pt-BR" dirty="0"/>
              <a:t>Sync + Send + Copy + Serialize + Deserialize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D0BD41F-7EEB-B6BB-2D9C-4415C093CC9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92074A6-3BDF-434F-B2A8-C02AC28E364F}" type="datetime1">
              <a:rPr lang="en-US" smtClean="0"/>
              <a:t>6/16/2025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BAE300C-CB6C-586A-7AC9-0F231054F1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0624B3-BCFB-B467-1BF7-020CEB769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8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399" y="270933"/>
            <a:ext cx="11036207" cy="1310979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Element Wise Operations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E4EAB-18F8-3948-8FC9-0F46F2D4CEA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1744249"/>
            <a:ext cx="12801600" cy="5442736"/>
          </a:xfrm>
        </p:spPr>
        <p:txBody>
          <a:bodyPr/>
          <a:lstStyle/>
          <a:p>
            <a:endParaRPr lang="en-US" sz="2000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D6777A-CD7A-41C6-AB26-D4D4CF7A782F}"/>
              </a:ext>
            </a:extLst>
          </p:cNvPr>
          <p:cNvSpPr txBox="1">
            <a:spLocks/>
          </p:cNvSpPr>
          <p:nvPr/>
        </p:nvSpPr>
        <p:spPr>
          <a:xfrm>
            <a:off x="829045" y="1535191"/>
            <a:ext cx="13618473" cy="4580349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US" dirty="0" err="1"/>
              <a:t>BitWiseOps</a:t>
            </a:r>
            <a:r>
              <a:rPr lang="en-US" dirty="0"/>
              <a:t>: </a:t>
            </a:r>
            <a:r>
              <a:rPr lang="en-US" dirty="0" err="1"/>
              <a:t>Dist</a:t>
            </a:r>
            <a:r>
              <a:rPr lang="en-US" dirty="0"/>
              <a:t> + std::ops::{</a:t>
            </a:r>
            <a:r>
              <a:rPr lang="en-US" dirty="0" err="1"/>
              <a:t>BitAndAssign,BitOrAssign,BitXorAssign</a:t>
            </a:r>
            <a:r>
              <a:rPr lang="en-US" dirty="0"/>
              <a:t>}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and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fetch_and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r>
              <a:rPr lang="en-US" b="1" dirty="0">
                <a:latin typeface="Consolas" panose="020B0609020204030204" pitchFamily="49" charset="0"/>
              </a:rPr>
              <a:t>or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fetch_or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r>
              <a:rPr lang="en-US" b="1" dirty="0" err="1">
                <a:latin typeface="Consolas" panose="020B0609020204030204" pitchFamily="49" charset="0"/>
              </a:rPr>
              <a:t>xor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fetch_xor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1"/>
            <a:r>
              <a:rPr lang="en-US" dirty="0" err="1"/>
              <a:t>CompareExchangeOps</a:t>
            </a:r>
            <a:r>
              <a:rPr lang="en-US" dirty="0"/>
              <a:t>: </a:t>
            </a:r>
            <a:r>
              <a:rPr lang="en-US" dirty="0" err="1"/>
              <a:t>Dist</a:t>
            </a:r>
            <a:r>
              <a:rPr lang="en-US" dirty="0"/>
              <a:t> + std::</a:t>
            </a:r>
            <a:r>
              <a:rPr lang="en-US" dirty="0" err="1"/>
              <a:t>cmp</a:t>
            </a:r>
            <a:r>
              <a:rPr lang="en-US" dirty="0"/>
              <a:t>::{Eq}</a:t>
            </a:r>
          </a:p>
          <a:p>
            <a:pPr lvl="2"/>
            <a:r>
              <a:rPr lang="en-US" b="1" dirty="0" err="1">
                <a:latin typeface="Consolas" panose="020B0609020204030204" pitchFamily="49" charset="0"/>
              </a:rPr>
              <a:t>compare_exchange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old: T, new: T) -&gt; </a:t>
            </a:r>
            <a:r>
              <a:rPr lang="en-US" dirty="0" err="1">
                <a:latin typeface="Consolas" panose="020B0609020204030204" pitchFamily="49" charset="0"/>
              </a:rPr>
              <a:t>ArrayResultOpHandle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/>
              <a:t>CompareExchangeEpsilonOps</a:t>
            </a:r>
            <a:r>
              <a:rPr lang="en-US" dirty="0"/>
              <a:t>: </a:t>
            </a:r>
            <a:r>
              <a:rPr lang="en-US" dirty="0" err="1"/>
              <a:t>Dist</a:t>
            </a:r>
            <a:r>
              <a:rPr lang="en-US" dirty="0"/>
              <a:t> + std::</a:t>
            </a:r>
            <a:r>
              <a:rPr lang="en-US" dirty="0" err="1"/>
              <a:t>cmp</a:t>
            </a:r>
            <a:r>
              <a:rPr lang="en-US" dirty="0"/>
              <a:t>::{</a:t>
            </a:r>
            <a:r>
              <a:rPr lang="en-US" dirty="0" err="1"/>
              <a:t>PartialEq,PartialOrd</a:t>
            </a:r>
            <a:r>
              <a:rPr lang="en-US" dirty="0"/>
              <a:t>}</a:t>
            </a:r>
            <a:endParaRPr lang="en-US" dirty="0">
              <a:latin typeface="Consolas" panose="020B0609020204030204" pitchFamily="49" charset="0"/>
            </a:endParaRPr>
          </a:p>
          <a:p>
            <a:pPr lvl="2"/>
            <a:r>
              <a:rPr lang="en-US" b="1" dirty="0" err="1">
                <a:latin typeface="Consolas" panose="020B0609020204030204" pitchFamily="49" charset="0"/>
              </a:rPr>
              <a:t>compare_exchange_epsilon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old: T, new: T, eps: T) -&gt; </a:t>
            </a:r>
            <a:r>
              <a:rPr lang="en-US" dirty="0" err="1">
                <a:latin typeface="Consolas" panose="020B0609020204030204" pitchFamily="49" charset="0"/>
              </a:rPr>
              <a:t>ArrayResultOpHandle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 err="1"/>
              <a:t>ShiftOps</a:t>
            </a:r>
            <a:r>
              <a:rPr lang="en-US" dirty="0"/>
              <a:t>: </a:t>
            </a:r>
            <a:r>
              <a:rPr lang="en-US" dirty="0" err="1"/>
              <a:t>Dist</a:t>
            </a:r>
            <a:r>
              <a:rPr lang="en-US" dirty="0"/>
              <a:t> + std::ops::{</a:t>
            </a:r>
            <a:r>
              <a:rPr lang="en-US" dirty="0" err="1"/>
              <a:t>ShlAssign,ShrAssign</a:t>
            </a:r>
            <a:r>
              <a:rPr lang="en-US" dirty="0"/>
              <a:t>}</a:t>
            </a:r>
          </a:p>
          <a:p>
            <a:pPr lvl="2"/>
            <a:r>
              <a:rPr lang="en-US" b="1" dirty="0" err="1">
                <a:latin typeface="Consolas" panose="020B0609020204030204" pitchFamily="49" charset="0"/>
              </a:rPr>
              <a:t>shl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fetch_shl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</a:p>
          <a:p>
            <a:pPr lvl="2"/>
            <a:r>
              <a:rPr lang="en-US" b="1" dirty="0" err="1">
                <a:latin typeface="Consolas" panose="020B0609020204030204" pitchFamily="49" charset="0"/>
              </a:rPr>
              <a:t>shr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/ </a:t>
            </a:r>
            <a:r>
              <a:rPr lang="en-US" b="1" dirty="0" err="1">
                <a:latin typeface="Consolas" panose="020B0609020204030204" pitchFamily="49" charset="0"/>
              </a:rPr>
              <a:t>fetch_shr</a:t>
            </a:r>
            <a:r>
              <a:rPr lang="en-US" dirty="0">
                <a:latin typeface="Consolas" panose="020B0609020204030204" pitchFamily="49" charset="0"/>
              </a:rPr>
              <a:t>(i: </a:t>
            </a:r>
            <a:r>
              <a:rPr lang="en-US" dirty="0" err="1">
                <a:latin typeface="Consolas" panose="020B0609020204030204" pitchFamily="49" charset="0"/>
              </a:rPr>
              <a:t>usize</a:t>
            </a:r>
            <a:r>
              <a:rPr lang="en-US" dirty="0">
                <a:latin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</a:rPr>
              <a:t>val</a:t>
            </a:r>
            <a:r>
              <a:rPr lang="en-US" dirty="0">
                <a:latin typeface="Consolas" panose="020B0609020204030204" pitchFamily="49" charset="0"/>
              </a:rPr>
              <a:t>: T) -&gt; Array[Fetch]</a:t>
            </a:r>
            <a:r>
              <a:rPr lang="en-US" dirty="0" err="1">
                <a:latin typeface="Consolas" panose="020B0609020204030204" pitchFamily="49" charset="0"/>
              </a:rPr>
              <a:t>OpHandle</a:t>
            </a:r>
            <a:r>
              <a:rPr lang="en-US" dirty="0">
                <a:latin typeface="Consolas" panose="020B0609020204030204" pitchFamily="49" charset="0"/>
              </a:rPr>
              <a:t>&lt;T&gt;</a:t>
            </a:r>
            <a:endParaRPr lang="en-US" sz="24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marL="1097280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58F9B-62F2-AB76-BF7F-84D701A34A3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58A6CD-3328-4B81-A6BC-FD9B1F489672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7B965-298E-1C5F-F560-C565C28E3D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65A9B-70F9-1525-49D0-D1050EFF2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7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Batched Element Wise Operations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E4EAB-18F8-3948-8FC9-0F46F2D4CEA9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1371600" y="1744249"/>
            <a:ext cx="12801600" cy="5442736"/>
          </a:xfrm>
        </p:spPr>
        <p:txBody>
          <a:bodyPr/>
          <a:lstStyle/>
          <a:p>
            <a:endParaRPr lang="en-US" sz="2000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D6777A-CD7A-41C6-AB26-D4D4CF7A782F}"/>
              </a:ext>
            </a:extLst>
          </p:cNvPr>
          <p:cNvSpPr txBox="1">
            <a:spLocks/>
          </p:cNvSpPr>
          <p:nvPr/>
        </p:nvSpPr>
        <p:spPr>
          <a:xfrm>
            <a:off x="1149420" y="1581911"/>
            <a:ext cx="13480980" cy="4580349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We have also support batched operations with their own API</a:t>
            </a:r>
          </a:p>
          <a:p>
            <a:pPr lvl="1"/>
            <a:r>
              <a:rPr lang="en-US" sz="2000" b="1" dirty="0">
                <a:latin typeface="Consolas" panose="020B0609020204030204" pitchFamily="49" charset="0"/>
              </a:rPr>
              <a:t>batch_*</a:t>
            </a:r>
            <a:r>
              <a:rPr lang="en-US" sz="2000" b="1" dirty="0" err="1">
                <a:latin typeface="Consolas" panose="020B0609020204030204" pitchFamily="49" charset="0"/>
              </a:rPr>
              <a:t>array_op</a:t>
            </a:r>
            <a:r>
              <a:rPr lang="en-US" sz="2000" b="1" dirty="0">
                <a:latin typeface="Consolas" panose="020B0609020204030204" pitchFamily="49" charset="0"/>
              </a:rPr>
              <a:t>*</a:t>
            </a:r>
            <a:r>
              <a:rPr lang="en-US" sz="2000" dirty="0">
                <a:latin typeface="Consolas" panose="020B0609020204030204" pitchFamily="49" charset="0"/>
              </a:rPr>
              <a:t>(i: </a:t>
            </a:r>
            <a:r>
              <a:rPr lang="en-US" sz="2000" dirty="0" err="1">
                <a:latin typeface="Consolas" panose="020B0609020204030204" pitchFamily="49" charset="0"/>
              </a:rPr>
              <a:t>impl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OpIndex</a:t>
            </a:r>
            <a:r>
              <a:rPr lang="en-US" sz="2000" dirty="0">
                <a:latin typeface="Consolas" panose="020B0609020204030204" pitchFamily="49" charset="0"/>
              </a:rPr>
              <a:t>, …) -&gt; </a:t>
            </a:r>
            <a:r>
              <a:rPr lang="en-US" sz="2000" dirty="0" err="1">
                <a:latin typeface="Consolas" panose="020B0609020204030204" pitchFamily="49" charset="0"/>
              </a:rPr>
              <a:t>ArrayBatch</a:t>
            </a:r>
            <a:r>
              <a:rPr lang="en-US" sz="2000" dirty="0">
                <a:latin typeface="Consolas" panose="020B0609020204030204" pitchFamily="49" charset="0"/>
              </a:rPr>
              <a:t>[Fetch]</a:t>
            </a:r>
            <a:r>
              <a:rPr lang="en-US" sz="2000" dirty="0" err="1">
                <a:latin typeface="Consolas" panose="020B0609020204030204" pitchFamily="49" charset="0"/>
              </a:rPr>
              <a:t>OpHandle</a:t>
            </a:r>
            <a:r>
              <a:rPr lang="en-US" sz="2000" dirty="0">
                <a:latin typeface="Consolas" panose="020B0609020204030204" pitchFamily="49" charset="0"/>
              </a:rPr>
              <a:t>&lt;T&gt;</a:t>
            </a:r>
          </a:p>
          <a:p>
            <a:r>
              <a:rPr lang="en-US" dirty="0" err="1">
                <a:latin typeface="Consolas" panose="020B0609020204030204" pitchFamily="49" charset="0"/>
              </a:rPr>
              <a:t>OpIndex</a:t>
            </a:r>
            <a:r>
              <a:rPr lang="en-US" dirty="0"/>
              <a:t> trait represents list like data structures – i.e. a list of indices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&amp;[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]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</a:rPr>
              <a:t>Vec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&gt; , &amp;</a:t>
            </a:r>
            <a:r>
              <a:rPr lang="en-US" sz="2000" dirty="0" err="1">
                <a:latin typeface="Consolas" panose="020B0609020204030204" pitchFamily="49" charset="0"/>
              </a:rPr>
              <a:t>Vec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LamellarMemoryRegion&lt;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&gt;, &amp;LamellarMemoryRegion&lt;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</a:rPr>
              <a:t>UnsafeArray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&gt;, </a:t>
            </a:r>
            <a:r>
              <a:rPr lang="en-US" sz="2000" dirty="0" err="1">
                <a:latin typeface="Consolas" panose="020B0609020204030204" pitchFamily="49" charset="0"/>
              </a:rPr>
              <a:t>ReadOnlyArray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&gt;, </a:t>
            </a:r>
            <a:br>
              <a:rPr lang="en-US" sz="2000" dirty="0">
                <a:latin typeface="Consolas" panose="020B0609020204030204" pitchFamily="49" charset="0"/>
              </a:rPr>
            </a:br>
            <a:r>
              <a:rPr lang="en-US" sz="2000" dirty="0" err="1">
                <a:latin typeface="Consolas" panose="020B0609020204030204" pitchFamily="49" charset="0"/>
              </a:rPr>
              <a:t>AtomicArray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&gt;, </a:t>
            </a:r>
            <a:r>
              <a:rPr lang="en-US" sz="2000" dirty="0" err="1">
                <a:latin typeface="Consolas" panose="020B0609020204030204" pitchFamily="49" charset="0"/>
              </a:rPr>
              <a:t>LocalLockAtomicArray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</a:p>
          <a:p>
            <a:r>
              <a:rPr lang="en-US" dirty="0"/>
              <a:t>We allow three batching “types”</a:t>
            </a:r>
          </a:p>
          <a:p>
            <a:pPr lvl="1"/>
            <a:r>
              <a:rPr lang="en-US" dirty="0"/>
              <a:t>Many indices – One value:  </a:t>
            </a:r>
          </a:p>
          <a:p>
            <a:pPr lvl="2"/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batch_add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indices,1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//add 1 to each indexed element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/>
              <a:t>Many indices – Many </a:t>
            </a:r>
            <a:r>
              <a:rPr lang="en-US" dirty="0" err="1"/>
              <a:t>vals</a:t>
            </a:r>
            <a:r>
              <a:rPr lang="en-US" dirty="0"/>
              <a:t>:</a:t>
            </a:r>
            <a:r>
              <a:rPr lang="en-US" sz="2000" dirty="0"/>
              <a:t>  </a:t>
            </a:r>
          </a:p>
          <a:p>
            <a:pPr lvl="2"/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batch_add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indices,vals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//1-to-1 between indices and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/>
              <a:t>One Index – Many </a:t>
            </a:r>
            <a:r>
              <a:rPr lang="en-US" dirty="0" err="1"/>
              <a:t>vals</a:t>
            </a:r>
            <a:r>
              <a:rPr lang="en-US" dirty="0"/>
              <a:t>:</a:t>
            </a:r>
            <a:r>
              <a:rPr lang="en-US" sz="2000" dirty="0"/>
              <a:t>  </a:t>
            </a:r>
          </a:p>
          <a:p>
            <a:pPr lvl="2"/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batch_add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index,vals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//add all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vals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to given element</a:t>
            </a:r>
          </a:p>
          <a:p>
            <a:pPr lvl="1"/>
            <a:r>
              <a:rPr lang="en-US" dirty="0">
                <a:latin typeface="+mn-lt"/>
              </a:rPr>
              <a:t>One Index – One value (non batched version): </a:t>
            </a:r>
          </a:p>
          <a:p>
            <a:pPr lvl="2"/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array.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add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index,1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endParaRPr lang="en-US" dirty="0">
              <a:solidFill>
                <a:srgbClr val="000000"/>
              </a:solidFill>
              <a:latin typeface="+mn-lt"/>
            </a:endParaRPr>
          </a:p>
          <a:p>
            <a:pPr lvl="1"/>
            <a:endParaRPr lang="en-US" sz="2000" dirty="0"/>
          </a:p>
          <a:p>
            <a:pPr lvl="1"/>
            <a:endParaRPr lang="en-US" dirty="0"/>
          </a:p>
          <a:p>
            <a:pPr lvl="1"/>
            <a:endParaRPr lang="en-US" sz="2800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  <a:p>
            <a:pPr marL="1097280" lvl="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32" name="Table 6">
            <a:extLst>
              <a:ext uri="{FF2B5EF4-FFF2-40B4-BE49-F238E27FC236}">
                <a16:creationId xmlns:a16="http://schemas.microsoft.com/office/drawing/2014/main" id="{1EB4C1D3-3F74-4D35-A1AF-2CAA268895EA}"/>
              </a:ext>
            </a:extLst>
          </p:cNvPr>
          <p:cNvGraphicFramePr>
            <a:graphicFrameLocks noGrp="1"/>
          </p:cNvGraphicFramePr>
          <p:nvPr/>
        </p:nvGraphicFramePr>
        <p:xfrm>
          <a:off x="13275746" y="2922191"/>
          <a:ext cx="918850" cy="4580352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918850">
                  <a:extLst>
                    <a:ext uri="{9D8B030D-6E8A-4147-A177-3AD203B41FA5}">
                      <a16:colId xmlns:a16="http://schemas.microsoft.com/office/drawing/2014/main" val="1098139388"/>
                    </a:ext>
                  </a:extLst>
                </a:gridCol>
              </a:tblGrid>
              <a:tr h="572544">
                <a:tc>
                  <a:txBody>
                    <a:bodyPr/>
                    <a:lstStyle/>
                    <a:p>
                      <a:endParaRPr lang="en-US" b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8131402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797737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2249104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4310940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1434246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637343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endParaRPr 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805925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endParaRPr lang="en-US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330465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a16:creationId xmlns:a16="http://schemas.microsoft.com/office/drawing/2014/main" id="{956EAE63-E389-4657-994C-9C4D6E1871F6}"/>
              </a:ext>
            </a:extLst>
          </p:cNvPr>
          <p:cNvSpPr txBox="1"/>
          <p:nvPr/>
        </p:nvSpPr>
        <p:spPr>
          <a:xfrm>
            <a:off x="13577363" y="2497459"/>
            <a:ext cx="36901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C1575C-82C4-44D4-9257-626EB9B5F431}"/>
              </a:ext>
            </a:extLst>
          </p:cNvPr>
          <p:cNvSpPr txBox="1"/>
          <p:nvPr/>
        </p:nvSpPr>
        <p:spPr>
          <a:xfrm>
            <a:off x="9347307" y="4267406"/>
            <a:ext cx="1963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>
                <a:solidFill>
                  <a:schemeClr val="accent6">
                    <a:lumMod val="75000"/>
                  </a:schemeClr>
                </a:solidFill>
              </a:rPr>
              <a:t>A.add</a:t>
            </a:r>
            <a:r>
              <a:rPr lang="en-US" sz="2800">
                <a:solidFill>
                  <a:schemeClr val="accent6">
                    <a:lumMod val="75000"/>
                  </a:schemeClr>
                </a:solidFill>
              </a:rPr>
              <a:t>(1,1);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C4FCF8F-E63A-49AE-AC84-1A2DD9E059AA}"/>
              </a:ext>
            </a:extLst>
          </p:cNvPr>
          <p:cNvSpPr txBox="1"/>
          <p:nvPr/>
        </p:nvSpPr>
        <p:spPr>
          <a:xfrm>
            <a:off x="9341129" y="4865871"/>
            <a:ext cx="31614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>
                <a:solidFill>
                  <a:schemeClr val="accent6">
                    <a:lumMod val="75000"/>
                  </a:schemeClr>
                </a:solidFill>
              </a:rPr>
              <a:t>A.add</a:t>
            </a:r>
            <a:r>
              <a:rPr lang="en-US" sz="2800">
                <a:solidFill>
                  <a:schemeClr val="accent6">
                    <a:lumMod val="75000"/>
                  </a:schemeClr>
                </a:solidFill>
              </a:rPr>
              <a:t>([2,6,1,3],2);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D149E67-1A1E-4E2D-8F14-A15056E63D63}"/>
              </a:ext>
            </a:extLst>
          </p:cNvPr>
          <p:cNvSpPr txBox="1"/>
          <p:nvPr/>
        </p:nvSpPr>
        <p:spPr>
          <a:xfrm>
            <a:off x="9314399" y="5430852"/>
            <a:ext cx="35605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err="1">
                <a:solidFill>
                  <a:schemeClr val="accent1"/>
                </a:solidFill>
              </a:rPr>
              <a:t>A.add</a:t>
            </a:r>
            <a:r>
              <a:rPr lang="en-US" sz="2800">
                <a:solidFill>
                  <a:schemeClr val="accent1"/>
                </a:solidFill>
              </a:rPr>
              <a:t>([0,5,7],[9,4,6]);</a:t>
            </a:r>
          </a:p>
        </p:txBody>
      </p:sp>
      <p:graphicFrame>
        <p:nvGraphicFramePr>
          <p:cNvPr id="37" name="Table 14">
            <a:extLst>
              <a:ext uri="{FF2B5EF4-FFF2-40B4-BE49-F238E27FC236}">
                <a16:creationId xmlns:a16="http://schemas.microsoft.com/office/drawing/2014/main" id="{E71589E0-C4F2-4F23-8B58-52D02EBC7A51}"/>
              </a:ext>
            </a:extLst>
          </p:cNvPr>
          <p:cNvGraphicFramePr>
            <a:graphicFrameLocks noGrp="1"/>
          </p:cNvGraphicFramePr>
          <p:nvPr/>
        </p:nvGraphicFramePr>
        <p:xfrm>
          <a:off x="14194596" y="2922191"/>
          <a:ext cx="329015" cy="45803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9015">
                  <a:extLst>
                    <a:ext uri="{9D8B030D-6E8A-4147-A177-3AD203B41FA5}">
                      <a16:colId xmlns:a16="http://schemas.microsoft.com/office/drawing/2014/main" val="3361232861"/>
                    </a:ext>
                  </a:extLst>
                </a:gridCol>
              </a:tblGrid>
              <a:tr h="572544">
                <a:tc>
                  <a:txBody>
                    <a:bodyPr/>
                    <a:lstStyle/>
                    <a:p>
                      <a:r>
                        <a:rPr lang="en-US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879976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42971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280579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867800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2933646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2123638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r>
                        <a:rPr lang="en-US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212146"/>
                  </a:ext>
                </a:extLst>
              </a:tr>
              <a:tr h="572544">
                <a:tc>
                  <a:txBody>
                    <a:bodyPr/>
                    <a:lstStyle/>
                    <a:p>
                      <a:r>
                        <a:rPr lang="en-US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8829650"/>
                  </a:ext>
                </a:extLst>
              </a:tr>
            </a:tbl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D6255D3-D71E-455E-B239-8628AD0D34CE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11311306" y="3755769"/>
            <a:ext cx="1857572" cy="773247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B1ECDEA-D889-4B06-8995-AC8E80AF88F8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12502572" y="3824535"/>
            <a:ext cx="665864" cy="1302946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66A1197-BFC0-4594-BCAA-234E094580CB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12502572" y="4322039"/>
            <a:ext cx="719519" cy="805442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273EE0D-9827-468B-B1FD-BD4313C53F26}"/>
              </a:ext>
            </a:extLst>
          </p:cNvPr>
          <p:cNvCxnSpPr>
            <a:cxnSpLocks/>
          </p:cNvCxnSpPr>
          <p:nvPr/>
        </p:nvCxnSpPr>
        <p:spPr>
          <a:xfrm flipV="1">
            <a:off x="12502572" y="4847811"/>
            <a:ext cx="746947" cy="287961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746B2EA-B657-4D7C-8484-795558565DAD}"/>
              </a:ext>
            </a:extLst>
          </p:cNvPr>
          <p:cNvCxnSpPr>
            <a:cxnSpLocks/>
            <a:stCxn id="35" idx="3"/>
          </p:cNvCxnSpPr>
          <p:nvPr/>
        </p:nvCxnSpPr>
        <p:spPr>
          <a:xfrm>
            <a:off x="12502572" y="5127481"/>
            <a:ext cx="706405" cy="1399848"/>
          </a:xfrm>
          <a:prstGeom prst="straightConnector1">
            <a:avLst/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78756B3-D19D-4AA3-97F0-6BBC1CE7B2BE}"/>
              </a:ext>
            </a:extLst>
          </p:cNvPr>
          <p:cNvCxnSpPr>
            <a:cxnSpLocks/>
          </p:cNvCxnSpPr>
          <p:nvPr/>
        </p:nvCxnSpPr>
        <p:spPr>
          <a:xfrm flipV="1">
            <a:off x="12882002" y="3269851"/>
            <a:ext cx="393302" cy="2383403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8D4CF47-73F1-4561-92FA-A65B8F1DDD61}"/>
              </a:ext>
            </a:extLst>
          </p:cNvPr>
          <p:cNvCxnSpPr>
            <a:cxnSpLocks/>
          </p:cNvCxnSpPr>
          <p:nvPr/>
        </p:nvCxnSpPr>
        <p:spPr>
          <a:xfrm>
            <a:off x="12882002" y="5661544"/>
            <a:ext cx="391969" cy="33937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5200177-663C-4A26-ABCD-8B2DF586B18E}"/>
              </a:ext>
            </a:extLst>
          </p:cNvPr>
          <p:cNvCxnSpPr>
            <a:cxnSpLocks/>
            <a:stCxn id="36" idx="3"/>
          </p:cNvCxnSpPr>
          <p:nvPr/>
        </p:nvCxnSpPr>
        <p:spPr>
          <a:xfrm>
            <a:off x="12874989" y="5692462"/>
            <a:ext cx="347102" cy="1455755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7D11911B-4FF7-4AF0-94F9-84FCAF5A5EB9}"/>
              </a:ext>
            </a:extLst>
          </p:cNvPr>
          <p:cNvSpPr txBox="1"/>
          <p:nvPr/>
        </p:nvSpPr>
        <p:spPr>
          <a:xfrm>
            <a:off x="13445917" y="2972595"/>
            <a:ext cx="5004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>
                <a:solidFill>
                  <a:schemeClr val="accent1"/>
                </a:solidFill>
              </a:rPr>
              <a:t>+9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5396CB1-A7DC-48CF-B795-C258C0644AD6}"/>
              </a:ext>
            </a:extLst>
          </p:cNvPr>
          <p:cNvSpPr txBox="1"/>
          <p:nvPr/>
        </p:nvSpPr>
        <p:spPr>
          <a:xfrm>
            <a:off x="13285827" y="3580192"/>
            <a:ext cx="5004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+1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DB722E5-CBEE-49BC-983B-8F0D1A7DEBDA}"/>
              </a:ext>
            </a:extLst>
          </p:cNvPr>
          <p:cNvSpPr txBox="1"/>
          <p:nvPr/>
        </p:nvSpPr>
        <p:spPr>
          <a:xfrm>
            <a:off x="13461849" y="4147653"/>
            <a:ext cx="5004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+2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492C7A-F377-42EC-A3FA-D0CED1E007F2}"/>
              </a:ext>
            </a:extLst>
          </p:cNvPr>
          <p:cNvSpPr txBox="1"/>
          <p:nvPr/>
        </p:nvSpPr>
        <p:spPr>
          <a:xfrm>
            <a:off x="13422089" y="6420339"/>
            <a:ext cx="5004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+2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BAF4E67-D937-4AEC-978F-C0015BF8E6B1}"/>
              </a:ext>
            </a:extLst>
          </p:cNvPr>
          <p:cNvSpPr txBox="1"/>
          <p:nvPr/>
        </p:nvSpPr>
        <p:spPr>
          <a:xfrm>
            <a:off x="13415245" y="7013521"/>
            <a:ext cx="5004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+6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AC9291C-A093-484E-8A91-8916C5E4F41F}"/>
              </a:ext>
            </a:extLst>
          </p:cNvPr>
          <p:cNvSpPr txBox="1"/>
          <p:nvPr/>
        </p:nvSpPr>
        <p:spPr>
          <a:xfrm>
            <a:off x="13445917" y="5827405"/>
            <a:ext cx="5004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1"/>
                </a:solidFill>
              </a:rPr>
              <a:t>+4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A2865FE-8E95-4B6E-9859-F8F06C1F7EDF}"/>
              </a:ext>
            </a:extLst>
          </p:cNvPr>
          <p:cNvSpPr txBox="1"/>
          <p:nvPr/>
        </p:nvSpPr>
        <p:spPr>
          <a:xfrm>
            <a:off x="13445917" y="4690675"/>
            <a:ext cx="5004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+2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C8D07C9-07A8-4DF6-901D-211401A18AF5}"/>
              </a:ext>
            </a:extLst>
          </p:cNvPr>
          <p:cNvSpPr txBox="1"/>
          <p:nvPr/>
        </p:nvSpPr>
        <p:spPr>
          <a:xfrm>
            <a:off x="13616752" y="3576821"/>
            <a:ext cx="57740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6">
                    <a:lumMod val="75000"/>
                  </a:schemeClr>
                </a:solidFill>
              </a:rPr>
              <a:t>,+2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683916-EF76-5D80-B926-48172369C0C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77CE3FE-9FB6-4478-A039-941C4CE48A34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8CB91-C570-6927-EC75-CC83CE509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904BA-4F08-2149-F5E9-6D95A564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930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  <p:bldP spid="36" grpId="0"/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Array Iteration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CDD6777A-CD7A-41C6-AB26-D4D4CF7A782F}"/>
              </a:ext>
            </a:extLst>
          </p:cNvPr>
          <p:cNvSpPr txBox="1">
            <a:spLocks/>
          </p:cNvSpPr>
          <p:nvPr/>
        </p:nvSpPr>
        <p:spPr>
          <a:xfrm>
            <a:off x="1149420" y="1581911"/>
            <a:ext cx="13480980" cy="4580349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One goal for LamellarArrays is to provide “Rust-</a:t>
            </a:r>
            <a:r>
              <a:rPr lang="en-US" err="1"/>
              <a:t>ish</a:t>
            </a:r>
            <a:r>
              <a:rPr lang="en-US"/>
              <a:t>” interfaces</a:t>
            </a:r>
          </a:p>
          <a:p>
            <a:r>
              <a:rPr lang="en-US"/>
              <a:t>We provide multiple ways for iterating over a LamellarArray</a:t>
            </a:r>
          </a:p>
          <a:p>
            <a:pPr lvl="1"/>
            <a:r>
              <a:rPr lang="en-US"/>
              <a:t>Local Iterator</a:t>
            </a:r>
          </a:p>
          <a:p>
            <a:pPr lvl="2"/>
            <a:r>
              <a:rPr lang="en-US"/>
              <a:t>Provides both non-mutable and mutable data parallel iteration</a:t>
            </a:r>
          </a:p>
          <a:p>
            <a:pPr lvl="1"/>
            <a:r>
              <a:rPr lang="en-US"/>
              <a:t>Distributed Iterator</a:t>
            </a:r>
          </a:p>
          <a:p>
            <a:pPr lvl="2"/>
            <a:r>
              <a:rPr lang="en-US"/>
              <a:t>Provides both non-mutable and mutable data parallel iteration</a:t>
            </a:r>
          </a:p>
          <a:p>
            <a:pPr lvl="1"/>
            <a:r>
              <a:rPr lang="en-US" err="1"/>
              <a:t>OneSided</a:t>
            </a:r>
            <a:r>
              <a:rPr lang="en-US"/>
              <a:t> Iterator</a:t>
            </a:r>
          </a:p>
          <a:p>
            <a:pPr lvl="2"/>
            <a:r>
              <a:rPr lang="en-US"/>
              <a:t>Only non-mutable serial iteration for now</a:t>
            </a:r>
          </a:p>
          <a:p>
            <a:r>
              <a:rPr lang="en-US"/>
              <a:t>Maintain safety constraints provided by various array types</a:t>
            </a:r>
          </a:p>
          <a:p>
            <a:r>
              <a:rPr lang="en-US"/>
              <a:t>Classify Iterator Operations as either</a:t>
            </a:r>
          </a:p>
          <a:p>
            <a:pPr lvl="1"/>
            <a:r>
              <a:rPr lang="en-US"/>
              <a:t>Adaptors – e.g. enumerate, map, etc.</a:t>
            </a:r>
          </a:p>
          <a:p>
            <a:pPr lvl="1"/>
            <a:r>
              <a:rPr lang="en-US"/>
              <a:t>Consumers – e.g. </a:t>
            </a:r>
            <a:r>
              <a:rPr lang="en-US" err="1"/>
              <a:t>for_each</a:t>
            </a:r>
            <a:r>
              <a:rPr lang="en-US"/>
              <a:t>, collect, etc.</a:t>
            </a:r>
          </a:p>
          <a:p>
            <a:pPr lvl="1"/>
            <a:endParaRPr lang="en-US"/>
          </a:p>
          <a:p>
            <a:pPr marL="1097280" lvl="2" indent="0">
              <a:buNone/>
            </a:pPr>
            <a:endParaRPr lang="en-US"/>
          </a:p>
          <a:p>
            <a:pPr lvl="1"/>
            <a:endParaRPr lang="en-US"/>
          </a:p>
          <a:p>
            <a:pPr lvl="2"/>
            <a:endParaRPr lang="en-US"/>
          </a:p>
          <a:p>
            <a:pPr lvl="1"/>
            <a:endParaRPr lang="en-US"/>
          </a:p>
          <a:p>
            <a:pPr marL="1097280" lvl="2" indent="0">
              <a:buNone/>
            </a:pPr>
            <a:endParaRPr lang="en-US"/>
          </a:p>
          <a:p>
            <a:pPr lvl="1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7C9E9-683B-B409-15B9-0BB2FC6F0D2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473E5F4-45C2-4025-941E-CA9BEC04D5CE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E8391-D3D3-37AB-F318-5196EC979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F2711-1204-FA6E-2EB1-201536D4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6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LAMELLAR: </a:t>
            </a: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bg2">
                    <a:lumMod val="50000"/>
                  </a:schemeClr>
                </a:solidFill>
              </a:rPr>
              <a:t>Current Iterator Adapters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0753A44-183C-4653-ADCD-B877EE12FF05}"/>
              </a:ext>
            </a:extLst>
          </p:cNvPr>
          <p:cNvSpPr txBox="1">
            <a:spLocks/>
          </p:cNvSpPr>
          <p:nvPr/>
        </p:nvSpPr>
        <p:spPr>
          <a:xfrm>
            <a:off x="1107960" y="1613655"/>
            <a:ext cx="6520940" cy="4580349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IndexedLocalIterator</a:t>
            </a:r>
            <a:endParaRPr lang="en-US"/>
          </a:p>
          <a:p>
            <a:pPr lvl="1"/>
            <a:r>
              <a:rPr lang="en-US" sz="2000">
                <a:latin typeface="Consolas" panose="020B0609020204030204" pitchFamily="49" charset="0"/>
              </a:rPr>
              <a:t>chunks</a:t>
            </a:r>
          </a:p>
          <a:p>
            <a:pPr lvl="1"/>
            <a:r>
              <a:rPr lang="en-US" sz="2000">
                <a:latin typeface="Consolas" panose="020B0609020204030204" pitchFamily="49" charset="0"/>
              </a:rPr>
              <a:t>enumerate</a:t>
            </a:r>
          </a:p>
          <a:p>
            <a:pPr lvl="1"/>
            <a:r>
              <a:rPr lang="en-US" sz="2000">
                <a:latin typeface="Consolas" panose="020B0609020204030204" pitchFamily="49" charset="0"/>
              </a:rPr>
              <a:t>skip</a:t>
            </a:r>
          </a:p>
          <a:p>
            <a:pPr lvl="1"/>
            <a:r>
              <a:rPr lang="en-US" sz="2000" err="1">
                <a:latin typeface="Consolas" panose="020B0609020204030204" pitchFamily="49" charset="0"/>
              </a:rPr>
              <a:t>step_by</a:t>
            </a:r>
            <a:endParaRPr lang="en-US" sz="2000">
              <a:latin typeface="Consolas" panose="020B0609020204030204" pitchFamily="49" charset="0"/>
            </a:endParaRPr>
          </a:p>
          <a:p>
            <a:pPr lvl="1"/>
            <a:r>
              <a:rPr lang="en-US" sz="2000">
                <a:latin typeface="Consolas" panose="020B0609020204030204" pitchFamily="49" charset="0"/>
              </a:rPr>
              <a:t>take</a:t>
            </a:r>
          </a:p>
          <a:p>
            <a:pPr lvl="1"/>
            <a:r>
              <a:rPr lang="en-US" sz="2000">
                <a:latin typeface="Consolas" panose="020B0609020204030204" pitchFamily="49" charset="0"/>
              </a:rPr>
              <a:t>zip</a:t>
            </a:r>
          </a:p>
          <a:p>
            <a:r>
              <a:rPr lang="en-US" err="1"/>
              <a:t>LocalIterator</a:t>
            </a:r>
            <a:endParaRPr lang="en-US"/>
          </a:p>
          <a:p>
            <a:pPr lvl="1"/>
            <a:r>
              <a:rPr lang="en-US" sz="2000">
                <a:latin typeface="Consolas" panose="020B0609020204030204" pitchFamily="49" charset="0"/>
              </a:rPr>
              <a:t>filter</a:t>
            </a:r>
          </a:p>
          <a:p>
            <a:pPr lvl="1"/>
            <a:r>
              <a:rPr lang="en-US" sz="2000" err="1">
                <a:latin typeface="Consolas" panose="020B0609020204030204" pitchFamily="49" charset="0"/>
              </a:rPr>
              <a:t>filter_map</a:t>
            </a:r>
            <a:endParaRPr lang="en-US" sz="2000">
              <a:latin typeface="Consolas" panose="020B0609020204030204" pitchFamily="49" charset="0"/>
            </a:endParaRPr>
          </a:p>
          <a:p>
            <a:pPr lvl="1"/>
            <a:r>
              <a:rPr lang="en-US" sz="2000">
                <a:latin typeface="Consolas" panose="020B0609020204030204" pitchFamily="49" charset="0"/>
              </a:rPr>
              <a:t>map</a:t>
            </a:r>
            <a:r>
              <a:rPr lang="en-US" sz="2400">
                <a:latin typeface="+mn-lt"/>
              </a:rPr>
              <a:t> – </a:t>
            </a:r>
            <a:r>
              <a:rPr lang="en-US" sz="2000">
                <a:latin typeface="+mn-lt"/>
              </a:rPr>
              <a:t>in theory can be “Indexable” but requires </a:t>
            </a:r>
            <a:r>
              <a:rPr lang="en-US" sz="2000" i="1">
                <a:latin typeface="+mn-lt"/>
              </a:rPr>
              <a:t>specialization</a:t>
            </a:r>
            <a:endParaRPr lang="en-US" sz="2000" i="1">
              <a:latin typeface="Consolas" panose="020B0609020204030204" pitchFamily="49" charset="0"/>
            </a:endParaRPr>
          </a:p>
          <a:p>
            <a:pPr lvl="1"/>
            <a:r>
              <a:rPr lang="en-US" sz="2000">
                <a:latin typeface="Consolas" panose="020B0609020204030204" pitchFamily="49" charset="0"/>
              </a:rPr>
              <a:t>monotonic</a:t>
            </a:r>
            <a:r>
              <a:rPr lang="en-US" sz="2000">
                <a:latin typeface="+mn-lt"/>
              </a:rPr>
              <a:t> – </a:t>
            </a:r>
            <a:r>
              <a:rPr lang="en-US" sz="1800">
                <a:latin typeface="+mn-lt"/>
              </a:rPr>
              <a:t>emits unique and monotonically increasing “indices” but no relation to underlying data</a:t>
            </a:r>
          </a:p>
          <a:p>
            <a:pPr lvl="1"/>
            <a:endParaRPr lang="en-US" sz="2000">
              <a:latin typeface="Consolas" panose="020B0609020204030204" pitchFamily="49" charset="0"/>
            </a:endParaRPr>
          </a:p>
          <a:p>
            <a:pPr lvl="1"/>
            <a:endParaRPr lang="en-US" sz="1600">
              <a:latin typeface="Consolas" panose="020B0609020204030204" pitchFamily="49" charset="0"/>
            </a:endParaRPr>
          </a:p>
          <a:p>
            <a:pPr lvl="1"/>
            <a:endParaRPr lang="en-US" sz="1600"/>
          </a:p>
          <a:p>
            <a:pPr marL="1097280" lvl="2" indent="0">
              <a:buNone/>
            </a:pP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2CCF6-ABAC-A44A-3943-080B4C1481A0}"/>
              </a:ext>
            </a:extLst>
          </p:cNvPr>
          <p:cNvSpPr txBox="1">
            <a:spLocks/>
          </p:cNvSpPr>
          <p:nvPr/>
        </p:nvSpPr>
        <p:spPr>
          <a:xfrm>
            <a:off x="7628900" y="1613654"/>
            <a:ext cx="6520940" cy="4580349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err="1"/>
              <a:t>IndexedDistributedIterator</a:t>
            </a:r>
            <a:endParaRPr lang="en-US" sz="2000">
              <a:latin typeface="Consolas" panose="020B0609020204030204" pitchFamily="49" charset="0"/>
            </a:endParaRPr>
          </a:p>
          <a:p>
            <a:pPr lvl="1"/>
            <a:r>
              <a:rPr lang="en-US" sz="2000">
                <a:latin typeface="Consolas" panose="020B0609020204030204" pitchFamily="49" charset="0"/>
              </a:rPr>
              <a:t>enumerate</a:t>
            </a:r>
          </a:p>
          <a:p>
            <a:pPr lvl="1"/>
            <a:r>
              <a:rPr lang="en-US" sz="2000">
                <a:latin typeface="Consolas" panose="020B0609020204030204" pitchFamily="49" charset="0"/>
              </a:rPr>
              <a:t>skip</a:t>
            </a:r>
          </a:p>
          <a:p>
            <a:pPr lvl="1"/>
            <a:r>
              <a:rPr lang="en-US" sz="2000" err="1">
                <a:latin typeface="Consolas" panose="020B0609020204030204" pitchFamily="49" charset="0"/>
              </a:rPr>
              <a:t>step_by</a:t>
            </a:r>
            <a:endParaRPr lang="en-US" sz="2000">
              <a:latin typeface="Consolas" panose="020B0609020204030204" pitchFamily="49" charset="0"/>
            </a:endParaRPr>
          </a:p>
          <a:p>
            <a:pPr lvl="1"/>
            <a:r>
              <a:rPr lang="en-US" sz="2000">
                <a:latin typeface="Consolas" panose="020B0609020204030204" pitchFamily="49" charset="0"/>
              </a:rPr>
              <a:t>take</a:t>
            </a:r>
          </a:p>
          <a:p>
            <a:r>
              <a:rPr lang="en-US" err="1"/>
              <a:t>DistributedIterator</a:t>
            </a:r>
            <a:endParaRPr lang="en-US"/>
          </a:p>
          <a:p>
            <a:pPr lvl="1"/>
            <a:r>
              <a:rPr lang="en-US" sz="2000">
                <a:latin typeface="Consolas" panose="020B0609020204030204" pitchFamily="49" charset="0"/>
              </a:rPr>
              <a:t>filter</a:t>
            </a:r>
          </a:p>
          <a:p>
            <a:pPr lvl="1"/>
            <a:r>
              <a:rPr lang="en-US" sz="2000" err="1">
                <a:latin typeface="Consolas" panose="020B0609020204030204" pitchFamily="49" charset="0"/>
              </a:rPr>
              <a:t>filter_map</a:t>
            </a:r>
            <a:endParaRPr lang="en-US" sz="2000">
              <a:latin typeface="Consolas" panose="020B0609020204030204" pitchFamily="49" charset="0"/>
            </a:endParaRPr>
          </a:p>
          <a:p>
            <a:pPr lvl="1"/>
            <a:r>
              <a:rPr lang="en-US" sz="2000">
                <a:latin typeface="Consolas" panose="020B0609020204030204" pitchFamily="49" charset="0"/>
              </a:rPr>
              <a:t>map</a:t>
            </a:r>
            <a:r>
              <a:rPr lang="en-US" sz="2400">
                <a:latin typeface="+mn-lt"/>
              </a:rPr>
              <a:t> </a:t>
            </a:r>
          </a:p>
          <a:p>
            <a:pPr lvl="1"/>
            <a:r>
              <a:rPr lang="en-US" sz="2000">
                <a:latin typeface="Consolas" panose="020B0609020204030204" pitchFamily="49" charset="0"/>
              </a:rPr>
              <a:t>monotonic</a:t>
            </a:r>
            <a:r>
              <a:rPr lang="en-US" sz="2000">
                <a:latin typeface="+mn-lt"/>
              </a:rPr>
              <a:t> </a:t>
            </a:r>
            <a:endParaRPr lang="en-US" sz="2000">
              <a:latin typeface="Consolas" panose="020B0609020204030204" pitchFamily="49" charset="0"/>
            </a:endParaRPr>
          </a:p>
          <a:p>
            <a:pPr lvl="1"/>
            <a:endParaRPr lang="en-US" sz="1600">
              <a:latin typeface="Consolas" panose="020B0609020204030204" pitchFamily="49" charset="0"/>
            </a:endParaRPr>
          </a:p>
          <a:p>
            <a:pPr lvl="1"/>
            <a:endParaRPr lang="en-US" sz="1600"/>
          </a:p>
          <a:p>
            <a:pPr marL="1097280" lvl="2" indent="0">
              <a:buNone/>
            </a:pP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85C047-0610-C659-392B-DA1929EF2BEE}"/>
              </a:ext>
            </a:extLst>
          </p:cNvPr>
          <p:cNvSpPr/>
          <p:nvPr/>
        </p:nvSpPr>
        <p:spPr>
          <a:xfrm>
            <a:off x="8242948" y="5559818"/>
            <a:ext cx="4282881" cy="9878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Distributed Adapters sometimes require communication… the framework for this is </a:t>
            </a:r>
            <a:r>
              <a:rPr lang="en-US" dirty="0" err="1"/>
              <a:t>w.i.p</a:t>
            </a:r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B6206E-AB60-776E-DBBA-9C12762563A8}"/>
              </a:ext>
            </a:extLst>
          </p:cNvPr>
          <p:cNvSpPr/>
          <p:nvPr/>
        </p:nvSpPr>
        <p:spPr>
          <a:xfrm>
            <a:off x="3584181" y="5753378"/>
            <a:ext cx="3991323" cy="3003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Unstable for foreseeable future </a:t>
            </a:r>
            <a:r>
              <a:rPr lang="en-US" sz="2000">
                <a:sym typeface="Wingdings" panose="05000000000000000000" pitchFamily="2" charset="2"/>
              </a:rPr>
              <a:t></a:t>
            </a:r>
            <a:endParaRPr lang="en-US" sz="200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B91EC2-721F-6E00-CD0F-6FDE4AD21A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EC1A524-F432-4137-87DB-A843D8F82561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077E92-B358-14DA-3ED7-7CF5E33E47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A14F05-E8D3-C28C-3D3D-9AF345B71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557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Iterator Consumers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0753A44-183C-4653-ADCD-B877EE12FF05}"/>
              </a:ext>
            </a:extLst>
          </p:cNvPr>
          <p:cNvSpPr txBox="1">
            <a:spLocks/>
          </p:cNvSpPr>
          <p:nvPr/>
        </p:nvSpPr>
        <p:spPr>
          <a:xfrm>
            <a:off x="1107959" y="1613655"/>
            <a:ext cx="12240945" cy="4580349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Consumers are methods which “consume” an iterator</a:t>
            </a:r>
          </a:p>
          <a:p>
            <a:pPr lvl="1"/>
            <a:r>
              <a:rPr lang="en-US" dirty="0"/>
              <a:t>Generally for an iterator to “do” something, it needs to be consumed</a:t>
            </a:r>
          </a:p>
          <a:p>
            <a:pPr lvl="2"/>
            <a:r>
              <a:rPr lang="en-US" dirty="0"/>
              <a:t>E.g. </a:t>
            </a:r>
            <a:r>
              <a:rPr lang="en-US" dirty="0" err="1">
                <a:latin typeface="Consolas" panose="020B0609020204030204" pitchFamily="49" charset="0"/>
              </a:rPr>
              <a:t>for_each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collect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</a:rPr>
              <a:t>sum</a:t>
            </a:r>
            <a:r>
              <a:rPr lang="en-US" dirty="0"/>
              <a:t> </a:t>
            </a:r>
          </a:p>
          <a:p>
            <a:r>
              <a:rPr lang="en-US" dirty="0"/>
              <a:t>Lamellar exposes a “schedule” functionality for each supported consumer</a:t>
            </a:r>
            <a:endParaRPr lang="en-US" dirty="0">
              <a:latin typeface="Consolas" panose="020B0609020204030204" pitchFamily="49" charset="0"/>
            </a:endParaRPr>
          </a:p>
          <a:p>
            <a:pPr lvl="1"/>
            <a:r>
              <a:rPr lang="en-US" dirty="0"/>
              <a:t>Static, Dynamic, Work Stealing, Guided, Chunk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856FEA-8E87-84A0-6EA7-F6B6A5F80409}"/>
              </a:ext>
            </a:extLst>
          </p:cNvPr>
          <p:cNvSpPr/>
          <p:nvPr/>
        </p:nvSpPr>
        <p:spPr>
          <a:xfrm>
            <a:off x="9136036" y="3387286"/>
            <a:ext cx="2623060" cy="7275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think OpenMP </a:t>
            </a:r>
            <a:r>
              <a:rPr lang="en-US" i="1" dirty="0"/>
              <a:t>for loop</a:t>
            </a:r>
            <a:r>
              <a:rPr lang="en-US" dirty="0"/>
              <a:t> schedulers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5D2956-D903-3200-CF0D-11B2622C9ED6}"/>
              </a:ext>
            </a:extLst>
          </p:cNvPr>
          <p:cNvSpPr txBox="1"/>
          <p:nvPr/>
        </p:nvSpPr>
        <p:spPr>
          <a:xfrm>
            <a:off x="1337184" y="5178341"/>
            <a:ext cx="10709674" cy="20313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</a:t>
            </a:r>
            <a:r>
              <a:rPr lang="en-US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ub </a:t>
            </a:r>
            <a:r>
              <a:rPr lang="en-US" sz="1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795E26"/>
                </a:solidFill>
                <a:latin typeface="Consolas" panose="020B0609020204030204" pitchFamily="49" charset="0"/>
              </a:rPr>
              <a:t>Schedule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    Static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       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// num </a:t>
            </a:r>
            <a:r>
              <a:rPr lang="en-US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elems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/ num worker threads</a:t>
            </a:r>
            <a:endParaRPr lang="en-US" sz="18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    Dynamic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   // single element at a time per thread</a:t>
            </a:r>
            <a:endParaRPr lang="en-US" sz="18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    Chunk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usize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),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// multiple elements at a time per thread (smaller than static)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    Guided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      // chunks that get smaller during iteration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1080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 err="1">
                <a:solidFill>
                  <a:srgbClr val="001080"/>
                </a:solidFill>
                <a:latin typeface="Consolas" panose="020B0609020204030204" pitchFamily="49" charset="0"/>
              </a:rPr>
              <a:t>WorkStealing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 // initially static but threads can steal work</a:t>
            </a:r>
            <a:endParaRPr lang="en-US" sz="1800" dirty="0">
              <a:solidFill>
                <a:srgbClr val="001080"/>
              </a:solidFill>
              <a:latin typeface="Consolas" panose="020B06090202040302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B1B04-2DDE-D58A-9678-3FDA07C13A4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47AF3620-F9B1-4771-9DA0-877557A7970B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4B048-CE9E-B5CF-301C-4E7565877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810D9-E1E8-DA47-2B42-0B2A5992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8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LAMELLAR: </a:t>
            </a:r>
            <a:br>
              <a:rPr lang="en-US">
                <a:solidFill>
                  <a:schemeClr val="accent1"/>
                </a:solidFill>
              </a:rPr>
            </a:br>
            <a:r>
              <a:rPr lang="en-US">
                <a:solidFill>
                  <a:schemeClr val="bg2">
                    <a:lumMod val="50000"/>
                  </a:schemeClr>
                </a:solidFill>
              </a:rPr>
              <a:t>Iterator Consumers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0753A44-183C-4653-ADCD-B877EE12FF05}"/>
              </a:ext>
            </a:extLst>
          </p:cNvPr>
          <p:cNvSpPr txBox="1">
            <a:spLocks/>
          </p:cNvSpPr>
          <p:nvPr/>
        </p:nvSpPr>
        <p:spPr>
          <a:xfrm>
            <a:off x="954447" y="1613655"/>
            <a:ext cx="13493072" cy="4580349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Local Iterators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</a:rPr>
              <a:t>for_each</a:t>
            </a:r>
            <a:r>
              <a:rPr lang="en-US" sz="2000" dirty="0">
                <a:latin typeface="Consolas" panose="020B0609020204030204" pitchFamily="49" charset="0"/>
              </a:rPr>
              <a:t>(Op: </a:t>
            </a:r>
            <a:r>
              <a:rPr lang="en-US" sz="2000" dirty="0" err="1">
                <a:latin typeface="Consolas" panose="020B0609020204030204" pitchFamily="49" charset="0"/>
              </a:rPr>
              <a:t>Fn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elem</a:t>
            </a:r>
            <a:r>
              <a:rPr lang="en-US" sz="2000" dirty="0">
                <a:latin typeface="Consolas" panose="020B0609020204030204" pitchFamily="49" charset="0"/>
              </a:rPr>
              <a:t>)-&gt;())-&gt;Future&lt;()&gt; // apply Op to each element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collect&lt;A: LamellarArray&gt;(d: Distribution)-&gt;Future&lt;A&gt; // create a new LamellarArray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count()-&gt;Future&lt;A&gt; // return number of elements in iterator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reduce(Op: </a:t>
            </a:r>
            <a:r>
              <a:rPr lang="en-US" sz="2000" dirty="0" err="1">
                <a:latin typeface="Consolas" panose="020B0609020204030204" pitchFamily="49" charset="0"/>
              </a:rPr>
              <a:t>Fn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elem,elem</a:t>
            </a:r>
            <a:r>
              <a:rPr lang="en-US" sz="2000" dirty="0">
                <a:latin typeface="Consolas" panose="020B0609020204030204" pitchFamily="49" charset="0"/>
              </a:rPr>
              <a:t>)-&gt;</a:t>
            </a:r>
            <a:r>
              <a:rPr lang="en-US" sz="2000" dirty="0" err="1">
                <a:latin typeface="Consolas" panose="020B0609020204030204" pitchFamily="49" charset="0"/>
              </a:rPr>
              <a:t>elem</a:t>
            </a:r>
            <a:r>
              <a:rPr lang="en-US" sz="2000" dirty="0">
                <a:latin typeface="Consolas" panose="020B0609020204030204" pitchFamily="49" charset="0"/>
              </a:rPr>
              <a:t>) -&gt; Future&lt;Option&lt;</a:t>
            </a:r>
            <a:r>
              <a:rPr lang="en-US" sz="2000" dirty="0" err="1">
                <a:latin typeface="Consolas" panose="020B0609020204030204" pitchFamily="49" charset="0"/>
              </a:rPr>
              <a:t>elem</a:t>
            </a:r>
            <a:r>
              <a:rPr lang="en-US" sz="2000" dirty="0">
                <a:latin typeface="Consolas" panose="020B0609020204030204" pitchFamily="49" charset="0"/>
              </a:rPr>
              <a:t>&gt;&gt; // use Op to reduce to one value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sum()-&gt; Future&lt;</a:t>
            </a:r>
            <a:r>
              <a:rPr lang="en-US" sz="2000" dirty="0" err="1">
                <a:latin typeface="Consolas" panose="020B0609020204030204" pitchFamily="49" charset="0"/>
              </a:rPr>
              <a:t>elem</a:t>
            </a:r>
            <a:r>
              <a:rPr lang="en-US" sz="2000" dirty="0">
                <a:latin typeface="Consolas" panose="020B0609020204030204" pitchFamily="49" charset="0"/>
              </a:rPr>
              <a:t>&gt; // Sum the iterator (specialization of reduce)</a:t>
            </a:r>
          </a:p>
          <a:p>
            <a:r>
              <a:rPr lang="en-US" dirty="0"/>
              <a:t>Distributed Iterators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</a:rPr>
              <a:t>for_each</a:t>
            </a:r>
            <a:r>
              <a:rPr lang="en-US" sz="2000" dirty="0">
                <a:latin typeface="Consolas" panose="020B0609020204030204" pitchFamily="49" charset="0"/>
              </a:rPr>
              <a:t>(Op: </a:t>
            </a:r>
            <a:r>
              <a:rPr lang="en-US" sz="2000" dirty="0" err="1">
                <a:latin typeface="Consolas" panose="020B0609020204030204" pitchFamily="49" charset="0"/>
              </a:rPr>
              <a:t>Fn</a:t>
            </a:r>
            <a:r>
              <a:rPr lang="en-US" sz="2000" dirty="0">
                <a:latin typeface="Consolas" panose="020B0609020204030204" pitchFamily="49" charset="0"/>
              </a:rPr>
              <a:t>(</a:t>
            </a:r>
            <a:r>
              <a:rPr lang="en-US" sz="2000" dirty="0" err="1">
                <a:latin typeface="Consolas" panose="020B0609020204030204" pitchFamily="49" charset="0"/>
              </a:rPr>
              <a:t>elem</a:t>
            </a:r>
            <a:r>
              <a:rPr lang="en-US" sz="2000" dirty="0">
                <a:latin typeface="Consolas" panose="020B0609020204030204" pitchFamily="49" charset="0"/>
              </a:rPr>
              <a:t>)-&gt;())-&gt;Future&lt;()&gt; // apply Op to each element</a:t>
            </a:r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collect&lt;A: LamellarArray&gt;(d: Distribution)-&gt;Future&lt;A&gt; // create a new LamellarArray</a:t>
            </a:r>
          </a:p>
          <a:p>
            <a:pPr lvl="1"/>
            <a:r>
              <a:rPr lang="en-US" sz="2000" dirty="0"/>
              <a:t>Currently working on the other implementations</a:t>
            </a:r>
          </a:p>
          <a:p>
            <a:pPr lvl="2"/>
            <a:r>
              <a:rPr lang="en-US" sz="1800" dirty="0"/>
              <a:t>Requires communication and coordination – trying to generalize to ease future consumer implementations</a:t>
            </a:r>
          </a:p>
          <a:p>
            <a:endParaRPr lang="en-US" sz="2600" dirty="0"/>
          </a:p>
          <a:p>
            <a:pPr lvl="1"/>
            <a:r>
              <a:rPr lang="en-US" sz="2000" dirty="0">
                <a:latin typeface="Consolas" panose="020B0609020204030204" pitchFamily="49" charset="0"/>
              </a:rPr>
              <a:t>&lt;*consumer*&gt;_</a:t>
            </a:r>
            <a:r>
              <a:rPr lang="en-US" sz="2000" dirty="0" err="1">
                <a:latin typeface="Consolas" panose="020B0609020204030204" pitchFamily="49" charset="0"/>
              </a:rPr>
              <a:t>with_schedule</a:t>
            </a:r>
            <a:r>
              <a:rPr lang="en-US" sz="2000" dirty="0">
                <a:latin typeface="Consolas" panose="020B0609020204030204" pitchFamily="49" charset="0"/>
              </a:rPr>
              <a:t>(sched: Schedule,…)-&gt;Future&lt;…&gt; </a:t>
            </a:r>
          </a:p>
          <a:p>
            <a:r>
              <a:rPr lang="en-US" dirty="0"/>
              <a:t>One-sided iterators</a:t>
            </a:r>
          </a:p>
          <a:p>
            <a:pPr lvl="1"/>
            <a:r>
              <a:rPr lang="en-US" sz="2000" dirty="0"/>
              <a:t>Any consumer supported by standard Rust iterators</a:t>
            </a:r>
          </a:p>
          <a:p>
            <a:pPr lvl="2"/>
            <a:r>
              <a:rPr lang="en-US" sz="1800" dirty="0"/>
              <a:t>One-sided </a:t>
            </a:r>
            <a:r>
              <a:rPr lang="en-US" sz="1800" dirty="0" err="1"/>
              <a:t>iters</a:t>
            </a:r>
            <a:r>
              <a:rPr lang="en-US" sz="1800" dirty="0"/>
              <a:t> get converted to a Rust </a:t>
            </a:r>
            <a:r>
              <a:rPr lang="en-US" sz="1800" dirty="0" err="1"/>
              <a:t>iter</a:t>
            </a:r>
            <a:r>
              <a:rPr lang="en-US" sz="1800" dirty="0"/>
              <a:t> 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33A44C-2343-1FA0-AEA2-321F884FF205}"/>
              </a:ext>
            </a:extLst>
          </p:cNvPr>
          <p:cNvSpPr/>
          <p:nvPr/>
        </p:nvSpPr>
        <p:spPr>
          <a:xfrm>
            <a:off x="1380871" y="5839272"/>
            <a:ext cx="8430786" cy="35473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all consumers can also by called with a schedule! (previous slide)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720542-0535-FF52-1BC5-411C0C36E09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1EC1378-C924-4D5D-96C0-A1CC8DC95128}" type="datetime1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E0254-2EAA-832D-C0F0-CF32BD692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468CF-3821-9904-7087-132E971C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748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ACCC23-7F33-BF4D-8EA9-B01C1EED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LAMELLAR: 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Iterator Comparison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50B96F-B109-4F9C-A033-C335F8AFEC7D}"/>
              </a:ext>
            </a:extLst>
          </p:cNvPr>
          <p:cNvSpPr txBox="1"/>
          <p:nvPr/>
        </p:nvSpPr>
        <p:spPr>
          <a:xfrm>
            <a:off x="1107960" y="2645358"/>
            <a:ext cx="13065240" cy="206210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0" i="0" err="1">
                <a:solidFill>
                  <a:srgbClr val="7928A1"/>
                </a:solidFill>
                <a:effectLst/>
                <a:latin typeface="Consolas" panose="020B0609020204030204" pitchFamily="49" charset="0"/>
              </a:rPr>
              <a:t>fn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 { </a:t>
            </a:r>
          </a:p>
          <a:p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i="0">
                <a:solidFill>
                  <a:srgbClr val="7928A1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>
                <a:solidFill>
                  <a:srgbClr val="D91E18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= lamellar::LamellarWorldBuilder::</a:t>
            </a:r>
            <a:r>
              <a:rPr lang="en-US" sz="1600" b="0" i="0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i="0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build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(); </a:t>
            </a:r>
          </a:p>
          <a:p>
            <a:r>
              <a:rPr lang="en-US" sz="1600">
                <a:solidFill>
                  <a:srgbClr val="545454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i="0">
                <a:solidFill>
                  <a:srgbClr val="7928A1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>
                <a:solidFill>
                  <a:srgbClr val="D91E18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i="0" err="1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AtomicArray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::&lt;</a:t>
            </a:r>
            <a:r>
              <a:rPr lang="en-US" sz="1600" b="0" i="0" err="1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usize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600" b="0" i="0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(&amp;world,</a:t>
            </a:r>
            <a:r>
              <a:rPr lang="en-US" sz="1600" b="0" i="0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,Distributed::Block); </a:t>
            </a:r>
          </a:p>
          <a:p>
            <a:r>
              <a:rPr lang="en-US" sz="1600">
                <a:solidFill>
                  <a:srgbClr val="545454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i="0">
                <a:solidFill>
                  <a:srgbClr val="696969"/>
                </a:solidFill>
                <a:effectLst/>
                <a:latin typeface="Consolas" panose="020B0609020204030204" pitchFamily="49" charset="0"/>
              </a:rPr>
              <a:t>// initialize array with [0,1,2,3]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>
                <a:solidFill>
                  <a:srgbClr val="545454"/>
                </a:solidFill>
                <a:latin typeface="Consolas" panose="020B0609020204030204" pitchFamily="49" charset="0"/>
              </a:rPr>
              <a:t>    </a:t>
            </a:r>
            <a:r>
              <a:rPr lang="en-US" sz="1600" b="0" i="0" err="1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array.</a:t>
            </a:r>
            <a:r>
              <a:rPr lang="en-US" sz="1600" b="0" i="0" err="1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dist_iter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i="0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i="0" err="1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>
                <a:solidFill>
                  <a:srgbClr val="7928A1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|(</a:t>
            </a:r>
            <a:r>
              <a:rPr lang="en-US" sz="1600" b="0" i="0" err="1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i,elem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)| </a:t>
            </a:r>
            <a:r>
              <a:rPr lang="en-US" sz="1600" b="0" i="0" err="1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i="0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"PE: {</a:t>
            </a:r>
            <a:r>
              <a:rPr lang="en-US" sz="1600" b="0" i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my_pe</a:t>
            </a:r>
            <a:r>
              <a:rPr lang="en-US" sz="1600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 i: {i} e: {e}"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)); </a:t>
            </a:r>
          </a:p>
          <a:p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b="0" i="0" err="1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array.</a:t>
            </a:r>
            <a:r>
              <a:rPr lang="en-US" sz="1600" b="0" i="0" err="1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local_iter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i="0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i="0" err="1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>
                <a:solidFill>
                  <a:srgbClr val="7928A1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|(</a:t>
            </a:r>
            <a:r>
              <a:rPr lang="en-US" sz="1600" b="0" i="0" err="1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i,elem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)| </a:t>
            </a:r>
            <a:r>
              <a:rPr lang="en-US" sz="1600" b="0" i="0" err="1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i="0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"PE: {</a:t>
            </a:r>
            <a:r>
              <a:rPr lang="en-US" sz="1600" b="0" i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my_pe</a:t>
            </a:r>
            <a:r>
              <a:rPr lang="en-US" sz="1600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 i: {i} e: {e}"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r>
              <a:rPr lang="en-US" sz="1600">
                <a:solidFill>
                  <a:srgbClr val="545454"/>
                </a:solidFill>
                <a:latin typeface="Consolas" panose="020B0609020204030204" pitchFamily="49" charset="0"/>
              </a:rPr>
              <a:t>   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i="0" err="1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array.</a:t>
            </a:r>
            <a:r>
              <a:rPr lang="en-US" sz="1600" b="0" i="0" err="1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onesided_iter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i="0" err="1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iter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i="0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enumerate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US" sz="1600" b="0" i="0" err="1">
                <a:solidFill>
                  <a:srgbClr val="007FAA"/>
                </a:solidFill>
                <a:effectLst/>
                <a:latin typeface="Consolas" panose="020B0609020204030204" pitchFamily="49" charset="0"/>
              </a:rPr>
              <a:t>for_each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>
                <a:solidFill>
                  <a:srgbClr val="7928A1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|(</a:t>
            </a:r>
            <a:r>
              <a:rPr lang="en-US" sz="1600" b="0" i="0" err="1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i,elem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)| </a:t>
            </a:r>
            <a:r>
              <a:rPr lang="en-US" sz="1600" b="0" i="0" err="1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i="0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"PE: {</a:t>
            </a:r>
            <a:r>
              <a:rPr lang="en-US" sz="1600" b="0" i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my_pe</a:t>
            </a:r>
            <a:r>
              <a:rPr lang="en-US" sz="1600" b="0" i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} i: {i} e: {e}"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)); </a:t>
            </a:r>
            <a:r>
              <a:rPr lang="en-US" sz="1600" b="0" i="0" err="1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sz="1600" b="0" i="0">
                <a:solidFill>
                  <a:srgbClr val="AA5D00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sz="1600" b="0" i="0">
                <a:solidFill>
                  <a:srgbClr val="545454"/>
                </a:solidFill>
                <a:effectLst/>
                <a:latin typeface="Consolas" panose="020B0609020204030204" pitchFamily="49" charset="0"/>
              </a:rPr>
              <a:t>(); }</a:t>
            </a:r>
            <a:endParaRPr lang="en-US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0753A44-183C-4653-ADCD-B877EE12FF05}"/>
              </a:ext>
            </a:extLst>
          </p:cNvPr>
          <p:cNvSpPr txBox="1">
            <a:spLocks/>
          </p:cNvSpPr>
          <p:nvPr/>
        </p:nvSpPr>
        <p:spPr>
          <a:xfrm>
            <a:off x="1107960" y="1613656"/>
            <a:ext cx="9751374" cy="1383174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Assume we are executing on a two PE system</a:t>
            </a:r>
          </a:p>
          <a:p>
            <a:pPr lvl="1"/>
            <a:r>
              <a:rPr lang="en-US"/>
              <a:t>And PE 0 always prints before PE 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C83663-CD63-439C-B67E-662979AAE5D3}"/>
              </a:ext>
            </a:extLst>
          </p:cNvPr>
          <p:cNvSpPr/>
          <p:nvPr/>
        </p:nvSpPr>
        <p:spPr>
          <a:xfrm>
            <a:off x="1687235" y="5668373"/>
            <a:ext cx="2205171" cy="1089938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0 i: 0 e: 0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0 i: 1 e: 1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1 i: 2 e: 2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1 i: 3 e: 3</a:t>
            </a:r>
            <a:endParaRPr lang="en-US" sz="180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C7C88D-8A7D-1332-89CA-D4A67755A0CC}"/>
              </a:ext>
            </a:extLst>
          </p:cNvPr>
          <p:cNvSpPr/>
          <p:nvPr/>
        </p:nvSpPr>
        <p:spPr>
          <a:xfrm>
            <a:off x="5791848" y="5676735"/>
            <a:ext cx="2205171" cy="108993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0 i: 0 e: 0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0 i: 1 e: 1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1 i: 0 e: 2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1 i: 1 e: 3</a:t>
            </a:r>
            <a:endParaRPr lang="en-US" sz="180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F257024-E63A-AAC4-20BF-D57010803C6E}"/>
              </a:ext>
            </a:extLst>
          </p:cNvPr>
          <p:cNvSpPr/>
          <p:nvPr/>
        </p:nvSpPr>
        <p:spPr>
          <a:xfrm>
            <a:off x="9854050" y="5668372"/>
            <a:ext cx="2205170" cy="2192679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0 i: 0 e: 0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0 i: 1 e: 1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0 i: 2 e: 2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0 i: 3 e: 3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1 i: 0 e: 0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1 i: 1 e: 1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1 i: 2 e: 2</a:t>
            </a:r>
          </a:p>
          <a:p>
            <a:pPr algn="ctr"/>
            <a:r>
              <a:rPr lang="it-IT" sz="180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PE: 1 i: 3 e: 3</a:t>
            </a:r>
            <a:endParaRPr lang="en-US" sz="1800">
              <a:solidFill>
                <a:schemeClr val="accent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424FE9D-0F78-C618-B35A-F713211C4A64}"/>
              </a:ext>
            </a:extLst>
          </p:cNvPr>
          <p:cNvSpPr/>
          <p:nvPr/>
        </p:nvSpPr>
        <p:spPr>
          <a:xfrm>
            <a:off x="1601868" y="4837194"/>
            <a:ext cx="2356082" cy="72558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Distributed Iterator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7D59F61-CA1E-C322-C1A4-D91C19DC75B0}"/>
              </a:ext>
            </a:extLst>
          </p:cNvPr>
          <p:cNvSpPr/>
          <p:nvPr/>
        </p:nvSpPr>
        <p:spPr>
          <a:xfrm>
            <a:off x="5983647" y="4837194"/>
            <a:ext cx="1821574" cy="72558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Local Iterator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5AA4538-95FF-9445-CFE1-19C0B5613832}"/>
              </a:ext>
            </a:extLst>
          </p:cNvPr>
          <p:cNvSpPr/>
          <p:nvPr/>
        </p:nvSpPr>
        <p:spPr>
          <a:xfrm>
            <a:off x="9805293" y="4837193"/>
            <a:ext cx="2302684" cy="72558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err="1"/>
              <a:t>Onesided</a:t>
            </a:r>
            <a:r>
              <a:rPr lang="en-US" sz="2400"/>
              <a:t> Iterator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BB36D-6337-D16A-392E-54BE7B66D98E}"/>
              </a:ext>
            </a:extLst>
          </p:cNvPr>
          <p:cNvSpPr/>
          <p:nvPr/>
        </p:nvSpPr>
        <p:spPr>
          <a:xfrm>
            <a:off x="2918874" y="5692510"/>
            <a:ext cx="215550" cy="1038490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8E6BA6C-0881-D45D-5024-DD62BE6168F6}"/>
              </a:ext>
            </a:extLst>
          </p:cNvPr>
          <p:cNvSpPr txBox="1"/>
          <p:nvPr/>
        </p:nvSpPr>
        <p:spPr>
          <a:xfrm>
            <a:off x="2064096" y="6818151"/>
            <a:ext cx="1565527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Enumeration spans PEs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FA75C0-E869-F323-3743-172109974C60}"/>
              </a:ext>
            </a:extLst>
          </p:cNvPr>
          <p:cNvSpPr txBox="1"/>
          <p:nvPr/>
        </p:nvSpPr>
        <p:spPr>
          <a:xfrm>
            <a:off x="5961555" y="6826623"/>
            <a:ext cx="1957419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Enumeration only considers Local Data 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4174ECD-26F5-3498-6A86-5EF95B37791D}"/>
              </a:ext>
            </a:extLst>
          </p:cNvPr>
          <p:cNvSpPr/>
          <p:nvPr/>
        </p:nvSpPr>
        <p:spPr>
          <a:xfrm>
            <a:off x="7030376" y="6241257"/>
            <a:ext cx="209988" cy="49837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4CA3B13-29BC-560F-FAEB-887E1B3DEB84}"/>
              </a:ext>
            </a:extLst>
          </p:cNvPr>
          <p:cNvSpPr/>
          <p:nvPr/>
        </p:nvSpPr>
        <p:spPr>
          <a:xfrm>
            <a:off x="11105351" y="5697806"/>
            <a:ext cx="209988" cy="1033194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C67DB46-3FA8-607B-E130-5D591BAED4BB}"/>
              </a:ext>
            </a:extLst>
          </p:cNvPr>
          <p:cNvSpPr txBox="1"/>
          <p:nvPr/>
        </p:nvSpPr>
        <p:spPr>
          <a:xfrm>
            <a:off x="12207418" y="6156229"/>
            <a:ext cx="1889581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800">
                <a:solidFill>
                  <a:srgbClr val="000000"/>
                </a:solidFill>
                <a:latin typeface="Consolas" panose="020B0609020204030204" pitchFamily="49" charset="0"/>
              </a:rPr>
              <a:t>Each PE independently iterates over the entire array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458198-AD9D-F8E5-BDF7-B3C9A0FF6627}"/>
              </a:ext>
            </a:extLst>
          </p:cNvPr>
          <p:cNvSpPr/>
          <p:nvPr/>
        </p:nvSpPr>
        <p:spPr>
          <a:xfrm>
            <a:off x="11105351" y="6779428"/>
            <a:ext cx="209988" cy="1033194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0ECBFA-737F-CC3C-DD79-22B545FC1C36}"/>
              </a:ext>
            </a:extLst>
          </p:cNvPr>
          <p:cNvSpPr/>
          <p:nvPr/>
        </p:nvSpPr>
        <p:spPr>
          <a:xfrm>
            <a:off x="7035265" y="5692510"/>
            <a:ext cx="209988" cy="498378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E6E53-8E51-C768-5001-43DD4588639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8E6CB1A-004E-4145-BC8A-6D929FFCD3D1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0F956-3633-100D-718A-EA57AD489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Rust + Lamellar Intro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8CC9078-FE8B-3AE6-4929-7A6DC71C4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95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4" grpId="0" animBg="1"/>
      <p:bldP spid="29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1" grpId="0" animBg="1"/>
      <p:bldP spid="7" grpId="0" animBg="1"/>
      <p:bldP spid="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B5AD998-4CDA-4DEB-BEF7-A0B6639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Experiments/Benchmarks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B7D276-C523-4AA8-A1E1-B738539DF674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dirty="0"/>
              <a:t>Results presented were performed on a PNNL Cluster</a:t>
            </a:r>
            <a:r>
              <a:rPr lang="en-US" b="1" dirty="0"/>
              <a:t> </a:t>
            </a:r>
          </a:p>
          <a:p>
            <a:pPr lvl="1"/>
            <a:r>
              <a:rPr lang="en-US" dirty="0"/>
              <a:t>48 node (32 Nodes available)</a:t>
            </a:r>
          </a:p>
          <a:p>
            <a:pPr lvl="1"/>
            <a:r>
              <a:rPr lang="en-US" dirty="0"/>
              <a:t>2 socket – AMD EPYC 7543 32-Core</a:t>
            </a:r>
          </a:p>
          <a:p>
            <a:pPr lvl="2"/>
            <a:r>
              <a:rPr lang="en-US" dirty="0"/>
              <a:t>L1 - 64K</a:t>
            </a:r>
          </a:p>
          <a:p>
            <a:pPr lvl="2"/>
            <a:r>
              <a:rPr lang="en-US" dirty="0"/>
              <a:t>L2 – 512KB</a:t>
            </a:r>
          </a:p>
          <a:p>
            <a:pPr lvl="2"/>
            <a:r>
              <a:rPr lang="en-US" dirty="0"/>
              <a:t>L3 – 32MB </a:t>
            </a:r>
          </a:p>
          <a:p>
            <a:pPr lvl="2"/>
            <a:r>
              <a:rPr lang="en-US" dirty="0"/>
              <a:t>8 Numa nodes per socket</a:t>
            </a:r>
          </a:p>
          <a:p>
            <a:pPr lvl="1"/>
            <a:r>
              <a:rPr lang="en-US" dirty="0"/>
              <a:t>256 GB memory per node</a:t>
            </a:r>
          </a:p>
          <a:p>
            <a:pPr lvl="1"/>
            <a:r>
              <a:rPr lang="en-US" dirty="0"/>
              <a:t>Network: Mellanox HDR-100 ConnectX-6 InfiniBand  HBA </a:t>
            </a:r>
          </a:p>
          <a:p>
            <a:pPr lvl="2"/>
            <a:r>
              <a:rPr lang="en-US" dirty="0"/>
              <a:t>Peak bandwidth of 100Gb/s (12.5GB/s) </a:t>
            </a:r>
          </a:p>
          <a:p>
            <a:pPr lvl="2"/>
            <a:r>
              <a:rPr lang="en-US" dirty="0"/>
              <a:t>Full fat tree</a:t>
            </a:r>
          </a:p>
          <a:p>
            <a:r>
              <a:rPr lang="en-US" sz="2800" dirty="0"/>
              <a:t>Bale/Conveyors/Selectors built using OpenSHMEM from </a:t>
            </a:r>
            <a:r>
              <a:rPr lang="en-US" sz="2800" dirty="0" err="1"/>
              <a:t>OpenMPI</a:t>
            </a:r>
            <a:r>
              <a:rPr lang="en-US" sz="2800" dirty="0"/>
              <a:t> 5.0.0rc2</a:t>
            </a:r>
          </a:p>
          <a:p>
            <a:r>
              <a:rPr lang="en-US" dirty="0"/>
              <a:t>Chapel v2.0</a:t>
            </a:r>
            <a:endParaRPr lang="en-US" sz="2000" dirty="0"/>
          </a:p>
          <a:p>
            <a:endParaRPr lang="en-US" dirty="0"/>
          </a:p>
          <a:p>
            <a:pPr lvl="2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8773F-52BE-6FF1-EAC6-E7F7E0B4A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275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FD0729-F591-40FC-BEBC-1CF5421A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“Put” and “Get” Bandwidths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E904DB7-C469-47F8-9407-159D35CC813C}"/>
              </a:ext>
            </a:extLst>
          </p:cNvPr>
          <p:cNvSpPr txBox="1">
            <a:spLocks/>
          </p:cNvSpPr>
          <p:nvPr/>
        </p:nvSpPr>
        <p:spPr>
          <a:xfrm>
            <a:off x="1453223" y="6994808"/>
            <a:ext cx="12460896" cy="1112823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Generally Unsafe Methods get better raw performance (but no guarantees on correctness) – currently working on supporting network accelerated atomic operations</a:t>
            </a:r>
            <a:endParaRPr lang="en-US" sz="2000" dirty="0"/>
          </a:p>
          <a:p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897CB-F681-54DF-3778-B1AEB4F2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32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47BC15-9625-54E0-9FC7-E613CF7283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1910322"/>
            <a:ext cx="7143726" cy="4579640"/>
          </a:xfrm>
          <a:prstGeom prst="rect">
            <a:avLst/>
          </a:prstGeom>
        </p:spPr>
      </p:pic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919F485D-57E1-E916-E13F-91537BA9B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23" y="1804550"/>
            <a:ext cx="7486676" cy="462049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8A0643-7396-87E5-4BB3-982AAFDF051A}"/>
              </a:ext>
            </a:extLst>
          </p:cNvPr>
          <p:cNvSpPr txBox="1"/>
          <p:nvPr/>
        </p:nvSpPr>
        <p:spPr>
          <a:xfrm>
            <a:off x="3368041" y="1535549"/>
            <a:ext cx="73770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Puts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394A27-4121-E74D-DE16-EBA659395AA9}"/>
              </a:ext>
            </a:extLst>
          </p:cNvPr>
          <p:cNvSpPr txBox="1"/>
          <p:nvPr/>
        </p:nvSpPr>
        <p:spPr>
          <a:xfrm>
            <a:off x="11094721" y="1535549"/>
            <a:ext cx="76815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49720AD-7C1C-95E9-8361-3C0333E8F104}"/>
              </a:ext>
            </a:extLst>
          </p:cNvPr>
          <p:cNvSpPr txBox="1"/>
          <p:nvPr/>
        </p:nvSpPr>
        <p:spPr>
          <a:xfrm>
            <a:off x="5103632" y="3581400"/>
            <a:ext cx="1027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(libfabric)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64CAB-8807-7DB3-664C-3FA0378DA770}"/>
              </a:ext>
            </a:extLst>
          </p:cNvPr>
          <p:cNvSpPr txBox="1"/>
          <p:nvPr/>
        </p:nvSpPr>
        <p:spPr>
          <a:xfrm>
            <a:off x="12392664" y="3642955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(libfabric)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E0B5C6-AEF0-7CD1-67CD-19783DB8B6B8}"/>
              </a:ext>
            </a:extLst>
          </p:cNvPr>
          <p:cNvSpPr/>
          <p:nvPr/>
        </p:nvSpPr>
        <p:spPr>
          <a:xfrm>
            <a:off x="1210920" y="6469498"/>
            <a:ext cx="2379442" cy="320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262143 requests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5D2AA66A-14B7-FFB2-24A4-87E1B8961A79}"/>
              </a:ext>
            </a:extLst>
          </p:cNvPr>
          <p:cNvSpPr/>
          <p:nvPr/>
        </p:nvSpPr>
        <p:spPr>
          <a:xfrm rot="16200000">
            <a:off x="2237117" y="4883294"/>
            <a:ext cx="327048" cy="2756460"/>
          </a:xfrm>
          <a:prstGeom prst="leftBrace">
            <a:avLst/>
          </a:prstGeom>
          <a:noFill/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0536C0E-27AA-9061-0496-021818CFD393}"/>
              </a:ext>
            </a:extLst>
          </p:cNvPr>
          <p:cNvSpPr/>
          <p:nvPr/>
        </p:nvSpPr>
        <p:spPr>
          <a:xfrm>
            <a:off x="4342386" y="6485822"/>
            <a:ext cx="2590770" cy="320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1GiB/size requests</a:t>
            </a:r>
          </a:p>
        </p:txBody>
      </p:sp>
      <p:sp>
        <p:nvSpPr>
          <p:cNvPr id="25" name="Left Brace 24">
            <a:extLst>
              <a:ext uri="{FF2B5EF4-FFF2-40B4-BE49-F238E27FC236}">
                <a16:creationId xmlns:a16="http://schemas.microsoft.com/office/drawing/2014/main" id="{DC549642-268C-A6C1-3A40-5EC1AB96EAB1}"/>
              </a:ext>
            </a:extLst>
          </p:cNvPr>
          <p:cNvSpPr/>
          <p:nvPr/>
        </p:nvSpPr>
        <p:spPr>
          <a:xfrm rot="16200000">
            <a:off x="5233910" y="4725800"/>
            <a:ext cx="327048" cy="3071450"/>
          </a:xfrm>
          <a:prstGeom prst="leftBrace">
            <a:avLst/>
          </a:prstGeom>
          <a:noFill/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E794718-ED5C-2C67-1C36-A86DD7D0ABF2}"/>
              </a:ext>
            </a:extLst>
          </p:cNvPr>
          <p:cNvSpPr/>
          <p:nvPr/>
        </p:nvSpPr>
        <p:spPr>
          <a:xfrm>
            <a:off x="8632800" y="6309311"/>
            <a:ext cx="2379442" cy="320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262143 requests</a:t>
            </a:r>
          </a:p>
        </p:txBody>
      </p:sp>
      <p:sp>
        <p:nvSpPr>
          <p:cNvPr id="27" name="Left Brace 26">
            <a:extLst>
              <a:ext uri="{FF2B5EF4-FFF2-40B4-BE49-F238E27FC236}">
                <a16:creationId xmlns:a16="http://schemas.microsoft.com/office/drawing/2014/main" id="{086971EE-4EB2-B619-E051-FFEC6745754D}"/>
              </a:ext>
            </a:extLst>
          </p:cNvPr>
          <p:cNvSpPr/>
          <p:nvPr/>
        </p:nvSpPr>
        <p:spPr>
          <a:xfrm rot="16200000">
            <a:off x="9658997" y="4723107"/>
            <a:ext cx="327048" cy="2756460"/>
          </a:xfrm>
          <a:prstGeom prst="leftBrace">
            <a:avLst/>
          </a:prstGeom>
          <a:noFill/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E0254A8-8CAB-1A14-9A88-29F26AE8C4C7}"/>
              </a:ext>
            </a:extLst>
          </p:cNvPr>
          <p:cNvSpPr/>
          <p:nvPr/>
        </p:nvSpPr>
        <p:spPr>
          <a:xfrm>
            <a:off x="11764266" y="6325635"/>
            <a:ext cx="2590770" cy="3203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1GiB/size requests</a:t>
            </a:r>
          </a:p>
        </p:txBody>
      </p:sp>
      <p:sp>
        <p:nvSpPr>
          <p:cNvPr id="29" name="Left Brace 28">
            <a:extLst>
              <a:ext uri="{FF2B5EF4-FFF2-40B4-BE49-F238E27FC236}">
                <a16:creationId xmlns:a16="http://schemas.microsoft.com/office/drawing/2014/main" id="{78FDA7D4-2E3E-CB9D-E3D1-ABDAC0F21703}"/>
              </a:ext>
            </a:extLst>
          </p:cNvPr>
          <p:cNvSpPr/>
          <p:nvPr/>
        </p:nvSpPr>
        <p:spPr>
          <a:xfrm rot="16200000">
            <a:off x="12655790" y="4565613"/>
            <a:ext cx="327048" cy="3071450"/>
          </a:xfrm>
          <a:prstGeom prst="leftBrace">
            <a:avLst/>
          </a:prstGeom>
          <a:noFill/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87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9" grpId="0"/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EF8A3FDA-957E-04D6-FF69-2816BB21F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1" y="1674610"/>
            <a:ext cx="8472346" cy="499263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8FD0729-F591-40FC-BEBC-1CF5421A6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6113" y="275267"/>
            <a:ext cx="10972800" cy="1310979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Histogram 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E904DB7-C469-47F8-9407-159D35CC813C}"/>
              </a:ext>
            </a:extLst>
          </p:cNvPr>
          <p:cNvSpPr txBox="1">
            <a:spLocks/>
          </p:cNvSpPr>
          <p:nvPr/>
        </p:nvSpPr>
        <p:spPr>
          <a:xfrm>
            <a:off x="8837832" y="1738767"/>
            <a:ext cx="6439989" cy="1112823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AtomicArray</a:t>
            </a:r>
            <a:endParaRPr lang="en-US" sz="2400" dirty="0"/>
          </a:p>
          <a:p>
            <a:pPr lvl="1"/>
            <a:r>
              <a:rPr lang="en-US" sz="2000" dirty="0"/>
              <a:t>Element-wise atomic adds</a:t>
            </a:r>
          </a:p>
          <a:p>
            <a:pPr lvl="1"/>
            <a:r>
              <a:rPr lang="en-US" sz="2000" dirty="0"/>
              <a:t>Runtime provided aggregation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array.batch_add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(indices,1);</a:t>
            </a:r>
          </a:p>
          <a:p>
            <a:r>
              <a:rPr lang="en-US" sz="2400" dirty="0"/>
              <a:t>Aggregated Am</a:t>
            </a:r>
          </a:p>
          <a:p>
            <a:pPr lvl="1"/>
            <a:r>
              <a:rPr lang="en-US" sz="2000" dirty="0"/>
              <a:t>User implemented AM aggregation</a:t>
            </a:r>
          </a:p>
          <a:p>
            <a:pPr marL="548640" lvl="1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EC5B46-1445-FDBC-BC45-48C03CD13707}"/>
              </a:ext>
            </a:extLst>
          </p:cNvPr>
          <p:cNvSpPr txBox="1"/>
          <p:nvPr/>
        </p:nvSpPr>
        <p:spPr>
          <a:xfrm>
            <a:off x="8981823" y="4250580"/>
            <a:ext cx="5631670" cy="374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Configuration: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1000 elements per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 Million Updates per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 runs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10,000 indices per “batch”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Lamellar: 16 Pes per Node, </a:t>
            </a:r>
            <a:br>
              <a:rPr lang="en-US" dirty="0"/>
            </a:br>
            <a:r>
              <a:rPr lang="en-US" dirty="0"/>
              <a:t>	      4 threads per 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Chapel: (1-8) Locales(PE) per Node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Exstack</a:t>
            </a:r>
            <a:r>
              <a:rPr lang="en-US" dirty="0"/>
              <a:t>, Exstack2, Conveyors, Selectors:</a:t>
            </a:r>
            <a:br>
              <a:rPr lang="en-US" dirty="0"/>
            </a:br>
            <a:r>
              <a:rPr lang="en-US" dirty="0"/>
              <a:t>1 PE per  thread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62E039-7ECF-2BDD-B962-756A333F0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C2172B-EB6F-198F-D429-2BC0346738AD}"/>
              </a:ext>
            </a:extLst>
          </p:cNvPr>
          <p:cNvSpPr/>
          <p:nvPr/>
        </p:nvSpPr>
        <p:spPr>
          <a:xfrm>
            <a:off x="5685902" y="984200"/>
            <a:ext cx="4012078" cy="6020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 increments on a distributed array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116F0E-C131-0394-60FE-D6D43BA7CDEF}"/>
              </a:ext>
            </a:extLst>
          </p:cNvPr>
          <p:cNvSpPr txBox="1"/>
          <p:nvPr/>
        </p:nvSpPr>
        <p:spPr>
          <a:xfrm>
            <a:off x="3596965" y="1852446"/>
            <a:ext cx="2418714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O(10) Lines of code (loc)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C17F8-9B77-6B94-0308-36DD88570503}"/>
              </a:ext>
            </a:extLst>
          </p:cNvPr>
          <p:cNvSpPr txBox="1"/>
          <p:nvPr/>
        </p:nvSpPr>
        <p:spPr>
          <a:xfrm>
            <a:off x="3596965" y="2135150"/>
            <a:ext cx="750569" cy="9328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sz="1600" dirty="0"/>
          </a:p>
          <a:p>
            <a:r>
              <a:rPr lang="en-US" sz="1600" dirty="0"/>
              <a:t>O(100) </a:t>
            </a:r>
            <a:br>
              <a:rPr lang="en-US" sz="1600" dirty="0"/>
            </a:br>
            <a:r>
              <a:rPr lang="en-US" sz="1600" dirty="0"/>
              <a:t>loc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11EF58-0CBC-729C-5B20-66D770C1ED88}"/>
              </a:ext>
            </a:extLst>
          </p:cNvPr>
          <p:cNvSpPr txBox="1"/>
          <p:nvPr/>
        </p:nvSpPr>
        <p:spPr>
          <a:xfrm>
            <a:off x="3596965" y="3103600"/>
            <a:ext cx="918076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O(10) loc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A910D47-9DCF-F611-DC36-969570E01B51}"/>
              </a:ext>
            </a:extLst>
          </p:cNvPr>
          <p:cNvSpPr txBox="1"/>
          <p:nvPr/>
        </p:nvSpPr>
        <p:spPr>
          <a:xfrm>
            <a:off x="3596965" y="3393507"/>
            <a:ext cx="1001830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O(100) loc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2802B7-3354-2755-087C-3A1EF514ECFB}"/>
              </a:ext>
            </a:extLst>
          </p:cNvPr>
          <p:cNvSpPr txBox="1"/>
          <p:nvPr/>
        </p:nvSpPr>
        <p:spPr>
          <a:xfrm>
            <a:off x="818985" y="6743329"/>
            <a:ext cx="4747508" cy="108952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idx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random_indices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latin typeface="Source Code Pro" panose="020B0509030403020204" pitchFamily="49" charset="0"/>
              </a:rPr>
              <a:t>   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array[</a:t>
            </a:r>
            <a:r>
              <a:rPr lang="en-US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idx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] += </a:t>
            </a:r>
            <a:r>
              <a:rPr lang="en-US" b="0" dirty="0">
                <a:solidFill>
                  <a:srgbClr val="098658"/>
                </a:solidFill>
                <a:effectLst/>
                <a:latin typeface="Source Code Pro" panose="020B0509030403020204" pitchFamily="49" charset="0"/>
              </a:rPr>
              <a:t>1</a:t>
            </a:r>
            <a:endParaRPr lang="en-US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C25CACB-3B54-2254-1E6C-545641319CC6}"/>
              </a:ext>
            </a:extLst>
          </p:cNvPr>
          <p:cNvSpPr/>
          <p:nvPr/>
        </p:nvSpPr>
        <p:spPr>
          <a:xfrm>
            <a:off x="5502763" y="7288093"/>
            <a:ext cx="2893235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One-way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474201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" grpId="0" animBg="1"/>
      <p:bldP spid="9" grpId="0" animBg="1"/>
      <p:bldP spid="11" grpId="0" animBg="1"/>
      <p:bldP spid="12" grpId="0" animBg="1"/>
      <p:bldP spid="15" grpId="0" animBg="1"/>
      <p:bldP spid="17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FD0729-F591-40FC-BEBC-1CF5421A6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IndexGather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E904DB7-C469-47F8-9407-159D35CC813C}"/>
              </a:ext>
            </a:extLst>
          </p:cNvPr>
          <p:cNvSpPr txBox="1">
            <a:spLocks/>
          </p:cNvSpPr>
          <p:nvPr/>
        </p:nvSpPr>
        <p:spPr>
          <a:xfrm>
            <a:off x="8396382" y="1761005"/>
            <a:ext cx="6234017" cy="1112823"/>
          </a:xfrm>
          <a:prstGeom prst="rect">
            <a:avLst/>
          </a:prstGeom>
        </p:spPr>
        <p:txBody>
          <a:bodyPr/>
          <a:lstStyle>
            <a:lvl1pPr marL="274320" indent="-274320" algn="l" defTabSz="1097280" rtl="0" eaLnBrk="1" latinLnBrk="0" hangingPunct="1">
              <a:lnSpc>
                <a:spcPct val="9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8229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3716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ü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9202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46888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6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301752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616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1480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663440" indent="-274320" algn="l" defTabSz="109728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err="1"/>
              <a:t>ReadOnlyArray</a:t>
            </a:r>
            <a:endParaRPr lang="en-US" sz="2400" dirty="0"/>
          </a:p>
          <a:p>
            <a:pPr lvl="1"/>
            <a:r>
              <a:rPr lang="en-US" sz="2000" dirty="0"/>
              <a:t>Element-wise loads</a:t>
            </a:r>
          </a:p>
          <a:p>
            <a:pPr lvl="1"/>
            <a:r>
              <a:rPr lang="en-US" sz="2000" dirty="0"/>
              <a:t>Runtime provided aggregation</a:t>
            </a:r>
          </a:p>
          <a:p>
            <a:pPr lvl="1"/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array.batch_load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(indices) -&gt;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Vec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usize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&gt;;</a:t>
            </a:r>
          </a:p>
          <a:p>
            <a:r>
              <a:rPr lang="en-US" sz="2400" dirty="0"/>
              <a:t>Aggregated AM</a:t>
            </a:r>
          </a:p>
          <a:p>
            <a:pPr lvl="1"/>
            <a:r>
              <a:rPr lang="en-US" sz="2000" dirty="0"/>
              <a:t>User implemented AM aggregation</a:t>
            </a:r>
          </a:p>
          <a:p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897CB-F681-54DF-3778-B1AEB4F2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AF932D-39A7-1BE7-4024-F5F2AFC33DEF}"/>
              </a:ext>
            </a:extLst>
          </p:cNvPr>
          <p:cNvSpPr/>
          <p:nvPr/>
        </p:nvSpPr>
        <p:spPr>
          <a:xfrm>
            <a:off x="6180966" y="1029533"/>
            <a:ext cx="4012078" cy="602046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Randomly gather elements in a distributed array</a:t>
            </a: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2247BC15-9625-54E0-9FC7-E613CF728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15" y="1652756"/>
            <a:ext cx="8269566" cy="4873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50B753C-A9D5-B272-329F-E44366FF9D79}"/>
              </a:ext>
            </a:extLst>
          </p:cNvPr>
          <p:cNvSpPr txBox="1"/>
          <p:nvPr/>
        </p:nvSpPr>
        <p:spPr>
          <a:xfrm>
            <a:off x="8686800" y="4542347"/>
            <a:ext cx="5631670" cy="374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Configuration: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1000 elements per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 Million Updates per Core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10,000 indices per “batch”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10 runs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Lamellar: 16 Pes per Node, </a:t>
            </a:r>
            <a:br>
              <a:rPr lang="en-US" dirty="0"/>
            </a:br>
            <a:r>
              <a:rPr lang="en-US" dirty="0"/>
              <a:t>	      4 threads per PE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Chapel: (1-8) Locales(PE) per Node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Exstack</a:t>
            </a:r>
            <a:r>
              <a:rPr lang="en-US" dirty="0"/>
              <a:t>, Exstack2, Conveyors, Selectors:</a:t>
            </a:r>
            <a:br>
              <a:rPr lang="en-US" dirty="0"/>
            </a:br>
            <a:r>
              <a:rPr lang="en-US" dirty="0"/>
              <a:t>1 PE per  thread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A31A14-705C-6B5B-C205-01D93C7CB17B}"/>
              </a:ext>
            </a:extLst>
          </p:cNvPr>
          <p:cNvSpPr txBox="1"/>
          <p:nvPr/>
        </p:nvSpPr>
        <p:spPr>
          <a:xfrm>
            <a:off x="3410080" y="1803862"/>
            <a:ext cx="2418714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O(10) Lines of code (loc)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7F91F3-E263-4FBD-EB30-8004184BE2CB}"/>
              </a:ext>
            </a:extLst>
          </p:cNvPr>
          <p:cNvSpPr txBox="1"/>
          <p:nvPr/>
        </p:nvSpPr>
        <p:spPr>
          <a:xfrm>
            <a:off x="3410080" y="2086566"/>
            <a:ext cx="750569" cy="9328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noAutofit/>
          </a:bodyPr>
          <a:lstStyle/>
          <a:p>
            <a:endParaRPr lang="en-US" sz="1600" dirty="0"/>
          </a:p>
          <a:p>
            <a:r>
              <a:rPr lang="en-US" sz="1600" dirty="0"/>
              <a:t>O(100) </a:t>
            </a:r>
            <a:br>
              <a:rPr lang="en-US" sz="1600" dirty="0"/>
            </a:br>
            <a:r>
              <a:rPr lang="en-US" sz="1600" dirty="0"/>
              <a:t>loc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F942EC-BB37-7E74-2728-649837F31272}"/>
              </a:ext>
            </a:extLst>
          </p:cNvPr>
          <p:cNvSpPr txBox="1"/>
          <p:nvPr/>
        </p:nvSpPr>
        <p:spPr>
          <a:xfrm>
            <a:off x="3410080" y="3055016"/>
            <a:ext cx="918076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O(10) loc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E0737F-180F-9C19-6758-212BF6369678}"/>
              </a:ext>
            </a:extLst>
          </p:cNvPr>
          <p:cNvSpPr txBox="1"/>
          <p:nvPr/>
        </p:nvSpPr>
        <p:spPr>
          <a:xfrm>
            <a:off x="3200400" y="3352475"/>
            <a:ext cx="1001830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r>
              <a:rPr lang="en-US" sz="1600" dirty="0"/>
              <a:t>O(100) loc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E5F4F3-BC6E-9505-367E-0D300652B114}"/>
              </a:ext>
            </a:extLst>
          </p:cNvPr>
          <p:cNvSpPr txBox="1"/>
          <p:nvPr/>
        </p:nvSpPr>
        <p:spPr>
          <a:xfrm>
            <a:off x="226467" y="6584478"/>
            <a:ext cx="7476104" cy="1089529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(</a:t>
            </a:r>
            <a:r>
              <a:rPr lang="en-US" dirty="0" err="1">
                <a:solidFill>
                  <a:srgbClr val="000000"/>
                </a:solidFill>
                <a:latin typeface="Source Code Pro" panose="020B0509030403020204" pitchFamily="49" charset="0"/>
              </a:rPr>
              <a:t>i</a:t>
            </a:r>
            <a:r>
              <a:rPr lang="en-US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,idx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) </a:t>
            </a:r>
            <a:r>
              <a:rPr lang="en-US" b="0" dirty="0">
                <a:solidFill>
                  <a:srgbClr val="0000FF"/>
                </a:solidFill>
                <a:effectLst/>
                <a:latin typeface="Source Code Pro" panose="020B0509030403020204" pitchFamily="49" charset="0"/>
              </a:rPr>
              <a:t>in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random_indices.enumerate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() {</a:t>
            </a:r>
          </a:p>
          <a:p>
            <a:r>
              <a:rPr lang="en-US" dirty="0">
                <a:solidFill>
                  <a:srgbClr val="000000"/>
                </a:solidFill>
                <a:latin typeface="Source Code Pro" panose="020B0509030403020204" pitchFamily="49" charset="0"/>
              </a:rPr>
              <a:t>   result[i] = </a:t>
            </a:r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array[</a:t>
            </a:r>
            <a:r>
              <a:rPr lang="en-US" b="0" dirty="0" err="1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idx</a:t>
            </a:r>
            <a:r>
              <a:rPr lang="en-US" dirty="0">
                <a:solidFill>
                  <a:srgbClr val="000000"/>
                </a:solidFill>
                <a:latin typeface="Source Code Pro" panose="020B0509030403020204" pitchFamily="49" charset="0"/>
              </a:rPr>
              <a:t>]</a:t>
            </a:r>
            <a:endParaRPr lang="en-US" b="0" dirty="0">
              <a:solidFill>
                <a:srgbClr val="000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}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6CD8A7-EAA6-66AE-CFD3-A08B7FA6BD42}"/>
              </a:ext>
            </a:extLst>
          </p:cNvPr>
          <p:cNvSpPr/>
          <p:nvPr/>
        </p:nvSpPr>
        <p:spPr>
          <a:xfrm>
            <a:off x="5355252" y="7215896"/>
            <a:ext cx="2893235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Two-way communication</a:t>
            </a:r>
          </a:p>
        </p:txBody>
      </p:sp>
    </p:spTree>
    <p:extLst>
      <p:ext uri="{BB962C8B-B14F-4D97-AF65-F5344CB8AC3E}">
        <p14:creationId xmlns:p14="http://schemas.microsoft.com/office/powerpoint/2010/main" val="4202133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34219A-1380-48ED-ABF9-B916195CE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A4BB3-E848-5A44-82DF-322201952CD8}" type="slidenum">
              <a:rPr lang="en-US" smtClean="0"/>
              <a:pPr/>
              <a:t>35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7B886C8-DE18-40BE-8A00-3035F164C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accent1"/>
                </a:solidFill>
              </a:rPr>
              <a:t>LAMELLAR: </a:t>
            </a:r>
            <a:r>
              <a:rPr lang="en-US">
                <a:solidFill>
                  <a:schemeClr val="bg2">
                    <a:lumMod val="50000"/>
                  </a:schemeClr>
                </a:solidFill>
              </a:rPr>
              <a:t>Code availability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69973-D0CC-4DB7-AE85-0916D00FC657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Our current stable release </a:t>
            </a:r>
            <a:r>
              <a:rPr lang="en-US"/>
              <a:t>is V0.7.1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Our code is open source and available on GitHub under BSD license:</a:t>
            </a:r>
          </a:p>
          <a:p>
            <a:r>
              <a:rPr lang="en-US" dirty="0"/>
              <a:t>Lamellar Runtime - </a:t>
            </a:r>
            <a:r>
              <a:rPr lang="en-US" dirty="0">
                <a:hlinkClick r:id="rId2"/>
              </a:rPr>
              <a:t>https://github.com/pnnl/lamellar-runtime</a:t>
            </a:r>
            <a:endParaRPr lang="en-US" dirty="0"/>
          </a:p>
          <a:p>
            <a:r>
              <a:rPr lang="en-US" dirty="0"/>
              <a:t>Lamellar Benchmarks - </a:t>
            </a:r>
            <a:r>
              <a:rPr lang="en-US" dirty="0">
                <a:hlinkClick r:id="rId3"/>
              </a:rPr>
              <a:t>https://github.com/pnnl/lamellar-benchmarks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also release the Runtime on Crates.io</a:t>
            </a:r>
          </a:p>
          <a:p>
            <a:r>
              <a:rPr lang="en-US" dirty="0">
                <a:hlinkClick r:id="rId4"/>
              </a:rPr>
              <a:t>https://crates.io/crates/lamellar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Documentation with over 500 runnable examples</a:t>
            </a:r>
          </a:p>
          <a:p>
            <a:r>
              <a:rPr lang="en-US" dirty="0">
                <a:hlinkClick r:id="rId5"/>
              </a:rPr>
              <a:t>https://docs.rs/lamellar/latest/lamellar/</a:t>
            </a:r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FFCD5B-B90E-4B36-A7F8-B567CA42CC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44332" y="4483896"/>
            <a:ext cx="1554480" cy="15544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9F1BD1B-6FD8-4133-96DF-A1A0A88F35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3039" y="2560320"/>
            <a:ext cx="1554480" cy="1554480"/>
          </a:xfrm>
          <a:prstGeom prst="rect">
            <a:avLst/>
          </a:prstGeom>
        </p:spPr>
      </p:pic>
      <p:pic>
        <p:nvPicPr>
          <p:cNvPr id="5" name="Picture 4" descr="A qr code with a letter r&#10;&#10;Description automatically generated">
            <a:extLst>
              <a:ext uri="{FF2B5EF4-FFF2-40B4-BE49-F238E27FC236}">
                <a16:creationId xmlns:a16="http://schemas.microsoft.com/office/drawing/2014/main" id="{84688115-ACFD-2186-5A09-644DFF8DA4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66118" y="6357345"/>
            <a:ext cx="1511165" cy="15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14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PNNL_Option_4">
  <a:themeElements>
    <a:clrScheme name="PNNL">
      <a:dk1>
        <a:srgbClr val="616265"/>
      </a:dk1>
      <a:lt1>
        <a:srgbClr val="FFFFFF"/>
      </a:lt1>
      <a:dk2>
        <a:srgbClr val="D77600"/>
      </a:dk2>
      <a:lt2>
        <a:srgbClr val="B3B3B3"/>
      </a:lt2>
      <a:accent1>
        <a:srgbClr val="A63F1E"/>
      </a:accent1>
      <a:accent2>
        <a:srgbClr val="191C1F"/>
      </a:accent2>
      <a:accent3>
        <a:srgbClr val="F4AA00"/>
      </a:accent3>
      <a:accent4>
        <a:srgbClr val="007836"/>
      </a:accent4>
      <a:accent5>
        <a:srgbClr val="C10435"/>
      </a:accent5>
      <a:accent6>
        <a:srgbClr val="00338E"/>
      </a:accent6>
      <a:hlink>
        <a:srgbClr val="003698"/>
      </a:hlink>
      <a:folHlink>
        <a:srgbClr val="8A0752"/>
      </a:folHlink>
    </a:clrScheme>
    <a:fontScheme name="PNNL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NNL_12.potx" id="{E553E2CD-AA7F-49B9-A987-C6A52DC6C25A}" vid="{FD99B56B-0D12-4418-B31A-26C697DB20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PNNL_Option_4</Template>
  <TotalTime>20794</TotalTime>
  <Words>5980</Words>
  <Application>Microsoft Office PowerPoint</Application>
  <PresentationFormat>Custom</PresentationFormat>
  <Paragraphs>1061</Paragraphs>
  <Slides>35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Consolas</vt:lpstr>
      <vt:lpstr>Source Code Pro</vt:lpstr>
      <vt:lpstr>Wingdings</vt:lpstr>
      <vt:lpstr>PNNL_Option_4</vt:lpstr>
      <vt:lpstr>Introducing the Lamellar Runtime: A Modern Approach to High-performance Computing</vt:lpstr>
      <vt:lpstr>Agenda</vt:lpstr>
      <vt:lpstr>Why Rust?</vt:lpstr>
      <vt:lpstr>CWE 2023 – Top 25</vt:lpstr>
      <vt:lpstr>CWE 2023 – Top 25</vt:lpstr>
      <vt:lpstr>Rust Type System</vt:lpstr>
      <vt:lpstr>Rust Ownership and Borrowing</vt:lpstr>
      <vt:lpstr>Writing it wrong: Rustc and useful errors</vt:lpstr>
      <vt:lpstr>Rust Traits</vt:lpstr>
      <vt:lpstr>Rust Generics</vt:lpstr>
      <vt:lpstr>Rust Associated Types</vt:lpstr>
      <vt:lpstr>Rust Enum</vt:lpstr>
      <vt:lpstr>Rust Error Handling</vt:lpstr>
      <vt:lpstr>Rust Concurrency</vt:lpstr>
      <vt:lpstr>Cargo: The Rust Build Tool</vt:lpstr>
      <vt:lpstr>LAMELLAR An HPC runtime developed in Rust</vt:lpstr>
      <vt:lpstr>LAMELLAR Stack &amp; Nomenclature</vt:lpstr>
      <vt:lpstr>LAMELLAR: Active Messages (AM)</vt:lpstr>
      <vt:lpstr>LAMELLAR: Remote Operation Handles</vt:lpstr>
      <vt:lpstr>LAMELLAR: Darc&lt;T&gt; -  Distributed Atomic Reference Count</vt:lpstr>
      <vt:lpstr>LAMELLAR LamellarArray Types </vt:lpstr>
      <vt:lpstr>LAMELLAR: LamellarArray Example</vt:lpstr>
      <vt:lpstr>LAMELLAR: Element Wise Operations</vt:lpstr>
      <vt:lpstr>LAMELLAR: Element Wise Operations (cont.)</vt:lpstr>
      <vt:lpstr>LAMELLAR: Batched Element Wise Operations</vt:lpstr>
      <vt:lpstr>LAMELLAR: Array Iteration</vt:lpstr>
      <vt:lpstr>LAMELLAR:  Current Iterator Adapters</vt:lpstr>
      <vt:lpstr>LAMELLAR:  Iterator Consumers</vt:lpstr>
      <vt:lpstr>LAMELLAR:  Iterator Consumers</vt:lpstr>
      <vt:lpstr>LAMELLAR:  Iterator Comparison</vt:lpstr>
      <vt:lpstr>Experiments/Benchmarks</vt:lpstr>
      <vt:lpstr>“Put” and “Get” Bandwidths</vt:lpstr>
      <vt:lpstr>Histogram </vt:lpstr>
      <vt:lpstr>IndexGather</vt:lpstr>
      <vt:lpstr>LAMELLAR: Code availability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LAMELLAR: Rust for HPC</dc:title>
  <dc:subject/>
  <dc:creator>Raugas, Mark V</dc:creator>
  <cp:keywords/>
  <dc:description/>
  <cp:lastModifiedBy>Friese, Ryan D</cp:lastModifiedBy>
  <cp:revision>5</cp:revision>
  <cp:lastPrinted>2019-05-07T21:50:45Z</cp:lastPrinted>
  <dcterms:created xsi:type="dcterms:W3CDTF">2019-05-03T18:00:39Z</dcterms:created>
  <dcterms:modified xsi:type="dcterms:W3CDTF">2025-06-16T21:22:25Z</dcterms:modified>
  <cp:category/>
</cp:coreProperties>
</file>